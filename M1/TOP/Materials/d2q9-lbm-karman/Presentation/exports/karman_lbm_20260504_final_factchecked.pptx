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jpg" ContentType="image/jpe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Ce projet présente l'optimisation d'un solveur D2Q9 LBM pour la simulation du sillage de Kármán, avec une stratégie parallèle hybride MPI + OpenMP. Nous avons réalisé 26 optimisations sur deux plateformes, avec un meilleur résultat mesuré de 2047 MLUPS.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Le solveur implémente la méthode de Boltzmann sur réseau D2Q9 pour simuler le sillage de Kármán à Re=96. La figure de mérite (FOM) est définie en MLUPS : millions de mises à jour de mailles par seconde. Le domaine est 800×160 mailles, simulé sur 20 000 pas. Chaque pas comporte trois phases : traitement des cellules spéciales, collision BGK, et propagation avec échange de halo.</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Les quatre phases de la Partie 1 adressent successivement les corrections de validité, la refactorisation MPI, la localité cache et OpenMP, puis les diagnostics avancés. La Partie 2, sur AMD x86-64, refactorise la disposition mémoire et réécrit le cœur de calcul avec vectorisation AVX-512.</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Le bug le plus spectaculaire : un appel nanosleep(1s) encodé en hexadécimal dans un header cmake, déclenché à chaque échange de halo. Sur 20 000 pas, la perte cumulée atteignait 5,5 heures par exécution. La correction consiste à supprimer entièrement la chaîne d'appel dynamique. Deux autres bugs corrigeaient la formule MLUPS — surestimée d'un facteur égal au nombre de rangs — et une incohérence dans les tailles MPI.</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Le profiling montrait que le coût MPI venait du nombre de messages, non du volume de données. 12 MPI_Barrier redondants ont été supprimés — 9 dans halo_exchange et 3 dans la boucle principale. L'optimisation principale est le regroupement des messages halo : 7 182 petits envois remplacés par 1 seul message de toute la ligne. Résultat : np=2 OMP=1, 68.7 → 102.75 MLUPS, +50%.</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L'inversion de boucle réduit le pas d'accès mémoire de 180 lignes de cache à 8 octets (stride-1). Le mode Pull élimine les conflits d'écriture entre threads, permettant une parallélisation OpenMP directe et sûre. Ces deux changements combinés amènent np=1 OMP=4 à 194 MLUPS, soit +220% par rapport à la référence.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Certaines pistes testées n'ont pas été retenues, mais elles ont clarifié les choix techniques. Sur macOS AArch64 (Apple M3), -march=native + #pragma omp simd dégrade de 13% (OMP=1) et 10% (OMP=4). Diagnostic probable : lectures non contiguës + ordonnanceur P/E cores. Décision : conserver -O3 seul, qui génère déjà fmla.2d (NEON 2×double). Les autres diagnostics incluent overlap MPI asynchrone, fusion de boucles de collision, et optimisation I/O 9.2×.</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La Partie 2 est menée sur AMD Ryzen 9 8940HX, 16 cœurs physiques, Zen4, avec AVX-512 confirmé par objdump. Le protocole de mesure unifié impose le verrouillage de fréquence CPU, la purge du cache de pages, 1 échauffement et 20 répétitions formelles avec médiane.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La refactorisation de disposition mémoire, de AoS vers SoA, est intentionnellement préparatoire : mesurée seule, elle introduit une régression. Avec AoS, deux mailles adjacentes pour une même direction sont séparées de 72 octets ; avec SoA, à k fixé, les cellules voisines en j deviennent contiguës en mémoire. Cette contiguïté est la condition nécessaire pour la vectorisation AVX-512 qui suit.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Dans la chaîne de développement, cette étape atteint 832 MLUPS pour np=2 OMP=4. Nous n'écrivons pas d'intrinsics AVX-512 à la main : le compilateur émet bien des registres zmm, et le point clé reste l'ensemble layout mémoire + boucle + restrict + #pragma GCC ivdep.</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opt24 réorganise le halo vertical en k-major et porte la chaîne de développement à 905 MLUPS pour np=2 OMP=4. Sur notre test intra-nœud, opt25 indique que le coût de waitall reflète surtout un déséquilibre d'arrivée entre ranks. opt26 regroupe plusieurs phases d’un même timestep dans une même région OpenMP, avec un gain limité mais une structure plus propre.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Le benchmark officiel donne 2047 MLUPS pour np=1 OMP=16 — meilleur résultat absolu — et 1071 MLUPS pour np=2 OMP=4, meilleure configuration multi-rang. Pour la comparaison avec macOS, il faut rester prudent : gain global indicatif, non iso-plateforme.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Le parcours illustre l'importance de corriger d'abord les bugs de validité avant toute optimisation. La progression logique suit : communication → localité mémoire → parallélisme → refactorisation → SIMD. Les perspectives incluent la mesure inter-nœuds, la validation physique (Cl, Cd, Strouhal) et l'adaptation à d'autres architectures.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6200"/>
          </a:xfrm>
          <a:prstGeom prst="rect">
            <a:avLst/>
          </a:prstGeom>
          <a:solidFill>
            <a:srgbClr val="1565C0"/>
          </a:solidFill>
          <a:ln>
            <a:noFill/>
          </a:ln>
        </p:spPr>
      </p:sp>
      <p:sp>
        <p:nvSpPr>
          <p:cNvPr id="4" name="Rectangle 4"/>
          <p:cNvSpPr/>
          <p:nvPr/>
        </p:nvSpPr>
        <p:spPr>
          <a:xfrm>
            <a:off x="0" y="76200"/>
            <a:ext cx="12192000" cy="685800"/>
          </a:xfrm>
          <a:prstGeom prst="rect">
            <a:avLst/>
          </a:prstGeom>
          <a:solidFill>
            <a:srgbClr val="F4F7FA"/>
          </a:solidFill>
          <a:ln>
            <a:noFill/>
          </a:ln>
        </p:spPr>
      </p:sp>
      <p:sp>
        <p:nvSpPr>
          <p:cNvPr id="5" name="Line 5"/>
          <p:cNvSpPr/>
          <p:nvPr/>
        </p:nvSpPr>
        <p:spPr>
          <a:xfrm>
            <a:off x="0" y="762000"/>
            <a:ext cx="12192000" cy="9525"/>
          </a:xfrm>
          <a:custGeom>
            <a:avLst/>
            <a:gdLst/>
            <a:ahLst/>
            <a:cxnLst/>
            <a:rect l="l" t="t" r="r" b="b"/>
            <a:pathLst>
              <a:path w="12192000" h="9525">
                <a:moveTo>
                  <a:pt x="0" y="0"/>
                </a:moveTo>
                <a:lnTo>
                  <a:pt x="12192000" y="0"/>
                </a:lnTo>
              </a:path>
            </a:pathLst>
          </a:custGeom>
          <a:noFill/>
          <a:ln w="9525">
            <a:solidFill>
              <a:srgbClr val="CFD8DC"/>
            </a:solidFill>
          </a:ln>
        </p:spPr>
      </p:sp>
      <p:sp>
        <p:nvSpPr>
          <p:cNvPr id="6" name="Rectangle 6"/>
          <p:cNvSpPr/>
          <p:nvPr/>
        </p:nvSpPr>
        <p:spPr>
          <a:xfrm>
            <a:off x="0" y="762000"/>
            <a:ext cx="7239000" cy="5334000"/>
          </a:xfrm>
          <a:prstGeom prst="rect">
            <a:avLst/>
          </a:prstGeom>
          <a:solidFill>
            <a:srgbClr val="F7FAFC"/>
          </a:solidFill>
          <a:ln>
            <a:noFill/>
          </a:ln>
        </p:spPr>
      </p:sp>
      <p:grpSp>
        <p:nvGrpSpPr>
          <p:cNvPr id="10" name="Group 10"/>
          <p:cNvGrpSpPr/>
          <p:nvPr/>
        </p:nvGrpSpPr>
        <p:grpSpPr>
          <a:xfrm>
            <a:off x="609600" y="228600"/>
            <a:ext cx="10985182" cy="438150"/>
            <a:chOff x="609600" y="228600"/>
            <a:chExt cx="10985182" cy="438150"/>
          </a:xfrm>
        </p:grpSpPr>
        <p:sp>
          <p:nvSpPr>
            <p:cNvPr id="7" name="Freeform 7"/>
            <p:cNvSpPr/>
            <p:nvPr/>
          </p:nvSpPr>
          <p:spPr>
            <a:xfrm>
              <a:off x="609600" y="228600"/>
              <a:ext cx="47625" cy="304800"/>
            </a:xfrm>
            <a:custGeom>
              <a:avLst/>
              <a:gdLst/>
              <a:ahLst/>
              <a:cxnLst/>
              <a:rect l="l" t="t" r="r" b="b"/>
              <a:pathLst>
                <a:path w="47625" h="304800">
                  <a:moveTo>
                    <a:pt x="19050" y="0"/>
                  </a:moveTo>
                  <a:lnTo>
                    <a:pt x="28575" y="0"/>
                  </a:lnTo>
                  <a:cubicBezTo>
                    <a:pt x="39096" y="0"/>
                    <a:pt x="47625" y="8529"/>
                    <a:pt x="47625" y="19050"/>
                  </a:cubicBezTo>
                  <a:lnTo>
                    <a:pt x="47625" y="285750"/>
                  </a:lnTo>
                  <a:cubicBezTo>
                    <a:pt x="47625" y="296271"/>
                    <a:pt x="39096" y="304800"/>
                    <a:pt x="28575" y="304800"/>
                  </a:cubicBezTo>
                  <a:lnTo>
                    <a:pt x="19050" y="304800"/>
                  </a:lnTo>
                  <a:cubicBezTo>
                    <a:pt x="8529" y="304800"/>
                    <a:pt x="0" y="296271"/>
                    <a:pt x="0" y="285750"/>
                  </a:cubicBezTo>
                  <a:lnTo>
                    <a:pt x="0" y="19050"/>
                  </a:lnTo>
                  <a:cubicBezTo>
                    <a:pt x="0" y="8529"/>
                    <a:pt x="8529" y="0"/>
                    <a:pt x="19050" y="0"/>
                  </a:cubicBezTo>
                  <a:close/>
                </a:path>
              </a:pathLst>
            </a:custGeom>
            <a:solidFill>
              <a:srgbClr val="1565C0"/>
            </a:solidFill>
            <a:ln>
              <a:noFill/>
            </a:ln>
          </p:spPr>
        </p:sp>
        <p:sp>
          <p:nvSpPr>
            <p:cNvPr id="8" name="TextBox 8"/>
            <p:cNvSpPr txBox="1"/>
            <p:nvPr/>
          </p:nvSpPr>
          <p:spPr>
            <a:xfrm>
              <a:off x="739140" y="300990"/>
              <a:ext cx="2474824" cy="365760"/>
            </a:xfrm>
            <a:prstGeom prst="rect">
              <a:avLst/>
            </a:prstGeom>
            <a:noFill/>
            <a:ln>
              <a:noFill/>
            </a:ln>
          </p:spPr>
          <p:txBody>
            <a:bodyPr wrap="none" lIns="0" tIns="0" rIns="0" bIns="0" anchor="t" anchorCtr="0">
              <a:spAutoFit/>
            </a:bodyPr>
            <a:lstStyle/>
            <a:p>
              <a:pPr algn="l"/>
              <a:r>
                <a:rPr lang="zh-CN" sz="1800" b="1" dirty="0">
                  <a:solidFill>
                    <a:srgbClr val="1A2332"/>
                  </a:solidFill>
                  <a:latin typeface="Arial"/>
                  <a:ea typeface="Microsoft YaHei"/>
                  <a:cs typeface="Arial"/>
                </a:rPr>
                <a:t>Projet CHP203 TOP</a:t>
              </a:r>
            </a:p>
          </p:txBody>
        </p:sp>
        <p:sp>
          <p:nvSpPr>
            <p:cNvPr id="9" name="TextBox 9"/>
            <p:cNvSpPr txBox="1"/>
            <p:nvPr/>
          </p:nvSpPr>
          <p:spPr>
            <a:xfrm>
              <a:off x="11242500" y="390049"/>
              <a:ext cx="352282" cy="198120"/>
            </a:xfrm>
            <a:prstGeom prst="rect">
              <a:avLst/>
            </a:prstGeom>
            <a:noFill/>
            <a:ln>
              <a:noFill/>
            </a:ln>
          </p:spPr>
          <p:txBody>
            <a:bodyPr wrap="none" lIns="0" tIns="0" rIns="0" bIns="0" anchor="t" anchorCtr="0">
              <a:spAutoFit/>
            </a:bodyPr>
            <a:lstStyle/>
            <a:p>
              <a:pPr algn="r"/>
              <a:r>
                <a:rPr lang="zh-CN" sz="975" dirty="0">
                  <a:solidFill>
                    <a:srgbClr val="90A4AE"/>
                  </a:solidFill>
                  <a:latin typeface="Arial"/>
                  <a:ea typeface="Microsoft YaHei"/>
                  <a:cs typeface="Arial"/>
                </a:rPr>
                <a:t>1 / 13</a:t>
              </a:r>
            </a:p>
          </p:txBody>
        </p:sp>
      </p:grpSp>
      <p:grpSp>
        <p:nvGrpSpPr>
          <p:cNvPr id="20" name="Group 20"/>
          <p:cNvGrpSpPr/>
          <p:nvPr/>
        </p:nvGrpSpPr>
        <p:grpSpPr>
          <a:xfrm>
            <a:off x="838200" y="1066800"/>
            <a:ext cx="6927175" cy="3345656"/>
            <a:chOff x="838200" y="1066800"/>
            <a:chExt cx="6927175" cy="3345656"/>
          </a:xfrm>
        </p:grpSpPr>
        <p:sp>
          <p:nvSpPr>
            <p:cNvPr id="11" name="Freeform 11"/>
            <p:cNvSpPr/>
            <p:nvPr/>
          </p:nvSpPr>
          <p:spPr>
            <a:xfrm>
              <a:off x="838200" y="1066800"/>
              <a:ext cx="2152650" cy="266700"/>
            </a:xfrm>
            <a:custGeom>
              <a:avLst/>
              <a:gdLst/>
              <a:ahLst/>
              <a:cxnLst/>
              <a:rect l="l" t="t" r="r" b="b"/>
              <a:pathLst>
                <a:path w="2152650" h="266700">
                  <a:moveTo>
                    <a:pt x="38100" y="0"/>
                  </a:moveTo>
                  <a:lnTo>
                    <a:pt x="2114550" y="0"/>
                  </a:lnTo>
                  <a:cubicBezTo>
                    <a:pt x="2135592" y="0"/>
                    <a:pt x="2152650" y="17058"/>
                    <a:pt x="2152650" y="38100"/>
                  </a:cubicBezTo>
                  <a:lnTo>
                    <a:pt x="2152650" y="228600"/>
                  </a:lnTo>
                  <a:cubicBezTo>
                    <a:pt x="2152650" y="249642"/>
                    <a:pt x="2135592" y="266700"/>
                    <a:pt x="2114550" y="266700"/>
                  </a:cubicBezTo>
                  <a:lnTo>
                    <a:pt x="38100" y="266700"/>
                  </a:lnTo>
                  <a:cubicBezTo>
                    <a:pt x="17058" y="266700"/>
                    <a:pt x="0" y="249642"/>
                    <a:pt x="0" y="228600"/>
                  </a:cubicBezTo>
                  <a:lnTo>
                    <a:pt x="0" y="38100"/>
                  </a:lnTo>
                  <a:cubicBezTo>
                    <a:pt x="0" y="17058"/>
                    <a:pt x="17058" y="0"/>
                    <a:pt x="38100" y="0"/>
                  </a:cubicBezTo>
                  <a:close/>
                </a:path>
              </a:pathLst>
            </a:custGeom>
            <a:solidFill>
              <a:srgbClr val="EAF2FB"/>
            </a:solidFill>
            <a:ln w="9525">
              <a:solidFill>
                <a:srgbClr val="CFD8DC"/>
              </a:solidFill>
            </a:ln>
          </p:spPr>
        </p:sp>
        <p:sp>
          <p:nvSpPr>
            <p:cNvPr id="12" name="TextBox 12"/>
            <p:cNvSpPr txBox="1"/>
            <p:nvPr/>
          </p:nvSpPr>
          <p:spPr>
            <a:xfrm>
              <a:off x="976551" y="1142524"/>
              <a:ext cx="1875949" cy="198120"/>
            </a:xfrm>
            <a:prstGeom prst="rect">
              <a:avLst/>
            </a:prstGeom>
            <a:noFill/>
            <a:ln>
              <a:noFill/>
            </a:ln>
          </p:spPr>
          <p:txBody>
            <a:bodyPr wrap="none" lIns="0" tIns="0" rIns="0" bIns="0" anchor="t" anchorCtr="0">
              <a:spAutoFit/>
            </a:bodyPr>
            <a:lstStyle/>
            <a:p>
              <a:pPr algn="ctr"/>
              <a:r>
                <a:rPr lang="zh-CN" sz="975" dirty="0">
                  <a:solidFill>
                    <a:srgbClr val="1565C0"/>
                  </a:solidFill>
                  <a:latin typeface="Arial"/>
                  <a:ea typeface="Microsoft YaHei"/>
                  <a:cs typeface="Arial"/>
                </a:rPr>
                <a:t>D2Q9 · LBM · MPI + OpenMP</a:t>
              </a:r>
            </a:p>
          </p:txBody>
        </p:sp>
        <p:sp>
          <p:nvSpPr>
            <p:cNvPr id="13" name="Freeform 13"/>
            <p:cNvSpPr/>
            <p:nvPr/>
          </p:nvSpPr>
          <p:spPr>
            <a:xfrm>
              <a:off x="838200" y="1562100"/>
              <a:ext cx="57150" cy="2419350"/>
            </a:xfrm>
            <a:custGeom>
              <a:avLst/>
              <a:gdLst/>
              <a:ahLst/>
              <a:cxnLst/>
              <a:rect l="l" t="t" r="r" b="b"/>
              <a:pathLst>
                <a:path w="57150" h="2419350">
                  <a:moveTo>
                    <a:pt x="28575" y="0"/>
                  </a:moveTo>
                  <a:lnTo>
                    <a:pt x="28575" y="0"/>
                  </a:lnTo>
                  <a:cubicBezTo>
                    <a:pt x="44357" y="0"/>
                    <a:pt x="57150" y="12793"/>
                    <a:pt x="57150" y="28575"/>
                  </a:cubicBezTo>
                  <a:lnTo>
                    <a:pt x="57150" y="2390775"/>
                  </a:lnTo>
                  <a:cubicBezTo>
                    <a:pt x="57150" y="2406557"/>
                    <a:pt x="44357" y="2419350"/>
                    <a:pt x="28575" y="2419350"/>
                  </a:cubicBezTo>
                  <a:lnTo>
                    <a:pt x="28575" y="2419350"/>
                  </a:lnTo>
                  <a:cubicBezTo>
                    <a:pt x="12793" y="2419350"/>
                    <a:pt x="0" y="2406557"/>
                    <a:pt x="0" y="2390775"/>
                  </a:cubicBezTo>
                  <a:lnTo>
                    <a:pt x="0" y="28575"/>
                  </a:lnTo>
                  <a:cubicBezTo>
                    <a:pt x="0" y="12793"/>
                    <a:pt x="12793" y="0"/>
                    <a:pt x="28575" y="0"/>
                  </a:cubicBezTo>
                  <a:close/>
                </a:path>
              </a:pathLst>
            </a:custGeom>
            <a:gradFill>
              <a:gsLst>
                <a:gs pos="0">
                  <a:srgbClr val="1565C0"/>
                </a:gs>
                <a:gs pos="100000">
                  <a:srgbClr val="0277BD"/>
                </a:gs>
              </a:gsLst>
              <a:lin ang="0" scaled="1"/>
            </a:gradFill>
            <a:ln>
              <a:noFill/>
            </a:ln>
          </p:spPr>
        </p:sp>
        <p:sp>
          <p:nvSpPr>
            <p:cNvPr id="14" name="TextBox 14"/>
            <p:cNvSpPr txBox="1"/>
            <p:nvPr/>
          </p:nvSpPr>
          <p:spPr>
            <a:xfrm>
              <a:off x="1064895" y="1755458"/>
              <a:ext cx="4983073" cy="640080"/>
            </a:xfrm>
            <a:prstGeom prst="rect">
              <a:avLst/>
            </a:prstGeom>
            <a:noFill/>
            <a:ln>
              <a:noFill/>
            </a:ln>
          </p:spPr>
          <p:txBody>
            <a:bodyPr wrap="none" lIns="0" tIns="0" rIns="0" bIns="0" anchor="t" anchorCtr="0">
              <a:spAutoFit/>
            </a:bodyPr>
            <a:lstStyle/>
            <a:p>
              <a:pPr algn="l"/>
              <a:r>
                <a:rPr lang="zh-CN" sz="3150" b="1" dirty="0">
                  <a:solidFill>
                    <a:srgbClr val="1A2332"/>
                  </a:solidFill>
                  <a:latin typeface="Arial"/>
                  <a:ea typeface="Microsoft YaHei"/>
                  <a:cs typeface="Arial"/>
                </a:rPr>
                <a:t>Optimisation hybride</a:t>
              </a:r>
            </a:p>
          </p:txBody>
        </p:sp>
        <p:sp>
          <p:nvSpPr>
            <p:cNvPr id="15" name="TextBox 15"/>
            <p:cNvSpPr txBox="1"/>
            <p:nvPr/>
          </p:nvSpPr>
          <p:spPr>
            <a:xfrm>
              <a:off x="1064895" y="2288858"/>
              <a:ext cx="3195749" cy="640080"/>
            </a:xfrm>
            <a:prstGeom prst="rect">
              <a:avLst/>
            </a:prstGeom>
            <a:noFill/>
            <a:ln>
              <a:noFill/>
            </a:ln>
          </p:spPr>
          <p:txBody>
            <a:bodyPr wrap="none" lIns="0" tIns="0" rIns="0" bIns="0" anchor="t" anchorCtr="0">
              <a:spAutoFit/>
            </a:bodyPr>
            <a:lstStyle/>
            <a:p>
              <a:pPr algn="l"/>
              <a:r>
                <a:rPr lang="zh-CN" sz="3150" b="1" dirty="0">
                  <a:solidFill>
                    <a:srgbClr val="1565C0"/>
                  </a:solidFill>
                  <a:latin typeface="Arial"/>
                  <a:ea typeface="Microsoft YaHei"/>
                  <a:cs typeface="Arial"/>
                </a:rPr>
                <a:t>MPI + OpenMP</a:t>
              </a:r>
            </a:p>
          </p:txBody>
        </p:sp>
        <p:sp>
          <p:nvSpPr>
            <p:cNvPr id="16" name="TextBox 16"/>
            <p:cNvSpPr txBox="1"/>
            <p:nvPr/>
          </p:nvSpPr>
          <p:spPr>
            <a:xfrm>
              <a:off x="1064895" y="2822258"/>
              <a:ext cx="5369521" cy="640080"/>
            </a:xfrm>
            <a:prstGeom prst="rect">
              <a:avLst/>
            </a:prstGeom>
            <a:noFill/>
            <a:ln>
              <a:noFill/>
            </a:ln>
          </p:spPr>
          <p:txBody>
            <a:bodyPr wrap="none" lIns="0" tIns="0" rIns="0" bIns="0" anchor="t" anchorCtr="0">
              <a:spAutoFit/>
            </a:bodyPr>
            <a:lstStyle/>
            <a:p>
              <a:pPr algn="l"/>
              <a:r>
                <a:rPr lang="zh-CN" sz="3150" b="1" dirty="0">
                  <a:solidFill>
                    <a:srgbClr val="1A2332"/>
                  </a:solidFill>
                  <a:latin typeface="Arial"/>
                  <a:ea typeface="Microsoft YaHei"/>
                  <a:cs typeface="Arial"/>
                </a:rPr>
                <a:t>d'un solveur LBM D2Q9</a:t>
              </a:r>
            </a:p>
          </p:txBody>
        </p:sp>
        <p:sp>
          <p:nvSpPr>
            <p:cNvPr id="17" name="TextBox 17"/>
            <p:cNvSpPr txBox="1"/>
            <p:nvPr/>
          </p:nvSpPr>
          <p:spPr>
            <a:xfrm>
              <a:off x="1085850" y="3533775"/>
              <a:ext cx="4693444" cy="304800"/>
            </a:xfrm>
            <a:prstGeom prst="rect">
              <a:avLst/>
            </a:prstGeom>
            <a:noFill/>
            <a:ln>
              <a:noFill/>
            </a:ln>
          </p:spPr>
          <p:txBody>
            <a:bodyPr wrap="none" lIns="0" tIns="0" rIns="0" bIns="0" anchor="t" anchorCtr="0">
              <a:spAutoFit/>
            </a:bodyPr>
            <a:lstStyle/>
            <a:p>
              <a:pPr algn="l"/>
              <a:r>
                <a:rPr lang="zh-CN" sz="1500" dirty="0">
                  <a:solidFill>
                    <a:srgbClr val="546E7A"/>
                  </a:solidFill>
                  <a:latin typeface="Arial"/>
                  <a:ea typeface="Microsoft YaHei"/>
                  <a:cs typeface="Arial"/>
                </a:rPr>
                <a:t>Allée de Kármán · Re = 96 · 800 × 160 cellules</a:t>
              </a:r>
            </a:p>
          </p:txBody>
        </p:sp>
        <p:sp>
          <p:nvSpPr>
            <p:cNvPr id="18" name="Line 18"/>
            <p:cNvSpPr/>
            <p:nvPr/>
          </p:nvSpPr>
          <p:spPr>
            <a:xfrm>
              <a:off x="1104900" y="3981450"/>
              <a:ext cx="5562600" cy="9525"/>
            </a:xfrm>
            <a:custGeom>
              <a:avLst/>
              <a:gdLst/>
              <a:ahLst/>
              <a:cxnLst/>
              <a:rect l="l" t="t" r="r" b="b"/>
              <a:pathLst>
                <a:path w="5562600" h="9525">
                  <a:moveTo>
                    <a:pt x="0" y="0"/>
                  </a:moveTo>
                  <a:lnTo>
                    <a:pt x="5562600" y="0"/>
                  </a:lnTo>
                </a:path>
              </a:pathLst>
            </a:custGeom>
            <a:noFill/>
            <a:ln w="9525">
              <a:solidFill>
                <a:srgbClr val="CFD8DC"/>
              </a:solidFill>
            </a:ln>
          </p:spPr>
        </p:sp>
        <p:sp>
          <p:nvSpPr>
            <p:cNvPr id="19" name="TextBox 19"/>
            <p:cNvSpPr txBox="1"/>
            <p:nvPr/>
          </p:nvSpPr>
          <p:spPr>
            <a:xfrm>
              <a:off x="1090612" y="4183856"/>
              <a:ext cx="6674763"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Arial"/>
                  <a:ea typeface="Microsoft YaHei"/>
                  <a:cs typeface="Arial"/>
                </a:rPr>
                <a:t>Etude de performance d'un solveur hybride pour la simulation du sillage de Kármán.</a:t>
              </a:r>
            </a:p>
          </p:txBody>
        </p:sp>
      </p:grpSp>
      <p:grpSp>
        <p:nvGrpSpPr>
          <p:cNvPr id="26" name="Group 26"/>
          <p:cNvGrpSpPr/>
          <p:nvPr/>
        </p:nvGrpSpPr>
        <p:grpSpPr>
          <a:xfrm>
            <a:off x="7848600" y="1219200"/>
            <a:ext cx="4587288" cy="1123950"/>
            <a:chOff x="7848600" y="1219200"/>
            <a:chExt cx="4587288" cy="1123950"/>
          </a:xfrm>
        </p:grpSpPr>
        <p:sp>
          <p:nvSpPr>
            <p:cNvPr id="21" name="Freeform 21"/>
            <p:cNvSpPr/>
            <p:nvPr/>
          </p:nvSpPr>
          <p:spPr>
            <a:xfrm>
              <a:off x="7848600" y="1219200"/>
              <a:ext cx="3733800" cy="1123950"/>
            </a:xfrm>
            <a:custGeom>
              <a:avLst/>
              <a:gdLst/>
              <a:ahLst/>
              <a:cxnLst/>
              <a:rect l="l" t="t" r="r" b="b"/>
              <a:pathLst>
                <a:path w="3733800" h="1123950">
                  <a:moveTo>
                    <a:pt x="76200" y="0"/>
                  </a:moveTo>
                  <a:lnTo>
                    <a:pt x="3657600" y="0"/>
                  </a:lnTo>
                  <a:cubicBezTo>
                    <a:pt x="3699684" y="0"/>
                    <a:pt x="3733800" y="34116"/>
                    <a:pt x="3733800" y="76200"/>
                  </a:cubicBezTo>
                  <a:lnTo>
                    <a:pt x="3733800" y="1047750"/>
                  </a:lnTo>
                  <a:cubicBezTo>
                    <a:pt x="3733800" y="1089834"/>
                    <a:pt x="3699684" y="1123950"/>
                    <a:pt x="3657600" y="1123950"/>
                  </a:cubicBezTo>
                  <a:lnTo>
                    <a:pt x="76200" y="1123950"/>
                  </a:lnTo>
                  <a:cubicBezTo>
                    <a:pt x="34116" y="1123950"/>
                    <a:pt x="0" y="1089834"/>
                    <a:pt x="0" y="1047750"/>
                  </a:cubicBezTo>
                  <a:lnTo>
                    <a:pt x="0" y="76200"/>
                  </a:lnTo>
                  <a:cubicBezTo>
                    <a:pt x="0" y="34116"/>
                    <a:pt x="34116" y="0"/>
                    <a:pt x="76200" y="0"/>
                  </a:cubicBezTo>
                  <a:close/>
                </a:path>
              </a:pathLst>
            </a:custGeom>
            <a:solidFill>
              <a:srgbClr val="FFFFFF"/>
            </a:solidFill>
            <a:ln w="9525">
              <a:solidFill>
                <a:srgbClr val="CFD8DC"/>
              </a:solidFill>
            </a:ln>
          </p:spPr>
        </p:sp>
        <p:sp>
          <p:nvSpPr>
            <p:cNvPr id="22" name="Freeform 22"/>
            <p:cNvSpPr/>
            <p:nvPr/>
          </p:nvSpPr>
          <p:spPr>
            <a:xfrm>
              <a:off x="7848600" y="1219200"/>
              <a:ext cx="3733800" cy="47625"/>
            </a:xfrm>
            <a:custGeom>
              <a:avLst/>
              <a:gdLst/>
              <a:ahLst/>
              <a:cxnLst/>
              <a:rect l="l" t="t" r="r" b="b"/>
              <a:pathLst>
                <a:path w="3733800" h="47625">
                  <a:moveTo>
                    <a:pt x="28575" y="0"/>
                  </a:moveTo>
                  <a:lnTo>
                    <a:pt x="3705225" y="0"/>
                  </a:lnTo>
                  <a:cubicBezTo>
                    <a:pt x="3721007" y="0"/>
                    <a:pt x="3733800" y="10661"/>
                    <a:pt x="3733800" y="23812"/>
                  </a:cubicBezTo>
                  <a:lnTo>
                    <a:pt x="3733800" y="23812"/>
                  </a:lnTo>
                  <a:cubicBezTo>
                    <a:pt x="3733800" y="36964"/>
                    <a:pt x="3721007" y="47625"/>
                    <a:pt x="3705225" y="47625"/>
                  </a:cubicBezTo>
                  <a:lnTo>
                    <a:pt x="28575" y="47625"/>
                  </a:lnTo>
                  <a:cubicBezTo>
                    <a:pt x="12793" y="47625"/>
                    <a:pt x="0" y="36964"/>
                    <a:pt x="0" y="23812"/>
                  </a:cubicBezTo>
                  <a:lnTo>
                    <a:pt x="0" y="23812"/>
                  </a:lnTo>
                  <a:cubicBezTo>
                    <a:pt x="0" y="10661"/>
                    <a:pt x="12793" y="0"/>
                    <a:pt x="28575" y="0"/>
                  </a:cubicBezTo>
                  <a:close/>
                </a:path>
              </a:pathLst>
            </a:custGeom>
            <a:solidFill>
              <a:srgbClr val="E65100"/>
            </a:solidFill>
            <a:ln>
              <a:noFill/>
            </a:ln>
          </p:spPr>
        </p:sp>
        <p:sp>
          <p:nvSpPr>
            <p:cNvPr id="23" name="TextBox 23"/>
            <p:cNvSpPr txBox="1"/>
            <p:nvPr/>
          </p:nvSpPr>
          <p:spPr>
            <a:xfrm>
              <a:off x="8102918" y="1523524"/>
              <a:ext cx="857798" cy="198120"/>
            </a:xfrm>
            <a:prstGeom prst="rect">
              <a:avLst/>
            </a:prstGeom>
            <a:noFill/>
            <a:ln>
              <a:noFill/>
            </a:ln>
          </p:spPr>
          <p:txBody>
            <a:bodyPr wrap="none" lIns="0" tIns="0" rIns="0" bIns="0" anchor="t" anchorCtr="0">
              <a:spAutoFit/>
            </a:bodyPr>
            <a:lstStyle/>
            <a:p>
              <a:pPr algn="l"/>
              <a:r>
                <a:rPr lang="zh-CN" sz="975" dirty="0">
                  <a:solidFill>
                    <a:srgbClr val="E65100"/>
                  </a:solidFill>
                  <a:latin typeface="Arial"/>
                  <a:ea typeface="Microsoft YaHei"/>
                  <a:cs typeface="Arial"/>
                </a:rPr>
                <a:t>Résultat clé</a:t>
              </a:r>
            </a:p>
          </p:txBody>
        </p:sp>
        <p:sp>
          <p:nvSpPr>
            <p:cNvPr id="24" name="TextBox 24"/>
            <p:cNvSpPr txBox="1"/>
            <p:nvPr/>
          </p:nvSpPr>
          <p:spPr>
            <a:xfrm>
              <a:off x="8096250" y="1771650"/>
              <a:ext cx="4339638" cy="304800"/>
            </a:xfrm>
            <a:prstGeom prst="rect">
              <a:avLst/>
            </a:prstGeom>
            <a:noFill/>
            <a:ln>
              <a:noFill/>
            </a:ln>
          </p:spPr>
          <p:txBody>
            <a:bodyPr wrap="none" lIns="0" tIns="0" rIns="0" bIns="0" anchor="t" anchorCtr="0">
              <a:spAutoFit/>
            </a:bodyPr>
            <a:lstStyle/>
            <a:p>
              <a:pPr algn="l"/>
              <a:r>
                <a:rPr lang="zh-CN" sz="1500" b="1" dirty="0">
                  <a:solidFill>
                    <a:srgbClr val="1A2332"/>
                  </a:solidFill>
                  <a:latin typeface="Arial"/>
                  <a:ea typeface="Microsoft YaHei"/>
                  <a:cs typeface="Arial"/>
                </a:rPr>
                <a:t>Meilleur résultat mesuré : 2047 MLUPS</a:t>
              </a:r>
            </a:p>
          </p:txBody>
        </p:sp>
        <p:sp>
          <p:nvSpPr>
            <p:cNvPr id="25" name="TextBox 25"/>
            <p:cNvSpPr txBox="1"/>
            <p:nvPr/>
          </p:nvSpPr>
          <p:spPr>
            <a:xfrm>
              <a:off x="8101012" y="2050256"/>
              <a:ext cx="1055489"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Consolas"/>
                  <a:ea typeface="Microsoft YaHei"/>
                  <a:cs typeface="Consolas"/>
                </a:rPr>
                <a:t>np=1, OMP=16</a:t>
              </a:r>
            </a:p>
          </p:txBody>
        </p:sp>
      </p:grpSp>
      <p:grpSp>
        <p:nvGrpSpPr>
          <p:cNvPr id="41" name="Group 41"/>
          <p:cNvGrpSpPr/>
          <p:nvPr/>
        </p:nvGrpSpPr>
        <p:grpSpPr>
          <a:xfrm>
            <a:off x="8001000" y="2667000"/>
            <a:ext cx="3627954" cy="2552700"/>
            <a:chOff x="8001000" y="2667000"/>
            <a:chExt cx="3627954" cy="2552700"/>
          </a:xfrm>
        </p:grpSpPr>
        <p:sp>
          <p:nvSpPr>
            <p:cNvPr id="27" name="Freeform 27"/>
            <p:cNvSpPr/>
            <p:nvPr/>
          </p:nvSpPr>
          <p:spPr>
            <a:xfrm>
              <a:off x="8001000" y="2667000"/>
              <a:ext cx="3352800" cy="2552700"/>
            </a:xfrm>
            <a:custGeom>
              <a:avLst/>
              <a:gdLst/>
              <a:ahLst/>
              <a:cxnLst/>
              <a:rect l="l" t="t" r="r" b="b"/>
              <a:pathLst>
                <a:path w="3352800" h="2552700">
                  <a:moveTo>
                    <a:pt x="76200" y="0"/>
                  </a:moveTo>
                  <a:lnTo>
                    <a:pt x="3276600" y="0"/>
                  </a:lnTo>
                  <a:cubicBezTo>
                    <a:pt x="3318684" y="0"/>
                    <a:pt x="3352800" y="34116"/>
                    <a:pt x="3352800" y="76200"/>
                  </a:cubicBezTo>
                  <a:lnTo>
                    <a:pt x="3352800" y="2476500"/>
                  </a:lnTo>
                  <a:cubicBezTo>
                    <a:pt x="3352800" y="2518584"/>
                    <a:pt x="3318684" y="2552700"/>
                    <a:pt x="3276600" y="2552700"/>
                  </a:cubicBezTo>
                  <a:lnTo>
                    <a:pt x="76200" y="2552700"/>
                  </a:lnTo>
                  <a:cubicBezTo>
                    <a:pt x="34116" y="2552700"/>
                    <a:pt x="0" y="2518584"/>
                    <a:pt x="0" y="2476500"/>
                  </a:cubicBezTo>
                  <a:lnTo>
                    <a:pt x="0" y="76200"/>
                  </a:lnTo>
                  <a:cubicBezTo>
                    <a:pt x="0" y="34116"/>
                    <a:pt x="34116" y="0"/>
                    <a:pt x="76200" y="0"/>
                  </a:cubicBezTo>
                  <a:close/>
                </a:path>
              </a:pathLst>
            </a:custGeom>
            <a:solidFill>
              <a:srgbClr val="FFFFFF"/>
            </a:solidFill>
            <a:ln w="9525">
              <a:solidFill>
                <a:srgbClr val="CFD8DC"/>
              </a:solidFill>
            </a:ln>
          </p:spPr>
        </p:sp>
        <p:sp>
          <p:nvSpPr>
            <p:cNvPr id="28" name="TextBox 28"/>
            <p:cNvSpPr txBox="1"/>
            <p:nvPr/>
          </p:nvSpPr>
          <p:spPr>
            <a:xfrm>
              <a:off x="8253412" y="2888456"/>
              <a:ext cx="1029200" cy="228600"/>
            </a:xfrm>
            <a:prstGeom prst="rect">
              <a:avLst/>
            </a:prstGeom>
            <a:noFill/>
            <a:ln>
              <a:noFill/>
            </a:ln>
          </p:spPr>
          <p:txBody>
            <a:bodyPr wrap="none" lIns="0" tIns="0" rIns="0" bIns="0" anchor="t" anchorCtr="0">
              <a:spAutoFit/>
            </a:bodyPr>
            <a:lstStyle/>
            <a:p>
              <a:pPr algn="l"/>
              <a:r>
                <a:rPr lang="zh-CN" sz="1125" b="1" dirty="0">
                  <a:solidFill>
                    <a:srgbClr val="1565C0"/>
                  </a:solidFill>
                  <a:latin typeface="Arial"/>
                  <a:ea typeface="Microsoft YaHei"/>
                  <a:cs typeface="Arial"/>
                </a:rPr>
                <a:t>Cas d'étude</a:t>
              </a:r>
            </a:p>
          </p:txBody>
        </p:sp>
        <p:sp>
          <p:nvSpPr>
            <p:cNvPr id="29" name="TextBox 29"/>
            <p:cNvSpPr txBox="1"/>
            <p:nvPr/>
          </p:nvSpPr>
          <p:spPr>
            <a:xfrm>
              <a:off x="8255318" y="3114199"/>
              <a:ext cx="2972419" cy="198120"/>
            </a:xfrm>
            <a:prstGeom prst="rect">
              <a:avLst/>
            </a:prstGeom>
            <a:noFill/>
            <a:ln>
              <a:noFill/>
            </a:ln>
          </p:spPr>
          <p:txBody>
            <a:bodyPr wrap="none" lIns="0" tIns="0" rIns="0" bIns="0" anchor="t" anchorCtr="0">
              <a:spAutoFit/>
            </a:bodyPr>
            <a:lstStyle/>
            <a:p>
              <a:pPr algn="l"/>
              <a:r>
                <a:rPr lang="zh-CN" sz="975" dirty="0">
                  <a:solidFill>
                    <a:srgbClr val="90A4AE"/>
                  </a:solidFill>
                  <a:latin typeface="Arial"/>
                  <a:ea typeface="Microsoft YaHei"/>
                  <a:cs typeface="Arial"/>
                </a:rPr>
                <a:t>Canal 2D avec cylindre et sillage périodique</a:t>
              </a:r>
            </a:p>
          </p:txBody>
        </p:sp>
        <p:sp>
          <p:nvSpPr>
            <p:cNvPr id="30" name="Freeform 30"/>
            <p:cNvSpPr/>
            <p:nvPr/>
          </p:nvSpPr>
          <p:spPr>
            <a:xfrm>
              <a:off x="8267700" y="3429000"/>
              <a:ext cx="2819400" cy="1219200"/>
            </a:xfrm>
            <a:custGeom>
              <a:avLst/>
              <a:gdLst/>
              <a:ahLst/>
              <a:cxnLst/>
              <a:rect l="l" t="t" r="r" b="b"/>
              <a:pathLst>
                <a:path w="2819400" h="1219200">
                  <a:moveTo>
                    <a:pt x="57150" y="0"/>
                  </a:moveTo>
                  <a:lnTo>
                    <a:pt x="2762250" y="0"/>
                  </a:lnTo>
                  <a:cubicBezTo>
                    <a:pt x="2793813" y="0"/>
                    <a:pt x="2819400" y="25587"/>
                    <a:pt x="2819400" y="57150"/>
                  </a:cubicBezTo>
                  <a:lnTo>
                    <a:pt x="2819400" y="1162050"/>
                  </a:lnTo>
                  <a:cubicBezTo>
                    <a:pt x="2819400" y="1193613"/>
                    <a:pt x="2793813" y="1219200"/>
                    <a:pt x="2762250" y="1219200"/>
                  </a:cubicBezTo>
                  <a:lnTo>
                    <a:pt x="57150" y="1219200"/>
                  </a:lnTo>
                  <a:cubicBezTo>
                    <a:pt x="25587" y="1219200"/>
                    <a:pt x="0" y="1193613"/>
                    <a:pt x="0" y="1162050"/>
                  </a:cubicBezTo>
                  <a:lnTo>
                    <a:pt x="0" y="57150"/>
                  </a:lnTo>
                  <a:cubicBezTo>
                    <a:pt x="0" y="25587"/>
                    <a:pt x="25587" y="0"/>
                    <a:pt x="57150" y="0"/>
                  </a:cubicBezTo>
                  <a:close/>
                </a:path>
              </a:pathLst>
            </a:custGeom>
            <a:gradFill>
              <a:gsLst>
                <a:gs pos="0">
                  <a:srgbClr val="1565C0">
                    <a:alpha val="10000"/>
                  </a:srgbClr>
                </a:gs>
                <a:gs pos="100000">
                  <a:srgbClr val="E65100">
                    <a:alpha val="14000"/>
                  </a:srgbClr>
                </a:gs>
              </a:gsLst>
              <a:lin ang="0" scaled="1"/>
            </a:gradFill>
            <a:ln w="9525">
              <a:solidFill>
                <a:srgbClr val="D8E2EA"/>
              </a:solidFill>
            </a:ln>
          </p:spPr>
        </p:sp>
        <p:sp>
          <p:nvSpPr>
            <p:cNvPr id="31" name="Line 31"/>
            <p:cNvSpPr/>
            <p:nvPr/>
          </p:nvSpPr>
          <p:spPr>
            <a:xfrm>
              <a:off x="8496300" y="3771900"/>
              <a:ext cx="2362200" cy="9525"/>
            </a:xfrm>
            <a:custGeom>
              <a:avLst/>
              <a:gdLst/>
              <a:ahLst/>
              <a:cxnLst/>
              <a:rect l="l" t="t" r="r" b="b"/>
              <a:pathLst>
                <a:path w="2362200" h="9525">
                  <a:moveTo>
                    <a:pt x="0" y="0"/>
                  </a:moveTo>
                  <a:lnTo>
                    <a:pt x="2362200" y="0"/>
                  </a:lnTo>
                </a:path>
              </a:pathLst>
            </a:custGeom>
            <a:noFill/>
            <a:ln w="9525">
              <a:solidFill>
                <a:srgbClr val="B0BEC5"/>
              </a:solidFill>
              <a:custDash>
                <a:ds d="500000" sp="400000"/>
              </a:custDash>
            </a:ln>
          </p:spPr>
        </p:sp>
        <p:sp>
          <p:nvSpPr>
            <p:cNvPr id="32" name="Line 32"/>
            <p:cNvSpPr/>
            <p:nvPr/>
          </p:nvSpPr>
          <p:spPr>
            <a:xfrm>
              <a:off x="8496300" y="4305300"/>
              <a:ext cx="2362200" cy="9525"/>
            </a:xfrm>
            <a:custGeom>
              <a:avLst/>
              <a:gdLst/>
              <a:ahLst/>
              <a:cxnLst/>
              <a:rect l="l" t="t" r="r" b="b"/>
              <a:pathLst>
                <a:path w="2362200" h="9525">
                  <a:moveTo>
                    <a:pt x="0" y="0"/>
                  </a:moveTo>
                  <a:lnTo>
                    <a:pt x="2362200" y="0"/>
                  </a:lnTo>
                </a:path>
              </a:pathLst>
            </a:custGeom>
            <a:noFill/>
            <a:ln w="9525">
              <a:solidFill>
                <a:srgbClr val="B0BEC5"/>
              </a:solidFill>
              <a:custDash>
                <a:ds d="500000" sp="400000"/>
              </a:custDash>
            </a:ln>
          </p:spPr>
        </p:sp>
        <p:sp>
          <p:nvSpPr>
            <p:cNvPr id="33" name="Freeform 33"/>
            <p:cNvSpPr/>
            <p:nvPr/>
          </p:nvSpPr>
          <p:spPr>
            <a:xfrm>
              <a:off x="8496300" y="3848100"/>
              <a:ext cx="2362200" cy="381000"/>
            </a:xfrm>
            <a:custGeom>
              <a:avLst/>
              <a:gdLst/>
              <a:ahLst/>
              <a:cxnLst/>
              <a:rect l="l" t="t" r="r" b="b"/>
              <a:pathLst>
                <a:path w="2362200" h="381000">
                  <a:moveTo>
                    <a:pt x="0" y="190500"/>
                  </a:moveTo>
                  <a:cubicBezTo>
                    <a:pt x="361950" y="0"/>
                    <a:pt x="552450" y="0"/>
                    <a:pt x="895350" y="190500"/>
                  </a:cubicBezTo>
                  <a:cubicBezTo>
                    <a:pt x="1238250" y="381000"/>
                    <a:pt x="1428750" y="381000"/>
                    <a:pt x="1771650" y="190500"/>
                  </a:cubicBezTo>
                  <a:cubicBezTo>
                    <a:pt x="2114550" y="0"/>
                    <a:pt x="2209800" y="19050"/>
                    <a:pt x="2362200" y="95250"/>
                  </a:cubicBezTo>
                </a:path>
              </a:pathLst>
            </a:custGeom>
            <a:noFill/>
            <a:ln w="28575">
              <a:solidFill>
                <a:srgbClr val="1565C0"/>
              </a:solidFill>
            </a:ln>
          </p:spPr>
        </p:sp>
        <p:sp>
          <p:nvSpPr>
            <p:cNvPr id="34" name="Freeform 34"/>
            <p:cNvSpPr/>
            <p:nvPr/>
          </p:nvSpPr>
          <p:spPr>
            <a:xfrm>
              <a:off x="8496300" y="3848100"/>
              <a:ext cx="2362200" cy="381000"/>
            </a:xfrm>
            <a:custGeom>
              <a:avLst/>
              <a:gdLst/>
              <a:ahLst/>
              <a:cxnLst/>
              <a:rect l="l" t="t" r="r" b="b"/>
              <a:pathLst>
                <a:path w="2362200" h="381000">
                  <a:moveTo>
                    <a:pt x="0" y="190500"/>
                  </a:moveTo>
                  <a:cubicBezTo>
                    <a:pt x="361950" y="381000"/>
                    <a:pt x="552450" y="381000"/>
                    <a:pt x="895350" y="190500"/>
                  </a:cubicBezTo>
                  <a:cubicBezTo>
                    <a:pt x="1238250" y="0"/>
                    <a:pt x="1428750" y="0"/>
                    <a:pt x="1771650" y="190500"/>
                  </a:cubicBezTo>
                  <a:cubicBezTo>
                    <a:pt x="2114550" y="381000"/>
                    <a:pt x="2209800" y="361950"/>
                    <a:pt x="2362200" y="285750"/>
                  </a:cubicBezTo>
                </a:path>
              </a:pathLst>
            </a:custGeom>
            <a:noFill/>
            <a:ln w="28575">
              <a:solidFill>
                <a:srgbClr val="E65100"/>
              </a:solidFill>
            </a:ln>
          </p:spPr>
        </p:sp>
        <p:sp>
          <p:nvSpPr>
            <p:cNvPr id="35" name="Ellipse 35"/>
            <p:cNvSpPr/>
            <p:nvPr/>
          </p:nvSpPr>
          <p:spPr>
            <a:xfrm>
              <a:off x="8763000" y="3886200"/>
              <a:ext cx="304800" cy="304800"/>
            </a:xfrm>
            <a:prstGeom prst="ellipse">
              <a:avLst/>
            </a:prstGeom>
            <a:solidFill>
              <a:srgbClr val="FFFFFF"/>
            </a:solidFill>
            <a:ln w="19050">
              <a:solidFill>
                <a:srgbClr val="1A2332"/>
              </a:solidFill>
            </a:ln>
          </p:spPr>
        </p:sp>
        <p:sp>
          <p:nvSpPr>
            <p:cNvPr id="36" name="Freeform 36"/>
            <p:cNvSpPr/>
            <p:nvPr/>
          </p:nvSpPr>
          <p:spPr>
            <a:xfrm>
              <a:off x="8420100" y="4038600"/>
              <a:ext cx="266700" cy="9525"/>
            </a:xfrm>
            <a:custGeom>
              <a:avLst/>
              <a:gdLst/>
              <a:ahLst/>
              <a:cxnLst/>
              <a:rect l="l" t="t" r="r" b="b"/>
              <a:pathLst>
                <a:path w="266700" h="9525">
                  <a:moveTo>
                    <a:pt x="0" y="0"/>
                  </a:moveTo>
                  <a:lnTo>
                    <a:pt x="266700" y="0"/>
                  </a:lnTo>
                </a:path>
              </a:pathLst>
            </a:custGeom>
            <a:solidFill>
              <a:srgbClr val="000000"/>
            </a:solidFill>
            <a:ln w="28575">
              <a:solidFill>
                <a:srgbClr val="1565C0"/>
              </a:solidFill>
            </a:ln>
          </p:spPr>
        </p:sp>
        <p:sp>
          <p:nvSpPr>
            <p:cNvPr id="37" name="Freeform 37"/>
            <p:cNvSpPr/>
            <p:nvPr/>
          </p:nvSpPr>
          <p:spPr>
            <a:xfrm>
              <a:off x="9144000" y="4038600"/>
              <a:ext cx="171450" cy="9525"/>
            </a:xfrm>
            <a:custGeom>
              <a:avLst/>
              <a:gdLst/>
              <a:ahLst/>
              <a:cxnLst/>
              <a:rect l="l" t="t" r="r" b="b"/>
              <a:pathLst>
                <a:path w="171450" h="9525">
                  <a:moveTo>
                    <a:pt x="0" y="0"/>
                  </a:moveTo>
                  <a:lnTo>
                    <a:pt x="171450" y="0"/>
                  </a:lnTo>
                </a:path>
              </a:pathLst>
            </a:custGeom>
            <a:solidFill>
              <a:srgbClr val="000000"/>
            </a:solidFill>
            <a:ln w="19050">
              <a:solidFill>
                <a:srgbClr val="546E7A"/>
              </a:solidFill>
            </a:ln>
          </p:spPr>
        </p:sp>
        <p:sp>
          <p:nvSpPr>
            <p:cNvPr id="38" name="TextBox 38"/>
            <p:cNvSpPr txBox="1"/>
            <p:nvPr/>
          </p:nvSpPr>
          <p:spPr>
            <a:xfrm>
              <a:off x="8293418" y="4790599"/>
              <a:ext cx="3335536" cy="198120"/>
            </a:xfrm>
            <a:prstGeom prst="rect">
              <a:avLst/>
            </a:prstGeom>
            <a:noFill/>
            <a:ln>
              <a:noFill/>
            </a:ln>
          </p:spPr>
          <p:txBody>
            <a:bodyPr wrap="none" lIns="0" tIns="0" rIns="0" bIns="0" anchor="t" anchorCtr="0">
              <a:spAutoFit/>
            </a:bodyPr>
            <a:lstStyle/>
            <a:p>
              <a:pPr algn="l"/>
              <a:r>
                <a:rPr lang="zh-CN" sz="975" dirty="0">
                  <a:solidFill>
                    <a:srgbClr val="546E7A"/>
                  </a:solidFill>
                  <a:latin typeface="Arial"/>
                  <a:ea typeface="Microsoft YaHei"/>
                  <a:cs typeface="Arial"/>
                </a:rPr>
                <a:t>Champ testé : allée de Kármán derrière cylindre</a:t>
              </a:r>
            </a:p>
          </p:txBody>
        </p:sp>
        <p:sp>
          <p:nvSpPr>
            <p:cNvPr id="39" name="Freeform 39"/>
            <p:cNvSpPr/>
            <p:nvPr/>
          </p:nvSpPr>
          <p:spPr>
            <a:xfrm>
              <a:off x="8001000" y="4762500"/>
              <a:ext cx="3352800" cy="457200"/>
            </a:xfrm>
            <a:custGeom>
              <a:avLst/>
              <a:gdLst/>
              <a:ahLst/>
              <a:cxnLst/>
              <a:rect l="l" t="t" r="r" b="b"/>
              <a:pathLst>
                <a:path w="3352800" h="457200">
                  <a:moveTo>
                    <a:pt x="76200" y="0"/>
                  </a:moveTo>
                  <a:lnTo>
                    <a:pt x="3276600" y="0"/>
                  </a:lnTo>
                  <a:cubicBezTo>
                    <a:pt x="3318684" y="0"/>
                    <a:pt x="3352800" y="34116"/>
                    <a:pt x="3352800" y="76200"/>
                  </a:cubicBezTo>
                  <a:lnTo>
                    <a:pt x="3352800" y="381000"/>
                  </a:lnTo>
                  <a:cubicBezTo>
                    <a:pt x="3352800" y="423084"/>
                    <a:pt x="3318684" y="457200"/>
                    <a:pt x="3276600" y="457200"/>
                  </a:cubicBezTo>
                  <a:lnTo>
                    <a:pt x="76200" y="457200"/>
                  </a:lnTo>
                  <a:cubicBezTo>
                    <a:pt x="34116" y="457200"/>
                    <a:pt x="0" y="423084"/>
                    <a:pt x="0" y="381000"/>
                  </a:cubicBezTo>
                  <a:lnTo>
                    <a:pt x="0" y="76200"/>
                  </a:lnTo>
                  <a:cubicBezTo>
                    <a:pt x="0" y="34116"/>
                    <a:pt x="34116" y="0"/>
                    <a:pt x="76200" y="0"/>
                  </a:cubicBezTo>
                  <a:close/>
                </a:path>
              </a:pathLst>
            </a:custGeom>
            <a:solidFill>
              <a:srgbClr val="F4F7FA"/>
            </a:solidFill>
            <a:ln w="9525">
              <a:solidFill>
                <a:srgbClr val="D8E2EA"/>
              </a:solidFill>
            </a:ln>
          </p:spPr>
        </p:sp>
        <p:sp>
          <p:nvSpPr>
            <p:cNvPr id="40" name="TextBox 40"/>
            <p:cNvSpPr txBox="1"/>
            <p:nvPr/>
          </p:nvSpPr>
          <p:spPr>
            <a:xfrm>
              <a:off x="8098631" y="4923949"/>
              <a:ext cx="3157538" cy="198120"/>
            </a:xfrm>
            <a:prstGeom prst="rect">
              <a:avLst/>
            </a:prstGeom>
            <a:noFill/>
            <a:ln>
              <a:noFill/>
            </a:ln>
          </p:spPr>
          <p:txBody>
            <a:bodyPr wrap="none" lIns="0" tIns="0" rIns="0" bIns="0" anchor="t" anchorCtr="0">
              <a:spAutoFit/>
            </a:bodyPr>
            <a:lstStyle/>
            <a:p>
              <a:pPr algn="ctr"/>
              <a:r>
                <a:rPr lang="zh-CN" sz="975" dirty="0">
                  <a:solidFill>
                    <a:srgbClr val="1A2332"/>
                  </a:solidFill>
                  <a:latin typeface="Arial"/>
                  <a:ea typeface="Microsoft YaHei"/>
                  <a:cs typeface="Arial"/>
                </a:rPr>
                <a:t>Domaine : 800 × 160 cellules · Régime : Re = 96</a:t>
              </a:r>
            </a:p>
          </p:txBody>
        </p:sp>
      </p:grpSp>
      <p:grpSp>
        <p:nvGrpSpPr>
          <p:cNvPr id="45" name="Group 45"/>
          <p:cNvGrpSpPr/>
          <p:nvPr/>
        </p:nvGrpSpPr>
        <p:grpSpPr>
          <a:xfrm>
            <a:off x="821055" y="5905500"/>
            <a:ext cx="10532745" cy="671512"/>
            <a:chOff x="821055" y="5905500"/>
            <a:chExt cx="10532745" cy="671512"/>
          </a:xfrm>
        </p:grpSpPr>
        <p:sp>
          <p:nvSpPr>
            <p:cNvPr id="42" name="Line 42"/>
            <p:cNvSpPr/>
            <p:nvPr/>
          </p:nvSpPr>
          <p:spPr>
            <a:xfrm>
              <a:off x="838200" y="5905500"/>
              <a:ext cx="10515600" cy="9525"/>
            </a:xfrm>
            <a:custGeom>
              <a:avLst/>
              <a:gdLst/>
              <a:ahLst/>
              <a:cxnLst/>
              <a:rect l="l" t="t" r="r" b="b"/>
              <a:pathLst>
                <a:path w="10515600" h="9525">
                  <a:moveTo>
                    <a:pt x="0" y="0"/>
                  </a:moveTo>
                  <a:lnTo>
                    <a:pt x="10515600" y="0"/>
                  </a:lnTo>
                </a:path>
              </a:pathLst>
            </a:custGeom>
            <a:noFill/>
            <a:ln w="9525">
              <a:solidFill>
                <a:srgbClr val="CFD8DC"/>
              </a:solidFill>
            </a:ln>
          </p:spPr>
        </p:sp>
        <p:sp>
          <p:nvSpPr>
            <p:cNvPr id="43" name="TextBox 43"/>
            <p:cNvSpPr txBox="1"/>
            <p:nvPr/>
          </p:nvSpPr>
          <p:spPr>
            <a:xfrm>
              <a:off x="821055" y="6083618"/>
              <a:ext cx="3198828" cy="274320"/>
            </a:xfrm>
            <a:prstGeom prst="rect">
              <a:avLst/>
            </a:prstGeom>
            <a:noFill/>
            <a:ln>
              <a:noFill/>
            </a:ln>
          </p:spPr>
          <p:txBody>
            <a:bodyPr wrap="none" lIns="0" tIns="0" rIns="0" bIns="0" anchor="t" anchorCtr="0">
              <a:spAutoFit/>
            </a:bodyPr>
            <a:lstStyle/>
            <a:p>
              <a:pPr algn="l"/>
              <a:r>
                <a:rPr lang="zh-CN" sz="1350" dirty="0">
                  <a:solidFill>
                    <a:srgbClr val="1A2332"/>
                  </a:solidFill>
                  <a:latin typeface="Arial"/>
                  <a:ea typeface="Microsoft YaHei"/>
                  <a:cs typeface="Arial"/>
                </a:rPr>
                <a:t>Jianye SHI · Wei WEI · 2026-05-04</a:t>
              </a:r>
            </a:p>
          </p:txBody>
        </p:sp>
        <p:sp>
          <p:nvSpPr>
            <p:cNvPr id="44" name="TextBox 44"/>
            <p:cNvSpPr txBox="1"/>
            <p:nvPr/>
          </p:nvSpPr>
          <p:spPr>
            <a:xfrm>
              <a:off x="824865" y="6363652"/>
              <a:ext cx="2902029" cy="213360"/>
            </a:xfrm>
            <a:prstGeom prst="rect">
              <a:avLst/>
            </a:prstGeom>
            <a:noFill/>
            <a:ln>
              <a:noFill/>
            </a:ln>
          </p:spPr>
          <p:txBody>
            <a:bodyPr wrap="none" lIns="0" tIns="0" rIns="0" bIns="0" anchor="t" anchorCtr="0">
              <a:spAutoFit/>
            </a:bodyPr>
            <a:lstStyle/>
            <a:p>
              <a:pPr algn="l"/>
              <a:r>
                <a:rPr lang="zh-CN" sz="1050" dirty="0">
                  <a:solidFill>
                    <a:srgbClr val="90A4AE"/>
                  </a:solidFill>
                  <a:latin typeface="Arial"/>
                  <a:ea typeface="Microsoft YaHei"/>
                  <a:cs typeface="Arial"/>
                </a:rPr>
                <a:t>github.com/hibouwu/d2q9-lbm-karman</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childTnLst>
                          </p:cTn>
                        </p:par>
                        <p:par>
                          <p:cTn id="8" fill="hold">
                            <p:stCondLst>
                              <p:cond delay="900"/>
                            </p:stCondLst>
                            <p:childTnLst>
                              <p:par>
                                <p:cTn id="9" presetID="3" presetClass="entr" presetSubtype="10"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blinds(horizontal)">
                                      <p:cBhvr>
                                        <p:cTn id="11" dur="400"/>
                                        <p:tgtEl>
                                          <p:spTgt spid="26"/>
                                        </p:tgtEl>
                                      </p:cBhvr>
                                    </p:animEffect>
                                  </p:childTnLst>
                                </p:cTn>
                              </p:par>
                            </p:childTnLst>
                          </p:cTn>
                        </p:par>
                        <p:par>
                          <p:cTn id="12" fill="hold">
                            <p:stCondLst>
                              <p:cond delay="1800"/>
                            </p:stCondLst>
                            <p:childTnLst>
                              <p:par>
                                <p:cTn id="13" presetID="5" presetClass="entr" presetSubtype="6" fill="hold" nodeType="after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checkerboard(across)">
                                      <p:cBhvr>
                                        <p:cTn id="15"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6" grpId="0"/>
      <p:bldP spid="4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6200"/>
          </a:xfrm>
          <a:prstGeom prst="rect">
            <a:avLst/>
          </a:prstGeom>
          <a:solidFill>
            <a:srgbClr val="1565C0"/>
          </a:solidFill>
          <a:ln>
            <a:noFill/>
          </a:ln>
        </p:spPr>
      </p:sp>
      <p:sp>
        <p:nvSpPr>
          <p:cNvPr id="4" name="Rectangle 4"/>
          <p:cNvSpPr/>
          <p:nvPr/>
        </p:nvSpPr>
        <p:spPr>
          <a:xfrm>
            <a:off x="0" y="76200"/>
            <a:ext cx="12192000" cy="685800"/>
          </a:xfrm>
          <a:prstGeom prst="rect">
            <a:avLst/>
          </a:prstGeom>
          <a:solidFill>
            <a:srgbClr val="F4F7FA"/>
          </a:solidFill>
          <a:ln>
            <a:noFill/>
          </a:ln>
        </p:spPr>
      </p:sp>
      <p:sp>
        <p:nvSpPr>
          <p:cNvPr id="5" name="Line 5"/>
          <p:cNvSpPr/>
          <p:nvPr/>
        </p:nvSpPr>
        <p:spPr>
          <a:xfrm>
            <a:off x="0" y="762000"/>
            <a:ext cx="12192000" cy="9525"/>
          </a:xfrm>
          <a:custGeom>
            <a:avLst/>
            <a:gdLst/>
            <a:ahLst/>
            <a:cxnLst/>
            <a:rect l="l" t="t" r="r" b="b"/>
            <a:pathLst>
              <a:path w="12192000" h="9525">
                <a:moveTo>
                  <a:pt x="0" y="0"/>
                </a:moveTo>
                <a:lnTo>
                  <a:pt x="12192000" y="0"/>
                </a:lnTo>
              </a:path>
            </a:pathLst>
          </a:custGeom>
          <a:noFill/>
          <a:ln w="9525">
            <a:solidFill>
              <a:srgbClr val="CFD8DC"/>
            </a:solidFill>
          </a:ln>
        </p:spPr>
      </p:sp>
      <p:sp>
        <p:nvSpPr>
          <p:cNvPr id="6" name="Freeform 6"/>
          <p:cNvSpPr/>
          <p:nvPr/>
        </p:nvSpPr>
        <p:spPr>
          <a:xfrm>
            <a:off x="609600" y="228600"/>
            <a:ext cx="47625" cy="304800"/>
          </a:xfrm>
          <a:custGeom>
            <a:avLst/>
            <a:gdLst/>
            <a:ahLst/>
            <a:cxnLst/>
            <a:rect l="l" t="t" r="r" b="b"/>
            <a:pathLst>
              <a:path w="47625" h="304800">
                <a:moveTo>
                  <a:pt x="19050" y="0"/>
                </a:moveTo>
                <a:lnTo>
                  <a:pt x="28575" y="0"/>
                </a:lnTo>
                <a:cubicBezTo>
                  <a:pt x="39096" y="0"/>
                  <a:pt x="47625" y="8529"/>
                  <a:pt x="47625" y="19050"/>
                </a:cubicBezTo>
                <a:lnTo>
                  <a:pt x="47625" y="285750"/>
                </a:lnTo>
                <a:cubicBezTo>
                  <a:pt x="47625" y="296271"/>
                  <a:pt x="39096" y="304800"/>
                  <a:pt x="28575" y="304800"/>
                </a:cubicBezTo>
                <a:lnTo>
                  <a:pt x="19050" y="304800"/>
                </a:lnTo>
                <a:cubicBezTo>
                  <a:pt x="8529" y="304800"/>
                  <a:pt x="0" y="296271"/>
                  <a:pt x="0" y="285750"/>
                </a:cubicBezTo>
                <a:lnTo>
                  <a:pt x="0" y="19050"/>
                </a:lnTo>
                <a:cubicBezTo>
                  <a:pt x="0" y="8529"/>
                  <a:pt x="8529" y="0"/>
                  <a:pt x="19050" y="0"/>
                </a:cubicBezTo>
                <a:close/>
              </a:path>
            </a:pathLst>
          </a:custGeom>
          <a:solidFill>
            <a:srgbClr val="1565C0"/>
          </a:solidFill>
          <a:ln>
            <a:noFill/>
          </a:ln>
        </p:spPr>
      </p:sp>
      <p:sp>
        <p:nvSpPr>
          <p:cNvPr id="7" name="TextBox 7"/>
          <p:cNvSpPr txBox="1"/>
          <p:nvPr/>
        </p:nvSpPr>
        <p:spPr>
          <a:xfrm>
            <a:off x="737235" y="284798"/>
            <a:ext cx="4265957" cy="396240"/>
          </a:xfrm>
          <a:prstGeom prst="rect">
            <a:avLst/>
          </a:prstGeom>
          <a:noFill/>
          <a:ln>
            <a:noFill/>
          </a:ln>
        </p:spPr>
        <p:txBody>
          <a:bodyPr wrap="none" lIns="0" tIns="0" rIns="0" bIns="0" anchor="t" anchorCtr="0">
            <a:spAutoFit/>
          </a:bodyPr>
          <a:lstStyle/>
          <a:p>
            <a:pPr algn="l"/>
            <a:r>
              <a:rPr lang="zh-CN" sz="1950" b="1" dirty="0">
                <a:solidFill>
                  <a:srgbClr val="1A2332"/>
                </a:solidFill>
                <a:latin typeface="Arial"/>
                <a:ea typeface="Microsoft YaHei"/>
                <a:cs typeface="Arial"/>
              </a:rPr>
              <a:t>Contexte et figure de mérite</a:t>
            </a:r>
          </a:p>
        </p:txBody>
      </p:sp>
      <p:sp>
        <p:nvSpPr>
          <p:cNvPr id="8" name="Freeform 8"/>
          <p:cNvSpPr/>
          <p:nvPr/>
        </p:nvSpPr>
        <p:spPr>
          <a:xfrm>
            <a:off x="11144250" y="228600"/>
            <a:ext cx="438150" cy="171450"/>
          </a:xfrm>
          <a:custGeom>
            <a:avLst/>
            <a:gdLst/>
            <a:ahLst/>
            <a:cxnLst/>
            <a:rect l="l" t="t" r="r" b="b"/>
            <a:pathLst>
              <a:path w="438150" h="171450">
                <a:moveTo>
                  <a:pt x="38100" y="0"/>
                </a:moveTo>
                <a:lnTo>
                  <a:pt x="400050" y="0"/>
                </a:lnTo>
                <a:cubicBezTo>
                  <a:pt x="421092" y="0"/>
                  <a:pt x="438150" y="17058"/>
                  <a:pt x="438150" y="38100"/>
                </a:cubicBezTo>
                <a:lnTo>
                  <a:pt x="438150" y="133350"/>
                </a:lnTo>
                <a:cubicBezTo>
                  <a:pt x="438150" y="154392"/>
                  <a:pt x="421092" y="171450"/>
                  <a:pt x="400050" y="171450"/>
                </a:cubicBezTo>
                <a:lnTo>
                  <a:pt x="38100" y="171450"/>
                </a:lnTo>
                <a:cubicBezTo>
                  <a:pt x="17058" y="171450"/>
                  <a:pt x="0" y="154392"/>
                  <a:pt x="0" y="133350"/>
                </a:cubicBezTo>
                <a:lnTo>
                  <a:pt x="0" y="38100"/>
                </a:lnTo>
                <a:cubicBezTo>
                  <a:pt x="0" y="17058"/>
                  <a:pt x="17058" y="0"/>
                  <a:pt x="38100" y="0"/>
                </a:cubicBezTo>
                <a:close/>
              </a:path>
            </a:pathLst>
          </a:custGeom>
          <a:solidFill>
            <a:srgbClr val="1565C0"/>
          </a:solidFill>
          <a:ln>
            <a:noFill/>
          </a:ln>
        </p:spPr>
      </p:sp>
      <p:sp>
        <p:nvSpPr>
          <p:cNvPr id="9" name="TextBox 9"/>
          <p:cNvSpPr txBox="1"/>
          <p:nvPr/>
        </p:nvSpPr>
        <p:spPr>
          <a:xfrm>
            <a:off x="11299078" y="263366"/>
            <a:ext cx="128493"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P1</a:t>
            </a:r>
          </a:p>
        </p:txBody>
      </p:sp>
      <p:sp>
        <p:nvSpPr>
          <p:cNvPr id="10" name="TextBox 10"/>
          <p:cNvSpPr txBox="1"/>
          <p:nvPr/>
        </p:nvSpPr>
        <p:spPr>
          <a:xfrm>
            <a:off x="11206901" y="390049"/>
            <a:ext cx="387882" cy="198120"/>
          </a:xfrm>
          <a:prstGeom prst="rect">
            <a:avLst/>
          </a:prstGeom>
          <a:noFill/>
          <a:ln>
            <a:noFill/>
          </a:ln>
        </p:spPr>
        <p:txBody>
          <a:bodyPr wrap="none" lIns="0" tIns="0" rIns="0" bIns="0" anchor="t" anchorCtr="0">
            <a:spAutoFit/>
          </a:bodyPr>
          <a:lstStyle/>
          <a:p>
            <a:pPr algn="r"/>
            <a:r>
              <a:rPr lang="zh-CN" sz="975" dirty="0">
                <a:solidFill>
                  <a:srgbClr val="90A4AE"/>
                </a:solidFill>
                <a:latin typeface="Arial"/>
                <a:ea typeface="Microsoft YaHei"/>
                <a:cs typeface="Arial"/>
              </a:rPr>
              <a:t>2 / 13</a:t>
            </a:r>
          </a:p>
        </p:txBody>
      </p:sp>
      <p:sp>
        <p:nvSpPr>
          <p:cNvPr id="11" name="Freeform 11"/>
          <p:cNvSpPr/>
          <p:nvPr/>
        </p:nvSpPr>
        <p:spPr>
          <a:xfrm>
            <a:off x="800100" y="1123950"/>
            <a:ext cx="5010150" cy="4095750"/>
          </a:xfrm>
          <a:custGeom>
            <a:avLst/>
            <a:gdLst/>
            <a:ahLst/>
            <a:cxnLst/>
            <a:rect l="l" t="t" r="r" b="b"/>
            <a:pathLst>
              <a:path w="5010150" h="4095750">
                <a:moveTo>
                  <a:pt x="76200" y="0"/>
                </a:moveTo>
                <a:lnTo>
                  <a:pt x="4933950" y="0"/>
                </a:lnTo>
                <a:cubicBezTo>
                  <a:pt x="4976034" y="0"/>
                  <a:pt x="5010150" y="34116"/>
                  <a:pt x="5010150" y="76200"/>
                </a:cubicBezTo>
                <a:lnTo>
                  <a:pt x="5010150" y="4019550"/>
                </a:lnTo>
                <a:cubicBezTo>
                  <a:pt x="5010150" y="4061634"/>
                  <a:pt x="4976034" y="4095750"/>
                  <a:pt x="4933950" y="4095750"/>
                </a:cubicBezTo>
                <a:lnTo>
                  <a:pt x="76200" y="4095750"/>
                </a:lnTo>
                <a:cubicBezTo>
                  <a:pt x="34116" y="4095750"/>
                  <a:pt x="0" y="4061634"/>
                  <a:pt x="0" y="4019550"/>
                </a:cubicBezTo>
                <a:lnTo>
                  <a:pt x="0" y="76200"/>
                </a:lnTo>
                <a:cubicBezTo>
                  <a:pt x="0" y="34116"/>
                  <a:pt x="34116" y="0"/>
                  <a:pt x="76200" y="0"/>
                </a:cubicBezTo>
                <a:close/>
              </a:path>
            </a:pathLst>
          </a:custGeom>
          <a:solidFill>
            <a:srgbClr val="FFFFFF"/>
          </a:solidFill>
          <a:ln w="14288">
            <a:solidFill>
              <a:srgbClr val="1565C0"/>
            </a:solidFill>
          </a:ln>
        </p:spPr>
      </p:sp>
      <p:sp>
        <p:nvSpPr>
          <p:cNvPr id="12" name="TextBox 12"/>
          <p:cNvSpPr txBox="1"/>
          <p:nvPr/>
        </p:nvSpPr>
        <p:spPr>
          <a:xfrm>
            <a:off x="2365974" y="1277302"/>
            <a:ext cx="1878401" cy="213360"/>
          </a:xfrm>
          <a:prstGeom prst="rect">
            <a:avLst/>
          </a:prstGeom>
          <a:noFill/>
          <a:ln>
            <a:noFill/>
          </a:ln>
        </p:spPr>
        <p:txBody>
          <a:bodyPr wrap="none" lIns="0" tIns="0" rIns="0" bIns="0" anchor="t" anchorCtr="0">
            <a:spAutoFit/>
          </a:bodyPr>
          <a:lstStyle/>
          <a:p>
            <a:pPr algn="ctr"/>
            <a:r>
              <a:rPr lang="zh-CN" sz="1050" b="1" dirty="0">
                <a:solidFill>
                  <a:srgbClr val="1565C0"/>
                </a:solidFill>
                <a:latin typeface="Arial"/>
                <a:ea typeface="Microsoft YaHei"/>
                <a:cs typeface="Arial"/>
              </a:rPr>
              <a:t>D2Q9 Lattice Boltzmann</a:t>
            </a:r>
          </a:p>
        </p:txBody>
      </p:sp>
      <p:sp>
        <p:nvSpPr>
          <p:cNvPr id="13" name="TextBox 13"/>
          <p:cNvSpPr txBox="1"/>
          <p:nvPr/>
        </p:nvSpPr>
        <p:spPr>
          <a:xfrm>
            <a:off x="2367201" y="1647349"/>
            <a:ext cx="1875949"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Vortex de Kármán · Re = 96</a:t>
            </a:r>
          </a:p>
        </p:txBody>
      </p:sp>
      <p:sp>
        <p:nvSpPr>
          <p:cNvPr id="14" name="TextBox 14"/>
          <p:cNvSpPr txBox="1"/>
          <p:nvPr/>
        </p:nvSpPr>
        <p:spPr>
          <a:xfrm>
            <a:off x="2360081" y="1856899"/>
            <a:ext cx="1890189"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Domaine : 800 × 160 cellules</a:t>
            </a:r>
          </a:p>
        </p:txBody>
      </p:sp>
      <p:sp>
        <p:nvSpPr>
          <p:cNvPr id="15" name="TextBox 15"/>
          <p:cNvSpPr txBox="1"/>
          <p:nvPr/>
        </p:nvSpPr>
        <p:spPr>
          <a:xfrm>
            <a:off x="2605719" y="2066449"/>
            <a:ext cx="1398913"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20 000 pas de temps</a:t>
            </a:r>
          </a:p>
        </p:txBody>
      </p:sp>
      <p:sp>
        <p:nvSpPr>
          <p:cNvPr id="16" name="Freeform 16"/>
          <p:cNvSpPr/>
          <p:nvPr/>
        </p:nvSpPr>
        <p:spPr>
          <a:xfrm>
            <a:off x="1733550" y="2647950"/>
            <a:ext cx="3143250" cy="1695450"/>
          </a:xfrm>
          <a:custGeom>
            <a:avLst/>
            <a:gdLst/>
            <a:ahLst/>
            <a:cxnLst/>
            <a:rect l="l" t="t" r="r" b="b"/>
            <a:pathLst>
              <a:path w="3143250" h="1695450">
                <a:moveTo>
                  <a:pt x="57150" y="0"/>
                </a:moveTo>
                <a:lnTo>
                  <a:pt x="3086100" y="0"/>
                </a:lnTo>
                <a:cubicBezTo>
                  <a:pt x="3117663" y="0"/>
                  <a:pt x="3143250" y="25587"/>
                  <a:pt x="3143250" y="57150"/>
                </a:cubicBezTo>
                <a:lnTo>
                  <a:pt x="3143250" y="1638300"/>
                </a:lnTo>
                <a:cubicBezTo>
                  <a:pt x="3143250" y="1669863"/>
                  <a:pt x="3117663" y="1695450"/>
                  <a:pt x="3086100" y="1695450"/>
                </a:cubicBezTo>
                <a:lnTo>
                  <a:pt x="57150" y="1695450"/>
                </a:lnTo>
                <a:cubicBezTo>
                  <a:pt x="25587" y="1695450"/>
                  <a:pt x="0" y="1669863"/>
                  <a:pt x="0" y="1638300"/>
                </a:cubicBezTo>
                <a:lnTo>
                  <a:pt x="0" y="57150"/>
                </a:lnTo>
                <a:cubicBezTo>
                  <a:pt x="0" y="25587"/>
                  <a:pt x="25587" y="0"/>
                  <a:pt x="57150" y="0"/>
                </a:cubicBezTo>
                <a:close/>
              </a:path>
            </a:pathLst>
          </a:custGeom>
          <a:solidFill>
            <a:srgbClr val="EEF3F8"/>
          </a:solidFill>
          <a:ln>
            <a:noFill/>
          </a:ln>
        </p:spPr>
      </p:sp>
      <p:sp>
        <p:nvSpPr>
          <p:cNvPr id="17" name="Line 17"/>
          <p:cNvSpPr/>
          <p:nvPr/>
        </p:nvSpPr>
        <p:spPr>
          <a:xfrm>
            <a:off x="3305175" y="2800350"/>
            <a:ext cx="9525" cy="304800"/>
          </a:xfrm>
          <a:custGeom>
            <a:avLst/>
            <a:gdLst/>
            <a:ahLst/>
            <a:cxnLst/>
            <a:rect l="l" t="t" r="r" b="b"/>
            <a:pathLst>
              <a:path w="9525" h="304800">
                <a:moveTo>
                  <a:pt x="0" y="304800"/>
                </a:moveTo>
                <a:lnTo>
                  <a:pt x="0" y="0"/>
                </a:lnTo>
              </a:path>
            </a:pathLst>
          </a:custGeom>
          <a:noFill/>
          <a:ln w="14288">
            <a:solidFill>
              <a:srgbClr val="1565C0"/>
            </a:solidFill>
          </a:ln>
        </p:spPr>
      </p:sp>
      <p:sp>
        <p:nvSpPr>
          <p:cNvPr id="18" name="Line 18"/>
          <p:cNvSpPr/>
          <p:nvPr/>
        </p:nvSpPr>
        <p:spPr>
          <a:xfrm>
            <a:off x="3305175" y="2886075"/>
            <a:ext cx="219075" cy="219075"/>
          </a:xfrm>
          <a:custGeom>
            <a:avLst/>
            <a:gdLst/>
            <a:ahLst/>
            <a:cxnLst/>
            <a:rect l="l" t="t" r="r" b="b"/>
            <a:pathLst>
              <a:path w="219075" h="219075">
                <a:moveTo>
                  <a:pt x="0" y="219075"/>
                </a:moveTo>
                <a:lnTo>
                  <a:pt x="219075" y="0"/>
                </a:lnTo>
              </a:path>
            </a:pathLst>
          </a:custGeom>
          <a:noFill/>
          <a:ln w="14288">
            <a:solidFill>
              <a:srgbClr val="1565C0"/>
            </a:solidFill>
          </a:ln>
        </p:spPr>
      </p:sp>
      <p:sp>
        <p:nvSpPr>
          <p:cNvPr id="19" name="Line 19"/>
          <p:cNvSpPr/>
          <p:nvPr/>
        </p:nvSpPr>
        <p:spPr>
          <a:xfrm>
            <a:off x="3305175" y="3105150"/>
            <a:ext cx="304800" cy="9525"/>
          </a:xfrm>
          <a:custGeom>
            <a:avLst/>
            <a:gdLst/>
            <a:ahLst/>
            <a:cxnLst/>
            <a:rect l="l" t="t" r="r" b="b"/>
            <a:pathLst>
              <a:path w="304800" h="9525">
                <a:moveTo>
                  <a:pt x="0" y="0"/>
                </a:moveTo>
                <a:lnTo>
                  <a:pt x="304800" y="0"/>
                </a:lnTo>
              </a:path>
            </a:pathLst>
          </a:custGeom>
          <a:noFill/>
          <a:ln w="14288">
            <a:solidFill>
              <a:srgbClr val="1565C0"/>
            </a:solidFill>
          </a:ln>
        </p:spPr>
      </p:sp>
      <p:sp>
        <p:nvSpPr>
          <p:cNvPr id="20" name="Line 20"/>
          <p:cNvSpPr/>
          <p:nvPr/>
        </p:nvSpPr>
        <p:spPr>
          <a:xfrm>
            <a:off x="3305175" y="3105150"/>
            <a:ext cx="219075" cy="219075"/>
          </a:xfrm>
          <a:custGeom>
            <a:avLst/>
            <a:gdLst/>
            <a:ahLst/>
            <a:cxnLst/>
            <a:rect l="l" t="t" r="r" b="b"/>
            <a:pathLst>
              <a:path w="219075" h="219075">
                <a:moveTo>
                  <a:pt x="0" y="0"/>
                </a:moveTo>
                <a:lnTo>
                  <a:pt x="219075" y="219075"/>
                </a:lnTo>
              </a:path>
            </a:pathLst>
          </a:custGeom>
          <a:noFill/>
          <a:ln w="14288">
            <a:solidFill>
              <a:srgbClr val="1565C0"/>
            </a:solidFill>
          </a:ln>
        </p:spPr>
      </p:sp>
      <p:sp>
        <p:nvSpPr>
          <p:cNvPr id="21" name="Line 21"/>
          <p:cNvSpPr/>
          <p:nvPr/>
        </p:nvSpPr>
        <p:spPr>
          <a:xfrm>
            <a:off x="3305175" y="3105150"/>
            <a:ext cx="9525" cy="304800"/>
          </a:xfrm>
          <a:custGeom>
            <a:avLst/>
            <a:gdLst/>
            <a:ahLst/>
            <a:cxnLst/>
            <a:rect l="l" t="t" r="r" b="b"/>
            <a:pathLst>
              <a:path w="9525" h="304800">
                <a:moveTo>
                  <a:pt x="0" y="0"/>
                </a:moveTo>
                <a:lnTo>
                  <a:pt x="0" y="304800"/>
                </a:lnTo>
              </a:path>
            </a:pathLst>
          </a:custGeom>
          <a:noFill/>
          <a:ln w="14288">
            <a:solidFill>
              <a:srgbClr val="1565C0"/>
            </a:solidFill>
          </a:ln>
        </p:spPr>
      </p:sp>
      <p:sp>
        <p:nvSpPr>
          <p:cNvPr id="22" name="Line 22"/>
          <p:cNvSpPr/>
          <p:nvPr/>
        </p:nvSpPr>
        <p:spPr>
          <a:xfrm>
            <a:off x="3086100" y="3105150"/>
            <a:ext cx="219075" cy="219075"/>
          </a:xfrm>
          <a:custGeom>
            <a:avLst/>
            <a:gdLst/>
            <a:ahLst/>
            <a:cxnLst/>
            <a:rect l="l" t="t" r="r" b="b"/>
            <a:pathLst>
              <a:path w="219075" h="219075">
                <a:moveTo>
                  <a:pt x="219075" y="0"/>
                </a:moveTo>
                <a:lnTo>
                  <a:pt x="0" y="219075"/>
                </a:lnTo>
              </a:path>
            </a:pathLst>
          </a:custGeom>
          <a:noFill/>
          <a:ln w="14288">
            <a:solidFill>
              <a:srgbClr val="1565C0"/>
            </a:solidFill>
          </a:ln>
        </p:spPr>
      </p:sp>
      <p:sp>
        <p:nvSpPr>
          <p:cNvPr id="23" name="Line 23"/>
          <p:cNvSpPr/>
          <p:nvPr/>
        </p:nvSpPr>
        <p:spPr>
          <a:xfrm>
            <a:off x="3000375" y="3105150"/>
            <a:ext cx="304800" cy="9525"/>
          </a:xfrm>
          <a:custGeom>
            <a:avLst/>
            <a:gdLst/>
            <a:ahLst/>
            <a:cxnLst/>
            <a:rect l="l" t="t" r="r" b="b"/>
            <a:pathLst>
              <a:path w="304800" h="9525">
                <a:moveTo>
                  <a:pt x="304800" y="0"/>
                </a:moveTo>
                <a:lnTo>
                  <a:pt x="0" y="0"/>
                </a:lnTo>
              </a:path>
            </a:pathLst>
          </a:custGeom>
          <a:noFill/>
          <a:ln w="14288">
            <a:solidFill>
              <a:srgbClr val="1565C0"/>
            </a:solidFill>
          </a:ln>
        </p:spPr>
      </p:sp>
      <p:sp>
        <p:nvSpPr>
          <p:cNvPr id="24" name="Line 24"/>
          <p:cNvSpPr/>
          <p:nvPr/>
        </p:nvSpPr>
        <p:spPr>
          <a:xfrm>
            <a:off x="3086100" y="2886075"/>
            <a:ext cx="219075" cy="219075"/>
          </a:xfrm>
          <a:custGeom>
            <a:avLst/>
            <a:gdLst/>
            <a:ahLst/>
            <a:cxnLst/>
            <a:rect l="l" t="t" r="r" b="b"/>
            <a:pathLst>
              <a:path w="219075" h="219075">
                <a:moveTo>
                  <a:pt x="219075" y="219075"/>
                </a:moveTo>
                <a:lnTo>
                  <a:pt x="0" y="0"/>
                </a:lnTo>
              </a:path>
            </a:pathLst>
          </a:custGeom>
          <a:noFill/>
          <a:ln w="14288">
            <a:solidFill>
              <a:srgbClr val="1565C0"/>
            </a:solidFill>
          </a:ln>
        </p:spPr>
      </p:sp>
      <p:sp>
        <p:nvSpPr>
          <p:cNvPr id="25" name="Ellipse 25"/>
          <p:cNvSpPr/>
          <p:nvPr/>
        </p:nvSpPr>
        <p:spPr>
          <a:xfrm>
            <a:off x="3257550" y="2752725"/>
            <a:ext cx="95250" cy="95250"/>
          </a:xfrm>
          <a:prstGeom prst="ellipse">
            <a:avLst/>
          </a:prstGeom>
          <a:solidFill>
            <a:srgbClr val="1565C0"/>
          </a:solidFill>
          <a:ln>
            <a:noFill/>
          </a:ln>
        </p:spPr>
      </p:sp>
      <p:sp>
        <p:nvSpPr>
          <p:cNvPr id="26" name="Ellipse 26"/>
          <p:cNvSpPr/>
          <p:nvPr/>
        </p:nvSpPr>
        <p:spPr>
          <a:xfrm>
            <a:off x="3476625" y="2838450"/>
            <a:ext cx="95250" cy="95250"/>
          </a:xfrm>
          <a:prstGeom prst="ellipse">
            <a:avLst/>
          </a:prstGeom>
          <a:solidFill>
            <a:srgbClr val="1565C0"/>
          </a:solidFill>
          <a:ln>
            <a:noFill/>
          </a:ln>
        </p:spPr>
      </p:sp>
      <p:sp>
        <p:nvSpPr>
          <p:cNvPr id="27" name="Ellipse 27"/>
          <p:cNvSpPr/>
          <p:nvPr/>
        </p:nvSpPr>
        <p:spPr>
          <a:xfrm>
            <a:off x="3562350" y="3057525"/>
            <a:ext cx="95250" cy="95250"/>
          </a:xfrm>
          <a:prstGeom prst="ellipse">
            <a:avLst/>
          </a:prstGeom>
          <a:solidFill>
            <a:srgbClr val="1565C0"/>
          </a:solidFill>
          <a:ln>
            <a:noFill/>
          </a:ln>
        </p:spPr>
      </p:sp>
      <p:sp>
        <p:nvSpPr>
          <p:cNvPr id="28" name="Ellipse 28"/>
          <p:cNvSpPr/>
          <p:nvPr/>
        </p:nvSpPr>
        <p:spPr>
          <a:xfrm>
            <a:off x="3476625" y="3276600"/>
            <a:ext cx="95250" cy="95250"/>
          </a:xfrm>
          <a:prstGeom prst="ellipse">
            <a:avLst/>
          </a:prstGeom>
          <a:solidFill>
            <a:srgbClr val="1565C0"/>
          </a:solidFill>
          <a:ln>
            <a:noFill/>
          </a:ln>
        </p:spPr>
      </p:sp>
      <p:sp>
        <p:nvSpPr>
          <p:cNvPr id="29" name="Ellipse 29"/>
          <p:cNvSpPr/>
          <p:nvPr/>
        </p:nvSpPr>
        <p:spPr>
          <a:xfrm>
            <a:off x="3257550" y="3362325"/>
            <a:ext cx="95250" cy="95250"/>
          </a:xfrm>
          <a:prstGeom prst="ellipse">
            <a:avLst/>
          </a:prstGeom>
          <a:solidFill>
            <a:srgbClr val="1565C0"/>
          </a:solidFill>
          <a:ln>
            <a:noFill/>
          </a:ln>
        </p:spPr>
      </p:sp>
      <p:sp>
        <p:nvSpPr>
          <p:cNvPr id="30" name="Ellipse 30"/>
          <p:cNvSpPr/>
          <p:nvPr/>
        </p:nvSpPr>
        <p:spPr>
          <a:xfrm>
            <a:off x="3038475" y="3276600"/>
            <a:ext cx="95250" cy="95250"/>
          </a:xfrm>
          <a:prstGeom prst="ellipse">
            <a:avLst/>
          </a:prstGeom>
          <a:solidFill>
            <a:srgbClr val="1565C0"/>
          </a:solidFill>
          <a:ln>
            <a:noFill/>
          </a:ln>
        </p:spPr>
      </p:sp>
      <p:sp>
        <p:nvSpPr>
          <p:cNvPr id="31" name="Ellipse 31"/>
          <p:cNvSpPr/>
          <p:nvPr/>
        </p:nvSpPr>
        <p:spPr>
          <a:xfrm>
            <a:off x="2952750" y="3057525"/>
            <a:ext cx="95250" cy="95250"/>
          </a:xfrm>
          <a:prstGeom prst="ellipse">
            <a:avLst/>
          </a:prstGeom>
          <a:solidFill>
            <a:srgbClr val="1565C0"/>
          </a:solidFill>
          <a:ln>
            <a:noFill/>
          </a:ln>
        </p:spPr>
      </p:sp>
      <p:sp>
        <p:nvSpPr>
          <p:cNvPr id="32" name="Ellipse 32"/>
          <p:cNvSpPr/>
          <p:nvPr/>
        </p:nvSpPr>
        <p:spPr>
          <a:xfrm>
            <a:off x="3038475" y="2838450"/>
            <a:ext cx="95250" cy="95250"/>
          </a:xfrm>
          <a:prstGeom prst="ellipse">
            <a:avLst/>
          </a:prstGeom>
          <a:solidFill>
            <a:srgbClr val="1565C0"/>
          </a:solidFill>
          <a:ln>
            <a:noFill/>
          </a:ln>
        </p:spPr>
      </p:sp>
      <p:sp>
        <p:nvSpPr>
          <p:cNvPr id="33" name="Ellipse 33"/>
          <p:cNvSpPr/>
          <p:nvPr/>
        </p:nvSpPr>
        <p:spPr>
          <a:xfrm>
            <a:off x="3171825" y="2971800"/>
            <a:ext cx="266700" cy="266700"/>
          </a:xfrm>
          <a:prstGeom prst="ellipse">
            <a:avLst/>
          </a:prstGeom>
          <a:solidFill>
            <a:srgbClr val="1565C0"/>
          </a:solidFill>
          <a:ln>
            <a:noFill/>
          </a:ln>
        </p:spPr>
      </p:sp>
      <p:sp>
        <p:nvSpPr>
          <p:cNvPr id="34" name="Ellipse 34"/>
          <p:cNvSpPr/>
          <p:nvPr/>
        </p:nvSpPr>
        <p:spPr>
          <a:xfrm>
            <a:off x="3257550" y="3057525"/>
            <a:ext cx="95250" cy="95250"/>
          </a:xfrm>
          <a:prstGeom prst="ellipse">
            <a:avLst/>
          </a:prstGeom>
          <a:solidFill>
            <a:srgbClr val="FFFFFF"/>
          </a:solidFill>
          <a:ln>
            <a:noFill/>
          </a:ln>
        </p:spPr>
      </p:sp>
      <p:sp>
        <p:nvSpPr>
          <p:cNvPr id="35" name="TextBox 35"/>
          <p:cNvSpPr txBox="1"/>
          <p:nvPr/>
        </p:nvSpPr>
        <p:spPr>
          <a:xfrm>
            <a:off x="2053923" y="3571399"/>
            <a:ext cx="2502503"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Modèle D2Q9 : centre + 8 directions</a:t>
            </a:r>
          </a:p>
        </p:txBody>
      </p:sp>
      <p:sp>
        <p:nvSpPr>
          <p:cNvPr id="36" name="TextBox 36"/>
          <p:cNvSpPr txBox="1"/>
          <p:nvPr/>
        </p:nvSpPr>
        <p:spPr>
          <a:xfrm>
            <a:off x="2199882" y="3799999"/>
            <a:ext cx="2210586" cy="198120"/>
          </a:xfrm>
          <a:prstGeom prst="rect">
            <a:avLst/>
          </a:prstGeom>
          <a:noFill/>
          <a:ln>
            <a:noFill/>
          </a:ln>
        </p:spPr>
        <p:txBody>
          <a:bodyPr wrap="none" lIns="0" tIns="0" rIns="0" bIns="0" anchor="t" anchorCtr="0">
            <a:spAutoFit/>
          </a:bodyPr>
          <a:lstStyle/>
          <a:p>
            <a:pPr algn="ctr"/>
            <a:r>
              <a:rPr lang="zh-CN" sz="975" dirty="0">
                <a:solidFill>
                  <a:srgbClr val="90A4AE"/>
                </a:solidFill>
                <a:latin typeface="Consolas"/>
                <a:ea typeface="Microsoft YaHei"/>
                <a:cs typeface="Consolas"/>
              </a:rPr>
              <a:t>9 vitesses discrètes par cellule</a:t>
            </a:r>
          </a:p>
        </p:txBody>
      </p:sp>
      <p:sp>
        <p:nvSpPr>
          <p:cNvPr id="37" name="Freeform 37"/>
          <p:cNvSpPr/>
          <p:nvPr/>
        </p:nvSpPr>
        <p:spPr>
          <a:xfrm>
            <a:off x="6381750" y="1123950"/>
            <a:ext cx="5010150" cy="4095750"/>
          </a:xfrm>
          <a:custGeom>
            <a:avLst/>
            <a:gdLst/>
            <a:ahLst/>
            <a:cxnLst/>
            <a:rect l="l" t="t" r="r" b="b"/>
            <a:pathLst>
              <a:path w="5010150" h="4095750">
                <a:moveTo>
                  <a:pt x="76200" y="0"/>
                </a:moveTo>
                <a:lnTo>
                  <a:pt x="4933950" y="0"/>
                </a:lnTo>
                <a:cubicBezTo>
                  <a:pt x="4976034" y="0"/>
                  <a:pt x="5010150" y="34116"/>
                  <a:pt x="5010150" y="76200"/>
                </a:cubicBezTo>
                <a:lnTo>
                  <a:pt x="5010150" y="4019550"/>
                </a:lnTo>
                <a:cubicBezTo>
                  <a:pt x="5010150" y="4061634"/>
                  <a:pt x="4976034" y="4095750"/>
                  <a:pt x="4933950" y="4095750"/>
                </a:cubicBezTo>
                <a:lnTo>
                  <a:pt x="76200" y="4095750"/>
                </a:lnTo>
                <a:cubicBezTo>
                  <a:pt x="34116" y="4095750"/>
                  <a:pt x="0" y="4061634"/>
                  <a:pt x="0" y="4019550"/>
                </a:cubicBezTo>
                <a:lnTo>
                  <a:pt x="0" y="76200"/>
                </a:lnTo>
                <a:cubicBezTo>
                  <a:pt x="0" y="34116"/>
                  <a:pt x="34116" y="0"/>
                  <a:pt x="76200" y="0"/>
                </a:cubicBezTo>
                <a:close/>
              </a:path>
            </a:pathLst>
          </a:custGeom>
          <a:solidFill>
            <a:srgbClr val="FFFFFF"/>
          </a:solidFill>
          <a:ln w="14288">
            <a:solidFill>
              <a:srgbClr val="E65100"/>
            </a:solidFill>
          </a:ln>
        </p:spPr>
      </p:sp>
      <p:sp>
        <p:nvSpPr>
          <p:cNvPr id="38" name="TextBox 38"/>
          <p:cNvSpPr txBox="1"/>
          <p:nvPr/>
        </p:nvSpPr>
        <p:spPr>
          <a:xfrm>
            <a:off x="7899318" y="1277302"/>
            <a:ext cx="1975014" cy="213360"/>
          </a:xfrm>
          <a:prstGeom prst="rect">
            <a:avLst/>
          </a:prstGeom>
          <a:noFill/>
          <a:ln>
            <a:noFill/>
          </a:ln>
        </p:spPr>
        <p:txBody>
          <a:bodyPr wrap="none" lIns="0" tIns="0" rIns="0" bIns="0" anchor="t" anchorCtr="0">
            <a:spAutoFit/>
          </a:bodyPr>
          <a:lstStyle/>
          <a:p>
            <a:pPr algn="ctr"/>
            <a:r>
              <a:rPr lang="zh-CN" sz="1050" b="1" dirty="0">
                <a:solidFill>
                  <a:srgbClr val="E65100"/>
                </a:solidFill>
                <a:latin typeface="Arial"/>
                <a:ea typeface="Microsoft YaHei"/>
                <a:cs typeface="Arial"/>
              </a:rPr>
              <a:t>Figure de mérite : MLUPS</a:t>
            </a:r>
          </a:p>
        </p:txBody>
      </p:sp>
      <p:sp>
        <p:nvSpPr>
          <p:cNvPr id="39" name="Freeform 39"/>
          <p:cNvSpPr/>
          <p:nvPr/>
        </p:nvSpPr>
        <p:spPr>
          <a:xfrm>
            <a:off x="6953250" y="1619250"/>
            <a:ext cx="3867150" cy="704850"/>
          </a:xfrm>
          <a:custGeom>
            <a:avLst/>
            <a:gdLst/>
            <a:ahLst/>
            <a:cxnLst/>
            <a:rect l="l" t="t" r="r" b="b"/>
            <a:pathLst>
              <a:path w="3867150" h="704850">
                <a:moveTo>
                  <a:pt x="57150" y="0"/>
                </a:moveTo>
                <a:lnTo>
                  <a:pt x="3810000" y="0"/>
                </a:lnTo>
                <a:cubicBezTo>
                  <a:pt x="3841563" y="0"/>
                  <a:pt x="3867150" y="25587"/>
                  <a:pt x="3867150" y="57150"/>
                </a:cubicBezTo>
                <a:lnTo>
                  <a:pt x="3867150" y="647700"/>
                </a:lnTo>
                <a:cubicBezTo>
                  <a:pt x="3867150" y="679263"/>
                  <a:pt x="3841563" y="704850"/>
                  <a:pt x="3810000" y="704850"/>
                </a:cubicBezTo>
                <a:lnTo>
                  <a:pt x="57150" y="704850"/>
                </a:lnTo>
                <a:cubicBezTo>
                  <a:pt x="25587" y="704850"/>
                  <a:pt x="0" y="679263"/>
                  <a:pt x="0" y="647700"/>
                </a:cubicBezTo>
                <a:lnTo>
                  <a:pt x="0" y="57150"/>
                </a:lnTo>
                <a:cubicBezTo>
                  <a:pt x="0" y="25587"/>
                  <a:pt x="25587" y="0"/>
                  <a:pt x="57150" y="0"/>
                </a:cubicBezTo>
                <a:close/>
              </a:path>
            </a:pathLst>
          </a:custGeom>
          <a:solidFill>
            <a:srgbClr val="FFF7EF"/>
          </a:solidFill>
          <a:ln>
            <a:noFill/>
          </a:ln>
        </p:spPr>
      </p:sp>
      <p:sp>
        <p:nvSpPr>
          <p:cNvPr id="40" name="TextBox 40"/>
          <p:cNvSpPr txBox="1"/>
          <p:nvPr/>
        </p:nvSpPr>
        <p:spPr>
          <a:xfrm>
            <a:off x="7631620" y="1756410"/>
            <a:ext cx="2510409" cy="243840"/>
          </a:xfrm>
          <a:prstGeom prst="rect">
            <a:avLst/>
          </a:prstGeom>
          <a:noFill/>
          <a:ln>
            <a:noFill/>
          </a:ln>
        </p:spPr>
        <p:txBody>
          <a:bodyPr wrap="none" lIns="0" tIns="0" rIns="0" bIns="0" anchor="t" anchorCtr="0">
            <a:spAutoFit/>
          </a:bodyPr>
          <a:lstStyle/>
          <a:p>
            <a:pPr algn="ctr"/>
            <a:r>
              <a:rPr lang="zh-CN" sz="1200" dirty="0">
                <a:solidFill>
                  <a:srgbClr val="E65100"/>
                </a:solidFill>
                <a:latin typeface="Consolas"/>
                <a:ea typeface="Microsoft YaHei"/>
                <a:cs typeface="Consolas"/>
              </a:rPr>
              <a:t>MLUPS = W × H × N / (T × 10^6)</a:t>
            </a:r>
          </a:p>
        </p:txBody>
      </p:sp>
      <p:sp>
        <p:nvSpPr>
          <p:cNvPr id="41" name="TextBox 41"/>
          <p:cNvSpPr txBox="1"/>
          <p:nvPr/>
        </p:nvSpPr>
        <p:spPr>
          <a:xfrm>
            <a:off x="7510974" y="2009299"/>
            <a:ext cx="2751701"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Millions de Lattice Updates Par Seconde</a:t>
            </a:r>
          </a:p>
        </p:txBody>
      </p:sp>
      <p:sp>
        <p:nvSpPr>
          <p:cNvPr id="42" name="Freeform 42"/>
          <p:cNvSpPr/>
          <p:nvPr/>
        </p:nvSpPr>
        <p:spPr>
          <a:xfrm>
            <a:off x="6953250" y="2628900"/>
            <a:ext cx="3867150" cy="1009650"/>
          </a:xfrm>
          <a:custGeom>
            <a:avLst/>
            <a:gdLst/>
            <a:ahLst/>
            <a:cxnLst/>
            <a:rect l="l" t="t" r="r" b="b"/>
            <a:pathLst>
              <a:path w="3867150" h="1009650">
                <a:moveTo>
                  <a:pt x="57150" y="0"/>
                </a:moveTo>
                <a:lnTo>
                  <a:pt x="3810000" y="0"/>
                </a:lnTo>
                <a:cubicBezTo>
                  <a:pt x="3841563" y="0"/>
                  <a:pt x="3867150" y="25587"/>
                  <a:pt x="3867150" y="57150"/>
                </a:cubicBezTo>
                <a:lnTo>
                  <a:pt x="3867150" y="952500"/>
                </a:lnTo>
                <a:cubicBezTo>
                  <a:pt x="3867150" y="984063"/>
                  <a:pt x="3841563" y="1009650"/>
                  <a:pt x="3810000" y="1009650"/>
                </a:cubicBezTo>
                <a:lnTo>
                  <a:pt x="57150" y="1009650"/>
                </a:lnTo>
                <a:cubicBezTo>
                  <a:pt x="25587" y="1009650"/>
                  <a:pt x="0" y="984063"/>
                  <a:pt x="0" y="952500"/>
                </a:cubicBezTo>
                <a:lnTo>
                  <a:pt x="0" y="57150"/>
                </a:lnTo>
                <a:cubicBezTo>
                  <a:pt x="0" y="25587"/>
                  <a:pt x="25587" y="0"/>
                  <a:pt x="57150" y="0"/>
                </a:cubicBezTo>
                <a:close/>
              </a:path>
            </a:pathLst>
          </a:custGeom>
          <a:solidFill>
            <a:srgbClr val="EDF5FC"/>
          </a:solidFill>
          <a:ln>
            <a:noFill/>
          </a:ln>
        </p:spPr>
      </p:sp>
      <p:sp>
        <p:nvSpPr>
          <p:cNvPr id="43" name="TextBox 43"/>
          <p:cNvSpPr txBox="1"/>
          <p:nvPr/>
        </p:nvSpPr>
        <p:spPr>
          <a:xfrm>
            <a:off x="7770502" y="2877502"/>
            <a:ext cx="2232646" cy="213360"/>
          </a:xfrm>
          <a:prstGeom prst="rect">
            <a:avLst/>
          </a:prstGeom>
          <a:noFill/>
          <a:ln>
            <a:noFill/>
          </a:ln>
        </p:spPr>
        <p:txBody>
          <a:bodyPr wrap="none" lIns="0" tIns="0" rIns="0" bIns="0" anchor="t" anchorCtr="0">
            <a:spAutoFit/>
          </a:bodyPr>
          <a:lstStyle/>
          <a:p>
            <a:pPr algn="ctr"/>
            <a:r>
              <a:rPr lang="zh-CN" sz="1050" b="1" dirty="0">
                <a:solidFill>
                  <a:srgbClr val="1565C0"/>
                </a:solidFill>
                <a:latin typeface="Consolas"/>
                <a:ea typeface="Microsoft YaHei"/>
                <a:cs typeface="Consolas"/>
              </a:rPr>
              <a:t>W = 800 · H = 160 · N = 20 000</a:t>
            </a:r>
          </a:p>
        </p:txBody>
      </p:sp>
      <p:sp>
        <p:nvSpPr>
          <p:cNvPr id="44" name="TextBox 44"/>
          <p:cNvSpPr txBox="1"/>
          <p:nvPr/>
        </p:nvSpPr>
        <p:spPr>
          <a:xfrm>
            <a:off x="7535894" y="3152299"/>
            <a:ext cx="2701862"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800 × 160 × 20 000 = 2.56 × 10^9 cellules</a:t>
            </a:r>
          </a:p>
        </p:txBody>
      </p:sp>
      <p:sp>
        <p:nvSpPr>
          <p:cNvPr id="45" name="TextBox 45"/>
          <p:cNvSpPr txBox="1"/>
          <p:nvPr/>
        </p:nvSpPr>
        <p:spPr>
          <a:xfrm>
            <a:off x="7578614" y="3380899"/>
            <a:ext cx="2616422"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Temps de calcul T mesuré en secondes</a:t>
            </a:r>
          </a:p>
        </p:txBody>
      </p:sp>
      <p:sp>
        <p:nvSpPr>
          <p:cNvPr id="46" name="TextBox 46"/>
          <p:cNvSpPr txBox="1"/>
          <p:nvPr/>
        </p:nvSpPr>
        <p:spPr>
          <a:xfrm>
            <a:off x="7304496" y="3990499"/>
            <a:ext cx="3164657"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Plus MLUPS est grand, plus c'est performant</a:t>
            </a:r>
          </a:p>
        </p:txBody>
      </p:sp>
      <p:sp>
        <p:nvSpPr>
          <p:cNvPr id="47" name="TextBox 47"/>
          <p:cNvSpPr txBox="1"/>
          <p:nvPr/>
        </p:nvSpPr>
        <p:spPr>
          <a:xfrm>
            <a:off x="7553694" y="4219099"/>
            <a:ext cx="2666262"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Objectif : maximiser le débit de calcul</a:t>
            </a:r>
          </a:p>
        </p:txBody>
      </p:sp>
      <p:sp>
        <p:nvSpPr>
          <p:cNvPr id="48" name="Freeform 48"/>
          <p:cNvSpPr/>
          <p:nvPr/>
        </p:nvSpPr>
        <p:spPr>
          <a:xfrm>
            <a:off x="1123950" y="5524500"/>
            <a:ext cx="9944100" cy="247650"/>
          </a:xfrm>
          <a:custGeom>
            <a:avLst/>
            <a:gdLst/>
            <a:ahLst/>
            <a:cxnLst/>
            <a:rect l="l" t="t" r="r" b="b"/>
            <a:pathLst>
              <a:path w="9944100" h="247650">
                <a:moveTo>
                  <a:pt x="38100" y="0"/>
                </a:moveTo>
                <a:lnTo>
                  <a:pt x="9906000" y="0"/>
                </a:lnTo>
                <a:cubicBezTo>
                  <a:pt x="9927042" y="0"/>
                  <a:pt x="9944100" y="17058"/>
                  <a:pt x="9944100" y="38100"/>
                </a:cubicBezTo>
                <a:lnTo>
                  <a:pt x="9944100" y="209550"/>
                </a:lnTo>
                <a:cubicBezTo>
                  <a:pt x="9944100" y="230592"/>
                  <a:pt x="9927042" y="247650"/>
                  <a:pt x="9906000" y="247650"/>
                </a:cubicBezTo>
                <a:lnTo>
                  <a:pt x="38100" y="247650"/>
                </a:lnTo>
                <a:cubicBezTo>
                  <a:pt x="17058" y="247650"/>
                  <a:pt x="0" y="230592"/>
                  <a:pt x="0" y="209550"/>
                </a:cubicBezTo>
                <a:lnTo>
                  <a:pt x="0" y="38100"/>
                </a:lnTo>
                <a:cubicBezTo>
                  <a:pt x="0" y="17058"/>
                  <a:pt x="17058" y="0"/>
                  <a:pt x="38100" y="0"/>
                </a:cubicBezTo>
                <a:close/>
              </a:path>
            </a:pathLst>
          </a:custGeom>
          <a:solidFill>
            <a:srgbClr val="EAF2FB"/>
          </a:solidFill>
          <a:ln w="9525">
            <a:solidFill>
              <a:srgbClr val="1565C0"/>
            </a:solidFill>
          </a:ln>
        </p:spPr>
      </p:sp>
      <p:sp>
        <p:nvSpPr>
          <p:cNvPr id="49" name="TextBox 49"/>
          <p:cNvSpPr txBox="1"/>
          <p:nvPr/>
        </p:nvSpPr>
        <p:spPr>
          <a:xfrm>
            <a:off x="3766078" y="5581174"/>
            <a:ext cx="4659844" cy="198120"/>
          </a:xfrm>
          <a:prstGeom prst="rect">
            <a:avLst/>
          </a:prstGeom>
          <a:noFill/>
          <a:ln>
            <a:noFill/>
          </a:ln>
        </p:spPr>
        <p:txBody>
          <a:bodyPr wrap="none" lIns="0" tIns="0" rIns="0" bIns="0" anchor="t" anchorCtr="0">
            <a:spAutoFit/>
          </a:bodyPr>
          <a:lstStyle/>
          <a:p>
            <a:pPr algn="ctr"/>
            <a:r>
              <a:rPr lang="zh-CN" sz="975" dirty="0">
                <a:solidFill>
                  <a:srgbClr val="1565C0"/>
                </a:solidFill>
                <a:latin typeface="Arial"/>
                <a:ea typeface="Microsoft YaHei"/>
                <a:cs typeface="Arial"/>
              </a:rPr>
              <a:t>Référence initiale : 60 MLUPS (macOS AArch64, avant corrections)</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6200"/>
          </a:xfrm>
          <a:prstGeom prst="rect">
            <a:avLst/>
          </a:prstGeom>
          <a:solidFill>
            <a:srgbClr val="1565C0"/>
          </a:solidFill>
          <a:ln>
            <a:noFill/>
          </a:ln>
        </p:spPr>
      </p:sp>
      <p:sp>
        <p:nvSpPr>
          <p:cNvPr id="4" name="Rectangle 4"/>
          <p:cNvSpPr/>
          <p:nvPr/>
        </p:nvSpPr>
        <p:spPr>
          <a:xfrm>
            <a:off x="0" y="76200"/>
            <a:ext cx="12192000" cy="685800"/>
          </a:xfrm>
          <a:prstGeom prst="rect">
            <a:avLst/>
          </a:prstGeom>
          <a:solidFill>
            <a:srgbClr val="F4F7FA"/>
          </a:solidFill>
          <a:ln>
            <a:noFill/>
          </a:ln>
        </p:spPr>
      </p:sp>
      <p:sp>
        <p:nvSpPr>
          <p:cNvPr id="5" name="Line 5"/>
          <p:cNvSpPr/>
          <p:nvPr/>
        </p:nvSpPr>
        <p:spPr>
          <a:xfrm>
            <a:off x="0" y="762000"/>
            <a:ext cx="12192000" cy="9525"/>
          </a:xfrm>
          <a:custGeom>
            <a:avLst/>
            <a:gdLst/>
            <a:ahLst/>
            <a:cxnLst/>
            <a:rect l="l" t="t" r="r" b="b"/>
            <a:pathLst>
              <a:path w="12192000" h="9525">
                <a:moveTo>
                  <a:pt x="0" y="0"/>
                </a:moveTo>
                <a:lnTo>
                  <a:pt x="12192000" y="0"/>
                </a:lnTo>
              </a:path>
            </a:pathLst>
          </a:custGeom>
          <a:noFill/>
          <a:ln w="9525">
            <a:solidFill>
              <a:srgbClr val="CFD8DC"/>
            </a:solidFill>
          </a:ln>
        </p:spPr>
      </p:sp>
      <p:sp>
        <p:nvSpPr>
          <p:cNvPr id="6" name="Freeform 6"/>
          <p:cNvSpPr/>
          <p:nvPr/>
        </p:nvSpPr>
        <p:spPr>
          <a:xfrm>
            <a:off x="609600" y="228600"/>
            <a:ext cx="47625" cy="304800"/>
          </a:xfrm>
          <a:custGeom>
            <a:avLst/>
            <a:gdLst/>
            <a:ahLst/>
            <a:cxnLst/>
            <a:rect l="l" t="t" r="r" b="b"/>
            <a:pathLst>
              <a:path w="47625" h="304800">
                <a:moveTo>
                  <a:pt x="19050" y="0"/>
                </a:moveTo>
                <a:lnTo>
                  <a:pt x="28575" y="0"/>
                </a:lnTo>
                <a:cubicBezTo>
                  <a:pt x="39096" y="0"/>
                  <a:pt x="47625" y="8529"/>
                  <a:pt x="47625" y="19050"/>
                </a:cubicBezTo>
                <a:lnTo>
                  <a:pt x="47625" y="285750"/>
                </a:lnTo>
                <a:cubicBezTo>
                  <a:pt x="47625" y="296271"/>
                  <a:pt x="39096" y="304800"/>
                  <a:pt x="28575" y="304800"/>
                </a:cubicBezTo>
                <a:lnTo>
                  <a:pt x="19050" y="304800"/>
                </a:lnTo>
                <a:cubicBezTo>
                  <a:pt x="8529" y="304800"/>
                  <a:pt x="0" y="296271"/>
                  <a:pt x="0" y="285750"/>
                </a:cubicBezTo>
                <a:lnTo>
                  <a:pt x="0" y="19050"/>
                </a:lnTo>
                <a:cubicBezTo>
                  <a:pt x="0" y="8529"/>
                  <a:pt x="8529" y="0"/>
                  <a:pt x="19050" y="0"/>
                </a:cubicBezTo>
                <a:close/>
              </a:path>
            </a:pathLst>
          </a:custGeom>
          <a:solidFill>
            <a:srgbClr val="1565C0"/>
          </a:solidFill>
          <a:ln>
            <a:noFill/>
          </a:ln>
        </p:spPr>
      </p:sp>
      <p:sp>
        <p:nvSpPr>
          <p:cNvPr id="7" name="TextBox 7"/>
          <p:cNvSpPr txBox="1"/>
          <p:nvPr/>
        </p:nvSpPr>
        <p:spPr>
          <a:xfrm>
            <a:off x="737235" y="284798"/>
            <a:ext cx="5043454" cy="396240"/>
          </a:xfrm>
          <a:prstGeom prst="rect">
            <a:avLst/>
          </a:prstGeom>
          <a:noFill/>
          <a:ln>
            <a:noFill/>
          </a:ln>
        </p:spPr>
        <p:txBody>
          <a:bodyPr wrap="none" lIns="0" tIns="0" rIns="0" bIns="0" anchor="t" anchorCtr="0">
            <a:spAutoFit/>
          </a:bodyPr>
          <a:lstStyle/>
          <a:p>
            <a:pPr algn="l"/>
            <a:r>
              <a:rPr lang="zh-CN" sz="1950" b="1" dirty="0">
                <a:solidFill>
                  <a:srgbClr val="1A2332"/>
                </a:solidFill>
                <a:latin typeface="Arial"/>
                <a:ea typeface="Microsoft YaHei"/>
                <a:cs typeface="Arial"/>
              </a:rPr>
              <a:t>Feuille de route : 26 optimisations</a:t>
            </a:r>
          </a:p>
        </p:txBody>
      </p:sp>
      <p:sp>
        <p:nvSpPr>
          <p:cNvPr id="8" name="Freeform 8"/>
          <p:cNvSpPr/>
          <p:nvPr/>
        </p:nvSpPr>
        <p:spPr>
          <a:xfrm>
            <a:off x="11144250" y="228600"/>
            <a:ext cx="438150" cy="171450"/>
          </a:xfrm>
          <a:custGeom>
            <a:avLst/>
            <a:gdLst/>
            <a:ahLst/>
            <a:cxnLst/>
            <a:rect l="l" t="t" r="r" b="b"/>
            <a:pathLst>
              <a:path w="438150" h="171450">
                <a:moveTo>
                  <a:pt x="38100" y="0"/>
                </a:moveTo>
                <a:lnTo>
                  <a:pt x="400050" y="0"/>
                </a:lnTo>
                <a:cubicBezTo>
                  <a:pt x="421092" y="0"/>
                  <a:pt x="438150" y="17058"/>
                  <a:pt x="438150" y="38100"/>
                </a:cubicBezTo>
                <a:lnTo>
                  <a:pt x="438150" y="133350"/>
                </a:lnTo>
                <a:cubicBezTo>
                  <a:pt x="438150" y="154392"/>
                  <a:pt x="421092" y="171450"/>
                  <a:pt x="400050" y="171450"/>
                </a:cubicBezTo>
                <a:lnTo>
                  <a:pt x="38100" y="171450"/>
                </a:lnTo>
                <a:cubicBezTo>
                  <a:pt x="17058" y="171450"/>
                  <a:pt x="0" y="154392"/>
                  <a:pt x="0" y="133350"/>
                </a:cubicBezTo>
                <a:lnTo>
                  <a:pt x="0" y="38100"/>
                </a:lnTo>
                <a:cubicBezTo>
                  <a:pt x="0" y="17058"/>
                  <a:pt x="17058" y="0"/>
                  <a:pt x="38100" y="0"/>
                </a:cubicBezTo>
                <a:close/>
              </a:path>
            </a:pathLst>
          </a:custGeom>
          <a:solidFill>
            <a:srgbClr val="1565C0"/>
          </a:solidFill>
          <a:ln>
            <a:noFill/>
          </a:ln>
        </p:spPr>
      </p:sp>
      <p:sp>
        <p:nvSpPr>
          <p:cNvPr id="9" name="TextBox 9"/>
          <p:cNvSpPr txBox="1"/>
          <p:nvPr/>
        </p:nvSpPr>
        <p:spPr>
          <a:xfrm>
            <a:off x="11299078" y="263366"/>
            <a:ext cx="128493"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P1</a:t>
            </a:r>
          </a:p>
        </p:txBody>
      </p:sp>
      <p:sp>
        <p:nvSpPr>
          <p:cNvPr id="10" name="TextBox 10"/>
          <p:cNvSpPr txBox="1"/>
          <p:nvPr/>
        </p:nvSpPr>
        <p:spPr>
          <a:xfrm>
            <a:off x="11206901" y="390049"/>
            <a:ext cx="387882" cy="198120"/>
          </a:xfrm>
          <a:prstGeom prst="rect">
            <a:avLst/>
          </a:prstGeom>
          <a:noFill/>
          <a:ln>
            <a:noFill/>
          </a:ln>
        </p:spPr>
        <p:txBody>
          <a:bodyPr wrap="none" lIns="0" tIns="0" rIns="0" bIns="0" anchor="t" anchorCtr="0">
            <a:spAutoFit/>
          </a:bodyPr>
          <a:lstStyle/>
          <a:p>
            <a:pPr algn="r"/>
            <a:r>
              <a:rPr lang="zh-CN" sz="975" dirty="0">
                <a:solidFill>
                  <a:srgbClr val="90A4AE"/>
                </a:solidFill>
                <a:latin typeface="Arial"/>
                <a:ea typeface="Microsoft YaHei"/>
                <a:cs typeface="Arial"/>
              </a:rPr>
              <a:t>3 / 13</a:t>
            </a:r>
          </a:p>
        </p:txBody>
      </p:sp>
      <p:sp>
        <p:nvSpPr>
          <p:cNvPr id="11" name="TextBox 11"/>
          <p:cNvSpPr txBox="1"/>
          <p:nvPr/>
        </p:nvSpPr>
        <p:spPr>
          <a:xfrm>
            <a:off x="1185898" y="961549"/>
            <a:ext cx="2466904" cy="198120"/>
          </a:xfrm>
          <a:prstGeom prst="rect">
            <a:avLst/>
          </a:prstGeom>
          <a:noFill/>
          <a:ln>
            <a:noFill/>
          </a:ln>
        </p:spPr>
        <p:txBody>
          <a:bodyPr wrap="none" lIns="0" tIns="0" rIns="0" bIns="0" anchor="t" anchorCtr="0">
            <a:spAutoFit/>
          </a:bodyPr>
          <a:lstStyle/>
          <a:p>
            <a:pPr algn="ctr"/>
            <a:r>
              <a:rPr lang="zh-CN" sz="975" dirty="0">
                <a:solidFill>
                  <a:srgbClr val="E65100"/>
                </a:solidFill>
                <a:latin typeface="Arial"/>
                <a:ea typeface="Microsoft YaHei"/>
                <a:cs typeface="Arial"/>
              </a:rPr>
              <a:t>Partie 1 — macOS AArch64 · opt01–17</a:t>
            </a:r>
          </a:p>
        </p:txBody>
      </p:sp>
      <p:sp>
        <p:nvSpPr>
          <p:cNvPr id="12" name="TextBox 12"/>
          <p:cNvSpPr txBox="1"/>
          <p:nvPr/>
        </p:nvSpPr>
        <p:spPr>
          <a:xfrm>
            <a:off x="8300490" y="961549"/>
            <a:ext cx="2830020" cy="198120"/>
          </a:xfrm>
          <a:prstGeom prst="rect">
            <a:avLst/>
          </a:prstGeom>
          <a:noFill/>
          <a:ln>
            <a:noFill/>
          </a:ln>
        </p:spPr>
        <p:txBody>
          <a:bodyPr wrap="none" lIns="0" tIns="0" rIns="0" bIns="0" anchor="t" anchorCtr="0">
            <a:spAutoFit/>
          </a:bodyPr>
          <a:lstStyle/>
          <a:p>
            <a:pPr algn="ctr"/>
            <a:r>
              <a:rPr lang="zh-CN" sz="975" dirty="0">
                <a:solidFill>
                  <a:srgbClr val="1565C0"/>
                </a:solidFill>
                <a:latin typeface="Arial"/>
                <a:ea typeface="Microsoft YaHei"/>
                <a:cs typeface="Arial"/>
              </a:rPr>
              <a:t>Partie 2 — AMD Ryzen 9 x86-64 · opt18–26</a:t>
            </a:r>
          </a:p>
        </p:txBody>
      </p:sp>
      <p:sp>
        <p:nvSpPr>
          <p:cNvPr id="13" name="Freeform 13"/>
          <p:cNvSpPr/>
          <p:nvPr/>
        </p:nvSpPr>
        <p:spPr>
          <a:xfrm>
            <a:off x="1524000" y="1162050"/>
            <a:ext cx="9144000" cy="76200"/>
          </a:xfrm>
          <a:custGeom>
            <a:avLst/>
            <a:gdLst/>
            <a:ahLst/>
            <a:cxnLst/>
            <a:rect l="l" t="t" r="r" b="b"/>
            <a:pathLst>
              <a:path w="9144000" h="76200">
                <a:moveTo>
                  <a:pt x="38100" y="0"/>
                </a:moveTo>
                <a:lnTo>
                  <a:pt x="9105900" y="0"/>
                </a:lnTo>
                <a:cubicBezTo>
                  <a:pt x="9126942" y="0"/>
                  <a:pt x="9144000" y="17058"/>
                  <a:pt x="9144000" y="38100"/>
                </a:cubicBezTo>
                <a:lnTo>
                  <a:pt x="9144000" y="38100"/>
                </a:lnTo>
                <a:cubicBezTo>
                  <a:pt x="9144000" y="59142"/>
                  <a:pt x="9126942" y="76200"/>
                  <a:pt x="9105900" y="76200"/>
                </a:cubicBezTo>
                <a:lnTo>
                  <a:pt x="38100" y="76200"/>
                </a:lnTo>
                <a:cubicBezTo>
                  <a:pt x="17058" y="76200"/>
                  <a:pt x="0" y="59142"/>
                  <a:pt x="0" y="38100"/>
                </a:cubicBezTo>
                <a:lnTo>
                  <a:pt x="0" y="38100"/>
                </a:lnTo>
                <a:cubicBezTo>
                  <a:pt x="0" y="17058"/>
                  <a:pt x="17058" y="0"/>
                  <a:pt x="38100" y="0"/>
                </a:cubicBezTo>
                <a:close/>
              </a:path>
            </a:pathLst>
          </a:custGeom>
          <a:solidFill>
            <a:srgbClr val="EEF3F8"/>
          </a:solidFill>
          <a:ln>
            <a:noFill/>
          </a:ln>
        </p:spPr>
      </p:sp>
      <p:sp>
        <p:nvSpPr>
          <p:cNvPr id="14" name="Ellipse 14"/>
          <p:cNvSpPr/>
          <p:nvPr/>
        </p:nvSpPr>
        <p:spPr>
          <a:xfrm>
            <a:off x="1685925" y="1095375"/>
            <a:ext cx="209550" cy="209550"/>
          </a:xfrm>
          <a:prstGeom prst="ellipse">
            <a:avLst/>
          </a:prstGeom>
          <a:solidFill>
            <a:srgbClr val="E65100"/>
          </a:solidFill>
          <a:ln>
            <a:noFill/>
          </a:ln>
        </p:spPr>
      </p:sp>
      <p:sp>
        <p:nvSpPr>
          <p:cNvPr id="15" name="TextBox 15"/>
          <p:cNvSpPr txBox="1"/>
          <p:nvPr/>
        </p:nvSpPr>
        <p:spPr>
          <a:xfrm>
            <a:off x="1727906" y="1165384"/>
            <a:ext cx="125587" cy="137160"/>
          </a:xfrm>
          <a:prstGeom prst="rect">
            <a:avLst/>
          </a:prstGeom>
          <a:noFill/>
          <a:ln>
            <a:noFill/>
          </a:ln>
        </p:spPr>
        <p:txBody>
          <a:bodyPr wrap="none" lIns="0" tIns="0" rIns="0" bIns="0" anchor="t" anchorCtr="0">
            <a:spAutoFit/>
          </a:bodyPr>
          <a:lstStyle/>
          <a:p>
            <a:pPr algn="ctr"/>
            <a:r>
              <a:rPr lang="zh-CN" sz="675" dirty="0">
                <a:solidFill>
                  <a:srgbClr val="FFFFFF"/>
                </a:solidFill>
                <a:latin typeface="Consolas"/>
                <a:ea typeface="Microsoft YaHei"/>
                <a:cs typeface="Consolas"/>
              </a:rPr>
              <a:t>60</a:t>
            </a:r>
          </a:p>
        </p:txBody>
      </p:sp>
      <p:sp>
        <p:nvSpPr>
          <p:cNvPr id="16" name="Ellipse 16"/>
          <p:cNvSpPr/>
          <p:nvPr/>
        </p:nvSpPr>
        <p:spPr>
          <a:xfrm>
            <a:off x="3895725" y="1095375"/>
            <a:ext cx="209550" cy="209550"/>
          </a:xfrm>
          <a:prstGeom prst="ellipse">
            <a:avLst/>
          </a:prstGeom>
          <a:solidFill>
            <a:srgbClr val="E65100"/>
          </a:solidFill>
          <a:ln>
            <a:noFill/>
          </a:ln>
        </p:spPr>
      </p:sp>
      <p:sp>
        <p:nvSpPr>
          <p:cNvPr id="17" name="TextBox 17"/>
          <p:cNvSpPr txBox="1"/>
          <p:nvPr/>
        </p:nvSpPr>
        <p:spPr>
          <a:xfrm>
            <a:off x="3922919" y="1165384"/>
            <a:ext cx="155162" cy="137160"/>
          </a:xfrm>
          <a:prstGeom prst="rect">
            <a:avLst/>
          </a:prstGeom>
          <a:noFill/>
          <a:ln>
            <a:noFill/>
          </a:ln>
        </p:spPr>
        <p:txBody>
          <a:bodyPr wrap="none" lIns="0" tIns="0" rIns="0" bIns="0" anchor="t" anchorCtr="0">
            <a:spAutoFit/>
          </a:bodyPr>
          <a:lstStyle/>
          <a:p>
            <a:pPr algn="ctr"/>
            <a:r>
              <a:rPr lang="zh-CN" sz="675" dirty="0">
                <a:solidFill>
                  <a:srgbClr val="FFFFFF"/>
                </a:solidFill>
                <a:latin typeface="Consolas"/>
                <a:ea typeface="Microsoft YaHei"/>
                <a:cs typeface="Consolas"/>
              </a:rPr>
              <a:t>103</a:t>
            </a:r>
          </a:p>
        </p:txBody>
      </p:sp>
      <p:sp>
        <p:nvSpPr>
          <p:cNvPr id="18" name="Ellipse 18"/>
          <p:cNvSpPr/>
          <p:nvPr/>
        </p:nvSpPr>
        <p:spPr>
          <a:xfrm>
            <a:off x="5800725" y="1095375"/>
            <a:ext cx="209550" cy="209550"/>
          </a:xfrm>
          <a:prstGeom prst="ellipse">
            <a:avLst/>
          </a:prstGeom>
          <a:solidFill>
            <a:srgbClr val="E65100"/>
          </a:solidFill>
          <a:ln>
            <a:noFill/>
          </a:ln>
        </p:spPr>
      </p:sp>
      <p:sp>
        <p:nvSpPr>
          <p:cNvPr id="19" name="TextBox 19"/>
          <p:cNvSpPr txBox="1"/>
          <p:nvPr/>
        </p:nvSpPr>
        <p:spPr>
          <a:xfrm>
            <a:off x="5827919" y="1165384"/>
            <a:ext cx="155162" cy="137160"/>
          </a:xfrm>
          <a:prstGeom prst="rect">
            <a:avLst/>
          </a:prstGeom>
          <a:noFill/>
          <a:ln>
            <a:noFill/>
          </a:ln>
        </p:spPr>
        <p:txBody>
          <a:bodyPr wrap="none" lIns="0" tIns="0" rIns="0" bIns="0" anchor="t" anchorCtr="0">
            <a:spAutoFit/>
          </a:bodyPr>
          <a:lstStyle/>
          <a:p>
            <a:pPr algn="ctr"/>
            <a:r>
              <a:rPr lang="zh-CN" sz="675" dirty="0">
                <a:solidFill>
                  <a:srgbClr val="FFFFFF"/>
                </a:solidFill>
                <a:latin typeface="Consolas"/>
                <a:ea typeface="Microsoft YaHei"/>
                <a:cs typeface="Consolas"/>
              </a:rPr>
              <a:t>194</a:t>
            </a:r>
          </a:p>
        </p:txBody>
      </p:sp>
      <p:sp>
        <p:nvSpPr>
          <p:cNvPr id="20" name="Ellipse 20"/>
          <p:cNvSpPr/>
          <p:nvPr/>
        </p:nvSpPr>
        <p:spPr>
          <a:xfrm>
            <a:off x="7705725" y="1095375"/>
            <a:ext cx="209550" cy="209550"/>
          </a:xfrm>
          <a:prstGeom prst="ellipse">
            <a:avLst/>
          </a:prstGeom>
          <a:solidFill>
            <a:srgbClr val="1565C0"/>
          </a:solidFill>
          <a:ln>
            <a:noFill/>
          </a:ln>
        </p:spPr>
      </p:sp>
      <p:sp>
        <p:nvSpPr>
          <p:cNvPr id="21" name="TextBox 21"/>
          <p:cNvSpPr txBox="1"/>
          <p:nvPr/>
        </p:nvSpPr>
        <p:spPr>
          <a:xfrm>
            <a:off x="7732919" y="1165384"/>
            <a:ext cx="155162" cy="137160"/>
          </a:xfrm>
          <a:prstGeom prst="rect">
            <a:avLst/>
          </a:prstGeom>
          <a:noFill/>
          <a:ln>
            <a:noFill/>
          </a:ln>
        </p:spPr>
        <p:txBody>
          <a:bodyPr wrap="none" lIns="0" tIns="0" rIns="0" bIns="0" anchor="t" anchorCtr="0">
            <a:spAutoFit/>
          </a:bodyPr>
          <a:lstStyle/>
          <a:p>
            <a:pPr algn="ctr"/>
            <a:r>
              <a:rPr lang="zh-CN" sz="675" dirty="0">
                <a:solidFill>
                  <a:srgbClr val="FFFFFF"/>
                </a:solidFill>
                <a:latin typeface="Consolas"/>
                <a:ea typeface="Microsoft YaHei"/>
                <a:cs typeface="Consolas"/>
              </a:rPr>
              <a:t>216</a:t>
            </a:r>
          </a:p>
        </p:txBody>
      </p:sp>
      <p:sp>
        <p:nvSpPr>
          <p:cNvPr id="22" name="Ellipse 22"/>
          <p:cNvSpPr/>
          <p:nvPr/>
        </p:nvSpPr>
        <p:spPr>
          <a:xfrm>
            <a:off x="9553575" y="1095375"/>
            <a:ext cx="209550" cy="209550"/>
          </a:xfrm>
          <a:prstGeom prst="ellipse">
            <a:avLst/>
          </a:prstGeom>
          <a:solidFill>
            <a:srgbClr val="1565C0"/>
          </a:solidFill>
          <a:ln>
            <a:noFill/>
          </a:ln>
        </p:spPr>
      </p:sp>
      <p:sp>
        <p:nvSpPr>
          <p:cNvPr id="23" name="TextBox 23"/>
          <p:cNvSpPr txBox="1"/>
          <p:nvPr/>
        </p:nvSpPr>
        <p:spPr>
          <a:xfrm>
            <a:off x="9568446" y="1165384"/>
            <a:ext cx="179808" cy="137160"/>
          </a:xfrm>
          <a:prstGeom prst="rect">
            <a:avLst/>
          </a:prstGeom>
          <a:noFill/>
          <a:ln>
            <a:noFill/>
          </a:ln>
        </p:spPr>
        <p:txBody>
          <a:bodyPr wrap="none" lIns="0" tIns="0" rIns="0" bIns="0" anchor="t" anchorCtr="0">
            <a:spAutoFit/>
          </a:bodyPr>
          <a:lstStyle/>
          <a:p>
            <a:pPr algn="ctr"/>
            <a:r>
              <a:rPr lang="zh-CN" sz="675" dirty="0">
                <a:solidFill>
                  <a:srgbClr val="FFFFFF"/>
                </a:solidFill>
                <a:latin typeface="Consolas"/>
                <a:ea typeface="Microsoft YaHei"/>
                <a:cs typeface="Consolas"/>
              </a:rPr>
              <a:t>832</a:t>
            </a:r>
          </a:p>
        </p:txBody>
      </p:sp>
      <p:sp>
        <p:nvSpPr>
          <p:cNvPr id="24" name="Ellipse 24"/>
          <p:cNvSpPr/>
          <p:nvPr/>
        </p:nvSpPr>
        <p:spPr>
          <a:xfrm>
            <a:off x="11115675" y="1095375"/>
            <a:ext cx="209550" cy="209550"/>
          </a:xfrm>
          <a:prstGeom prst="ellipse">
            <a:avLst/>
          </a:prstGeom>
          <a:solidFill>
            <a:srgbClr val="E65100"/>
          </a:solidFill>
          <a:ln>
            <a:noFill/>
          </a:ln>
        </p:spPr>
      </p:sp>
      <p:sp>
        <p:nvSpPr>
          <p:cNvPr id="25" name="TextBox 25"/>
          <p:cNvSpPr txBox="1"/>
          <p:nvPr/>
        </p:nvSpPr>
        <p:spPr>
          <a:xfrm>
            <a:off x="11103435" y="1165384"/>
            <a:ext cx="234029" cy="137160"/>
          </a:xfrm>
          <a:prstGeom prst="rect">
            <a:avLst/>
          </a:prstGeom>
          <a:noFill/>
          <a:ln>
            <a:noFill/>
          </a:ln>
        </p:spPr>
        <p:txBody>
          <a:bodyPr wrap="none" lIns="0" tIns="0" rIns="0" bIns="0" anchor="t" anchorCtr="0">
            <a:spAutoFit/>
          </a:bodyPr>
          <a:lstStyle/>
          <a:p>
            <a:pPr algn="ctr"/>
            <a:r>
              <a:rPr lang="zh-CN" sz="675" dirty="0">
                <a:solidFill>
                  <a:srgbClr val="FFFFFF"/>
                </a:solidFill>
                <a:latin typeface="Consolas"/>
                <a:ea typeface="Microsoft YaHei"/>
                <a:cs typeface="Consolas"/>
              </a:rPr>
              <a:t>2047</a:t>
            </a:r>
          </a:p>
        </p:txBody>
      </p:sp>
      <p:sp>
        <p:nvSpPr>
          <p:cNvPr id="26" name="Freeform 26"/>
          <p:cNvSpPr/>
          <p:nvPr/>
        </p:nvSpPr>
        <p:spPr>
          <a:xfrm>
            <a:off x="1428750" y="1695450"/>
            <a:ext cx="4229100" cy="2933700"/>
          </a:xfrm>
          <a:custGeom>
            <a:avLst/>
            <a:gdLst/>
            <a:ahLst/>
            <a:cxnLst/>
            <a:rect l="l" t="t" r="r" b="b"/>
            <a:pathLst>
              <a:path w="4229100" h="2933700">
                <a:moveTo>
                  <a:pt x="76200" y="0"/>
                </a:moveTo>
                <a:lnTo>
                  <a:pt x="4152900" y="0"/>
                </a:lnTo>
                <a:cubicBezTo>
                  <a:pt x="4194984" y="0"/>
                  <a:pt x="4229100" y="34116"/>
                  <a:pt x="4229100" y="76200"/>
                </a:cubicBezTo>
                <a:lnTo>
                  <a:pt x="4229100" y="2857500"/>
                </a:lnTo>
                <a:cubicBezTo>
                  <a:pt x="4229100" y="2899584"/>
                  <a:pt x="4194984" y="2933700"/>
                  <a:pt x="4152900" y="2933700"/>
                </a:cubicBezTo>
                <a:lnTo>
                  <a:pt x="76200" y="2933700"/>
                </a:lnTo>
                <a:cubicBezTo>
                  <a:pt x="34116" y="2933700"/>
                  <a:pt x="0" y="2899584"/>
                  <a:pt x="0" y="2857500"/>
                </a:cubicBezTo>
                <a:lnTo>
                  <a:pt x="0" y="76200"/>
                </a:lnTo>
                <a:cubicBezTo>
                  <a:pt x="0" y="34116"/>
                  <a:pt x="34116" y="0"/>
                  <a:pt x="76200" y="0"/>
                </a:cubicBezTo>
                <a:close/>
              </a:path>
            </a:pathLst>
          </a:custGeom>
          <a:solidFill>
            <a:srgbClr val="FFF9F3"/>
          </a:solidFill>
          <a:ln w="9525">
            <a:solidFill>
              <a:srgbClr val="E65100"/>
            </a:solidFill>
          </a:ln>
        </p:spPr>
      </p:sp>
      <p:sp>
        <p:nvSpPr>
          <p:cNvPr id="27" name="TextBox 27"/>
          <p:cNvSpPr txBox="1"/>
          <p:nvPr/>
        </p:nvSpPr>
        <p:spPr>
          <a:xfrm>
            <a:off x="2555793" y="1867852"/>
            <a:ext cx="1975014" cy="213360"/>
          </a:xfrm>
          <a:prstGeom prst="rect">
            <a:avLst/>
          </a:prstGeom>
          <a:noFill/>
          <a:ln>
            <a:noFill/>
          </a:ln>
        </p:spPr>
        <p:txBody>
          <a:bodyPr wrap="none" lIns="0" tIns="0" rIns="0" bIns="0" anchor="t" anchorCtr="0">
            <a:spAutoFit/>
          </a:bodyPr>
          <a:lstStyle/>
          <a:p>
            <a:pPr algn="ctr"/>
            <a:r>
              <a:rPr lang="zh-CN" sz="1050" b="1" dirty="0">
                <a:solidFill>
                  <a:srgbClr val="E65100"/>
                </a:solidFill>
                <a:latin typeface="Arial"/>
                <a:ea typeface="Microsoft YaHei"/>
                <a:cs typeface="Arial"/>
              </a:rPr>
              <a:t>Partie 1 — macOS AArch64</a:t>
            </a:r>
          </a:p>
        </p:txBody>
      </p:sp>
      <p:sp>
        <p:nvSpPr>
          <p:cNvPr id="28" name="TextBox 28"/>
          <p:cNvSpPr txBox="1"/>
          <p:nvPr/>
        </p:nvSpPr>
        <p:spPr>
          <a:xfrm>
            <a:off x="2114050" y="2256949"/>
            <a:ext cx="2858500" cy="198120"/>
          </a:xfrm>
          <a:prstGeom prst="rect">
            <a:avLst/>
          </a:prstGeom>
          <a:noFill/>
          <a:ln>
            <a:noFill/>
          </a:ln>
        </p:spPr>
        <p:txBody>
          <a:bodyPr wrap="none" lIns="0" tIns="0" rIns="0" bIns="0" anchor="t" anchorCtr="0">
            <a:spAutoFit/>
          </a:bodyPr>
          <a:lstStyle/>
          <a:p>
            <a:pPr algn="ctr"/>
            <a:r>
              <a:rPr lang="zh-CN" sz="975" dirty="0">
                <a:solidFill>
                  <a:srgbClr val="1A2332"/>
                </a:solidFill>
                <a:latin typeface="Arial"/>
                <a:ea typeface="Microsoft YaHei"/>
                <a:cs typeface="Arial"/>
              </a:rPr>
              <a:t>opt01–03 : Validité benchmark · 60 MLUPS</a:t>
            </a:r>
          </a:p>
        </p:txBody>
      </p:sp>
      <p:sp>
        <p:nvSpPr>
          <p:cNvPr id="29" name="TextBox 29"/>
          <p:cNvSpPr txBox="1"/>
          <p:nvPr/>
        </p:nvSpPr>
        <p:spPr>
          <a:xfrm>
            <a:off x="2035731" y="2542699"/>
            <a:ext cx="3015139" cy="198120"/>
          </a:xfrm>
          <a:prstGeom prst="rect">
            <a:avLst/>
          </a:prstGeom>
          <a:noFill/>
          <a:ln>
            <a:noFill/>
          </a:ln>
        </p:spPr>
        <p:txBody>
          <a:bodyPr wrap="none" lIns="0" tIns="0" rIns="0" bIns="0" anchor="t" anchorCtr="0">
            <a:spAutoFit/>
          </a:bodyPr>
          <a:lstStyle/>
          <a:p>
            <a:pPr algn="ctr"/>
            <a:r>
              <a:rPr lang="zh-CN" sz="975" dirty="0">
                <a:solidFill>
                  <a:srgbClr val="1A2332"/>
                </a:solidFill>
                <a:latin typeface="Arial"/>
                <a:ea typeface="Microsoft YaHei"/>
                <a:cs typeface="Arial"/>
              </a:rPr>
              <a:t>opt04–08 : Latence MPI réduite · 103 MLUPS</a:t>
            </a:r>
          </a:p>
        </p:txBody>
      </p:sp>
      <p:sp>
        <p:nvSpPr>
          <p:cNvPr id="30" name="TextBox 30"/>
          <p:cNvSpPr txBox="1"/>
          <p:nvPr/>
        </p:nvSpPr>
        <p:spPr>
          <a:xfrm>
            <a:off x="2274249" y="2828449"/>
            <a:ext cx="2538103" cy="198120"/>
          </a:xfrm>
          <a:prstGeom prst="rect">
            <a:avLst/>
          </a:prstGeom>
          <a:noFill/>
          <a:ln>
            <a:noFill/>
          </a:ln>
        </p:spPr>
        <p:txBody>
          <a:bodyPr wrap="none" lIns="0" tIns="0" rIns="0" bIns="0" anchor="t" anchorCtr="0">
            <a:spAutoFit/>
          </a:bodyPr>
          <a:lstStyle/>
          <a:p>
            <a:pPr algn="ctr"/>
            <a:r>
              <a:rPr lang="zh-CN" sz="975" dirty="0">
                <a:solidFill>
                  <a:srgbClr val="1A2332"/>
                </a:solidFill>
                <a:latin typeface="Arial"/>
                <a:ea typeface="Microsoft YaHei"/>
                <a:cs typeface="Arial"/>
              </a:rPr>
              <a:t>opt09–13 : Pull + OpenMP · 194 MLUPS</a:t>
            </a:r>
          </a:p>
        </p:txBody>
      </p:sp>
      <p:sp>
        <p:nvSpPr>
          <p:cNvPr id="31" name="TextBox 31"/>
          <p:cNvSpPr txBox="1"/>
          <p:nvPr/>
        </p:nvSpPr>
        <p:spPr>
          <a:xfrm>
            <a:off x="1708214" y="3114199"/>
            <a:ext cx="3670173" cy="198120"/>
          </a:xfrm>
          <a:prstGeom prst="rect">
            <a:avLst/>
          </a:prstGeom>
          <a:noFill/>
          <a:ln>
            <a:noFill/>
          </a:ln>
        </p:spPr>
        <p:txBody>
          <a:bodyPr wrap="none" lIns="0" tIns="0" rIns="0" bIns="0" anchor="t" anchorCtr="0">
            <a:spAutoFit/>
          </a:bodyPr>
          <a:lstStyle/>
          <a:p>
            <a:pPr algn="ctr"/>
            <a:r>
              <a:rPr lang="zh-CN" sz="975" dirty="0">
                <a:solidFill>
                  <a:srgbClr val="1A2332"/>
                </a:solidFill>
                <a:latin typeface="Arial"/>
                <a:ea typeface="Microsoft YaHei"/>
                <a:cs typeface="Arial"/>
              </a:rPr>
              <a:t>opt14–17 : Diagnostics, ex. SIMD · gains Apple limités</a:t>
            </a:r>
          </a:p>
        </p:txBody>
      </p:sp>
      <p:sp>
        <p:nvSpPr>
          <p:cNvPr id="32" name="TextBox 32"/>
          <p:cNvSpPr txBox="1"/>
          <p:nvPr/>
        </p:nvSpPr>
        <p:spPr>
          <a:xfrm>
            <a:off x="2263569" y="3628549"/>
            <a:ext cx="2559463"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Jalons retenus : 60 → 103 → 194 MLUPS</a:t>
            </a:r>
          </a:p>
        </p:txBody>
      </p:sp>
      <p:sp>
        <p:nvSpPr>
          <p:cNvPr id="33" name="Freeform 33"/>
          <p:cNvSpPr/>
          <p:nvPr/>
        </p:nvSpPr>
        <p:spPr>
          <a:xfrm>
            <a:off x="6534150" y="1695450"/>
            <a:ext cx="4229100" cy="2933700"/>
          </a:xfrm>
          <a:custGeom>
            <a:avLst/>
            <a:gdLst/>
            <a:ahLst/>
            <a:cxnLst/>
            <a:rect l="l" t="t" r="r" b="b"/>
            <a:pathLst>
              <a:path w="4229100" h="2933700">
                <a:moveTo>
                  <a:pt x="76200" y="0"/>
                </a:moveTo>
                <a:lnTo>
                  <a:pt x="4152900" y="0"/>
                </a:lnTo>
                <a:cubicBezTo>
                  <a:pt x="4194984" y="0"/>
                  <a:pt x="4229100" y="34116"/>
                  <a:pt x="4229100" y="76200"/>
                </a:cubicBezTo>
                <a:lnTo>
                  <a:pt x="4229100" y="2857500"/>
                </a:lnTo>
                <a:cubicBezTo>
                  <a:pt x="4229100" y="2899584"/>
                  <a:pt x="4194984" y="2933700"/>
                  <a:pt x="4152900" y="2933700"/>
                </a:cubicBezTo>
                <a:lnTo>
                  <a:pt x="76200" y="2933700"/>
                </a:lnTo>
                <a:cubicBezTo>
                  <a:pt x="34116" y="2933700"/>
                  <a:pt x="0" y="2899584"/>
                  <a:pt x="0" y="2857500"/>
                </a:cubicBezTo>
                <a:lnTo>
                  <a:pt x="0" y="76200"/>
                </a:lnTo>
                <a:cubicBezTo>
                  <a:pt x="0" y="34116"/>
                  <a:pt x="34116" y="0"/>
                  <a:pt x="76200" y="0"/>
                </a:cubicBezTo>
                <a:close/>
              </a:path>
            </a:pathLst>
          </a:custGeom>
          <a:solidFill>
            <a:srgbClr val="F5F9FE"/>
          </a:solidFill>
          <a:ln w="9525">
            <a:solidFill>
              <a:srgbClr val="1565C0"/>
            </a:solidFill>
          </a:ln>
        </p:spPr>
      </p:sp>
      <p:sp>
        <p:nvSpPr>
          <p:cNvPr id="34" name="TextBox 34"/>
          <p:cNvSpPr txBox="1"/>
          <p:nvPr/>
        </p:nvSpPr>
        <p:spPr>
          <a:xfrm>
            <a:off x="7476020" y="1867852"/>
            <a:ext cx="2345360" cy="213360"/>
          </a:xfrm>
          <a:prstGeom prst="rect">
            <a:avLst/>
          </a:prstGeom>
          <a:noFill/>
          <a:ln>
            <a:noFill/>
          </a:ln>
        </p:spPr>
        <p:txBody>
          <a:bodyPr wrap="none" lIns="0" tIns="0" rIns="0" bIns="0" anchor="t" anchorCtr="0">
            <a:spAutoFit/>
          </a:bodyPr>
          <a:lstStyle/>
          <a:p>
            <a:pPr algn="ctr"/>
            <a:r>
              <a:rPr lang="zh-CN" sz="1050" b="1" dirty="0">
                <a:solidFill>
                  <a:srgbClr val="1565C0"/>
                </a:solidFill>
                <a:latin typeface="Arial"/>
                <a:ea typeface="Microsoft YaHei"/>
                <a:cs typeface="Arial"/>
              </a:rPr>
              <a:t>Partie 2 — AMD Ryzen 9 x86-64</a:t>
            </a:r>
          </a:p>
        </p:txBody>
      </p:sp>
      <p:sp>
        <p:nvSpPr>
          <p:cNvPr id="35" name="TextBox 35"/>
          <p:cNvSpPr txBox="1"/>
          <p:nvPr/>
        </p:nvSpPr>
        <p:spPr>
          <a:xfrm>
            <a:off x="7546967" y="2256949"/>
            <a:ext cx="2203466" cy="198120"/>
          </a:xfrm>
          <a:prstGeom prst="rect">
            <a:avLst/>
          </a:prstGeom>
          <a:noFill/>
          <a:ln>
            <a:noFill/>
          </a:ln>
        </p:spPr>
        <p:txBody>
          <a:bodyPr wrap="none" lIns="0" tIns="0" rIns="0" bIns="0" anchor="t" anchorCtr="0">
            <a:spAutoFit/>
          </a:bodyPr>
          <a:lstStyle/>
          <a:p>
            <a:pPr algn="ctr"/>
            <a:r>
              <a:rPr lang="zh-CN" sz="975" dirty="0">
                <a:solidFill>
                  <a:srgbClr val="1A2332"/>
                </a:solidFill>
                <a:latin typeface="Arial"/>
                <a:ea typeface="Microsoft YaHei"/>
                <a:cs typeface="Arial"/>
              </a:rPr>
              <a:t>opt18–19 : AoS → SoA · 216 MLUPS</a:t>
            </a:r>
          </a:p>
        </p:txBody>
      </p:sp>
      <p:sp>
        <p:nvSpPr>
          <p:cNvPr id="36" name="TextBox 36"/>
          <p:cNvSpPr txBox="1"/>
          <p:nvPr/>
        </p:nvSpPr>
        <p:spPr>
          <a:xfrm>
            <a:off x="7554087" y="2542699"/>
            <a:ext cx="2189226" cy="198120"/>
          </a:xfrm>
          <a:prstGeom prst="rect">
            <a:avLst/>
          </a:prstGeom>
          <a:noFill/>
          <a:ln>
            <a:noFill/>
          </a:ln>
        </p:spPr>
        <p:txBody>
          <a:bodyPr wrap="none" lIns="0" tIns="0" rIns="0" bIns="0" anchor="t" anchorCtr="0">
            <a:spAutoFit/>
          </a:bodyPr>
          <a:lstStyle/>
          <a:p>
            <a:pPr algn="ctr"/>
            <a:r>
              <a:rPr lang="zh-CN" sz="975" dirty="0">
                <a:solidFill>
                  <a:srgbClr val="1A2332"/>
                </a:solidFill>
                <a:latin typeface="Arial"/>
                <a:ea typeface="Microsoft YaHei"/>
                <a:cs typeface="Arial"/>
              </a:rPr>
              <a:t>opt20–22 : AVX-512 · 832 MLUPS</a:t>
            </a:r>
          </a:p>
        </p:txBody>
      </p:sp>
      <p:sp>
        <p:nvSpPr>
          <p:cNvPr id="37" name="TextBox 37"/>
          <p:cNvSpPr txBox="1"/>
          <p:nvPr/>
        </p:nvSpPr>
        <p:spPr>
          <a:xfrm>
            <a:off x="7030772" y="2828449"/>
            <a:ext cx="3235857" cy="198120"/>
          </a:xfrm>
          <a:prstGeom prst="rect">
            <a:avLst/>
          </a:prstGeom>
          <a:noFill/>
          <a:ln>
            <a:noFill/>
          </a:ln>
        </p:spPr>
        <p:txBody>
          <a:bodyPr wrap="none" lIns="0" tIns="0" rIns="0" bIns="0" anchor="t" anchorCtr="0">
            <a:spAutoFit/>
          </a:bodyPr>
          <a:lstStyle/>
          <a:p>
            <a:pPr algn="ctr"/>
            <a:r>
              <a:rPr lang="zh-CN" sz="975" dirty="0">
                <a:solidFill>
                  <a:srgbClr val="1A2332"/>
                </a:solidFill>
                <a:latin typeface="Arial"/>
                <a:ea typeface="Microsoft YaHei"/>
                <a:cs typeface="Arial"/>
              </a:rPr>
              <a:t>opt23–26 : Halo, OMP, protocole · 2047 MLUPS</a:t>
            </a:r>
          </a:p>
        </p:txBody>
      </p:sp>
      <p:sp>
        <p:nvSpPr>
          <p:cNvPr id="38" name="TextBox 38"/>
          <p:cNvSpPr txBox="1"/>
          <p:nvPr/>
        </p:nvSpPr>
        <p:spPr>
          <a:xfrm>
            <a:off x="7272849" y="3628549"/>
            <a:ext cx="2751701"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Jalons retenus : 216 → 832 → 2047 MLUPS</a:t>
            </a:r>
          </a:p>
        </p:txBody>
      </p:sp>
      <p:sp>
        <p:nvSpPr>
          <p:cNvPr id="39" name="TextBox 39"/>
          <p:cNvSpPr txBox="1"/>
          <p:nvPr/>
        </p:nvSpPr>
        <p:spPr>
          <a:xfrm>
            <a:off x="5532739" y="5724049"/>
            <a:ext cx="4766643" cy="198120"/>
          </a:xfrm>
          <a:prstGeom prst="rect">
            <a:avLst/>
          </a:prstGeom>
          <a:noFill/>
          <a:ln>
            <a:noFill/>
          </a:ln>
        </p:spPr>
        <p:txBody>
          <a:bodyPr wrap="none" lIns="0" tIns="0" rIns="0" bIns="0" anchor="t" anchorCtr="0">
            <a:spAutoFit/>
          </a:bodyPr>
          <a:lstStyle/>
          <a:p>
            <a:pPr algn="r"/>
            <a:r>
              <a:rPr lang="zh-CN" sz="975" dirty="0">
                <a:solidFill>
                  <a:srgbClr val="90A4AE"/>
                </a:solidFill>
                <a:latin typeface="Arial"/>
                <a:ea typeface="Microsoft YaHei"/>
                <a:cs typeface="Arial"/>
              </a:rPr>
              <a:t>Gain global indicatif · plateformes différentes · non iso-plateforme</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6200"/>
          </a:xfrm>
          <a:prstGeom prst="rect">
            <a:avLst/>
          </a:prstGeom>
          <a:solidFill>
            <a:srgbClr val="1565C0"/>
          </a:solidFill>
          <a:ln>
            <a:noFill/>
          </a:ln>
        </p:spPr>
      </p:sp>
      <p:sp>
        <p:nvSpPr>
          <p:cNvPr id="4" name="Rectangle 4"/>
          <p:cNvSpPr/>
          <p:nvPr/>
        </p:nvSpPr>
        <p:spPr>
          <a:xfrm>
            <a:off x="0" y="76200"/>
            <a:ext cx="12192000" cy="685800"/>
          </a:xfrm>
          <a:prstGeom prst="rect">
            <a:avLst/>
          </a:prstGeom>
          <a:solidFill>
            <a:srgbClr val="F4F7FA"/>
          </a:solidFill>
          <a:ln>
            <a:noFill/>
          </a:ln>
        </p:spPr>
      </p:sp>
      <p:sp>
        <p:nvSpPr>
          <p:cNvPr id="5" name="Line 5"/>
          <p:cNvSpPr/>
          <p:nvPr/>
        </p:nvSpPr>
        <p:spPr>
          <a:xfrm>
            <a:off x="0" y="762000"/>
            <a:ext cx="12192000" cy="9525"/>
          </a:xfrm>
          <a:custGeom>
            <a:avLst/>
            <a:gdLst/>
            <a:ahLst/>
            <a:cxnLst/>
            <a:rect l="l" t="t" r="r" b="b"/>
            <a:pathLst>
              <a:path w="12192000" h="9525">
                <a:moveTo>
                  <a:pt x="0" y="0"/>
                </a:moveTo>
                <a:lnTo>
                  <a:pt x="12192000" y="0"/>
                </a:lnTo>
              </a:path>
            </a:pathLst>
          </a:custGeom>
          <a:noFill/>
          <a:ln w="9525">
            <a:solidFill>
              <a:srgbClr val="CFD8DC"/>
            </a:solidFill>
          </a:ln>
        </p:spPr>
      </p:sp>
      <p:sp>
        <p:nvSpPr>
          <p:cNvPr id="6" name="Freeform 6"/>
          <p:cNvSpPr/>
          <p:nvPr/>
        </p:nvSpPr>
        <p:spPr>
          <a:xfrm>
            <a:off x="609600" y="228600"/>
            <a:ext cx="47625" cy="304800"/>
          </a:xfrm>
          <a:custGeom>
            <a:avLst/>
            <a:gdLst/>
            <a:ahLst/>
            <a:cxnLst/>
            <a:rect l="l" t="t" r="r" b="b"/>
            <a:pathLst>
              <a:path w="47625" h="304800">
                <a:moveTo>
                  <a:pt x="19050" y="0"/>
                </a:moveTo>
                <a:lnTo>
                  <a:pt x="28575" y="0"/>
                </a:lnTo>
                <a:cubicBezTo>
                  <a:pt x="39096" y="0"/>
                  <a:pt x="47625" y="8529"/>
                  <a:pt x="47625" y="19050"/>
                </a:cubicBezTo>
                <a:lnTo>
                  <a:pt x="47625" y="285750"/>
                </a:lnTo>
                <a:cubicBezTo>
                  <a:pt x="47625" y="296271"/>
                  <a:pt x="39096" y="304800"/>
                  <a:pt x="28575" y="304800"/>
                </a:cubicBezTo>
                <a:lnTo>
                  <a:pt x="19050" y="304800"/>
                </a:lnTo>
                <a:cubicBezTo>
                  <a:pt x="8529" y="304800"/>
                  <a:pt x="0" y="296271"/>
                  <a:pt x="0" y="285750"/>
                </a:cubicBezTo>
                <a:lnTo>
                  <a:pt x="0" y="19050"/>
                </a:lnTo>
                <a:cubicBezTo>
                  <a:pt x="0" y="8529"/>
                  <a:pt x="8529" y="0"/>
                  <a:pt x="19050" y="0"/>
                </a:cubicBezTo>
                <a:close/>
              </a:path>
            </a:pathLst>
          </a:custGeom>
          <a:solidFill>
            <a:srgbClr val="1565C0"/>
          </a:solidFill>
          <a:ln>
            <a:noFill/>
          </a:ln>
        </p:spPr>
      </p:sp>
      <p:sp>
        <p:nvSpPr>
          <p:cNvPr id="7" name="TextBox 7"/>
          <p:cNvSpPr txBox="1"/>
          <p:nvPr/>
        </p:nvSpPr>
        <p:spPr>
          <a:xfrm>
            <a:off x="741045" y="183832"/>
            <a:ext cx="3647611" cy="335280"/>
          </a:xfrm>
          <a:prstGeom prst="rect">
            <a:avLst/>
          </a:prstGeom>
          <a:noFill/>
          <a:ln>
            <a:noFill/>
          </a:ln>
        </p:spPr>
        <p:txBody>
          <a:bodyPr wrap="none" lIns="0" tIns="0" rIns="0" bIns="0" anchor="t" anchorCtr="0">
            <a:spAutoFit/>
          </a:bodyPr>
          <a:lstStyle/>
          <a:p>
            <a:pPr algn="l"/>
            <a:r>
              <a:rPr lang="zh-CN" sz="1650" b="1" dirty="0">
                <a:solidFill>
                  <a:srgbClr val="1A2332"/>
                </a:solidFill>
                <a:latin typeface="Arial"/>
                <a:ea typeface="Microsoft YaHei"/>
                <a:cs typeface="Arial"/>
              </a:rPr>
              <a:t>P1-A · Corrections de validité</a:t>
            </a:r>
          </a:p>
        </p:txBody>
      </p:sp>
      <p:sp>
        <p:nvSpPr>
          <p:cNvPr id="8" name="TextBox 8"/>
          <p:cNvSpPr txBox="1"/>
          <p:nvPr/>
        </p:nvSpPr>
        <p:spPr>
          <a:xfrm>
            <a:off x="747712" y="469106"/>
            <a:ext cx="3298269"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Arial"/>
                <a:ea typeface="Microsoft YaHei"/>
                <a:cs typeface="Arial"/>
              </a:rPr>
              <a:t>opt01–03 · Prérequis avant toute mesure</a:t>
            </a:r>
          </a:p>
        </p:txBody>
      </p:sp>
      <p:sp>
        <p:nvSpPr>
          <p:cNvPr id="9" name="Freeform 9"/>
          <p:cNvSpPr/>
          <p:nvPr/>
        </p:nvSpPr>
        <p:spPr>
          <a:xfrm>
            <a:off x="10991850" y="228600"/>
            <a:ext cx="247650" cy="171450"/>
          </a:xfrm>
          <a:custGeom>
            <a:avLst/>
            <a:gdLst/>
            <a:ahLst/>
            <a:cxnLst/>
            <a:rect l="l" t="t" r="r" b="b"/>
            <a:pathLst>
              <a:path w="247650" h="171450">
                <a:moveTo>
                  <a:pt x="38100" y="0"/>
                </a:moveTo>
                <a:lnTo>
                  <a:pt x="209550" y="0"/>
                </a:lnTo>
                <a:cubicBezTo>
                  <a:pt x="230592" y="0"/>
                  <a:pt x="247650" y="17058"/>
                  <a:pt x="247650" y="38100"/>
                </a:cubicBezTo>
                <a:lnTo>
                  <a:pt x="247650" y="133350"/>
                </a:lnTo>
                <a:cubicBezTo>
                  <a:pt x="247650" y="154392"/>
                  <a:pt x="230592" y="171450"/>
                  <a:pt x="209550" y="171450"/>
                </a:cubicBezTo>
                <a:lnTo>
                  <a:pt x="38100" y="171450"/>
                </a:lnTo>
                <a:cubicBezTo>
                  <a:pt x="17058" y="171450"/>
                  <a:pt x="0" y="154392"/>
                  <a:pt x="0" y="133350"/>
                </a:cubicBezTo>
                <a:lnTo>
                  <a:pt x="0" y="38100"/>
                </a:lnTo>
                <a:cubicBezTo>
                  <a:pt x="0" y="17058"/>
                  <a:pt x="17058" y="0"/>
                  <a:pt x="38100" y="0"/>
                </a:cubicBezTo>
                <a:close/>
              </a:path>
            </a:pathLst>
          </a:custGeom>
          <a:solidFill>
            <a:srgbClr val="1565C0"/>
          </a:solidFill>
          <a:ln>
            <a:noFill/>
          </a:ln>
        </p:spPr>
      </p:sp>
      <p:sp>
        <p:nvSpPr>
          <p:cNvPr id="10" name="TextBox 10"/>
          <p:cNvSpPr txBox="1"/>
          <p:nvPr/>
        </p:nvSpPr>
        <p:spPr>
          <a:xfrm>
            <a:off x="11051428" y="263366"/>
            <a:ext cx="128493"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P1</a:t>
            </a:r>
          </a:p>
        </p:txBody>
      </p:sp>
      <p:sp>
        <p:nvSpPr>
          <p:cNvPr id="11" name="TextBox 11"/>
          <p:cNvSpPr txBox="1"/>
          <p:nvPr/>
        </p:nvSpPr>
        <p:spPr>
          <a:xfrm>
            <a:off x="11206901" y="351949"/>
            <a:ext cx="387882" cy="198120"/>
          </a:xfrm>
          <a:prstGeom prst="rect">
            <a:avLst/>
          </a:prstGeom>
          <a:noFill/>
          <a:ln>
            <a:noFill/>
          </a:ln>
        </p:spPr>
        <p:txBody>
          <a:bodyPr wrap="none" lIns="0" tIns="0" rIns="0" bIns="0" anchor="t" anchorCtr="0">
            <a:spAutoFit/>
          </a:bodyPr>
          <a:lstStyle/>
          <a:p>
            <a:pPr algn="r"/>
            <a:r>
              <a:rPr lang="zh-CN" sz="975" dirty="0">
                <a:solidFill>
                  <a:srgbClr val="90A4AE"/>
                </a:solidFill>
                <a:latin typeface="Arial"/>
                <a:ea typeface="Microsoft YaHei"/>
                <a:cs typeface="Arial"/>
              </a:rPr>
              <a:t>4 / 13</a:t>
            </a:r>
          </a:p>
        </p:txBody>
      </p:sp>
      <p:sp>
        <p:nvSpPr>
          <p:cNvPr id="12" name="Freeform 12"/>
          <p:cNvSpPr/>
          <p:nvPr/>
        </p:nvSpPr>
        <p:spPr>
          <a:xfrm>
            <a:off x="800100" y="1047750"/>
            <a:ext cx="10591800" cy="1104900"/>
          </a:xfrm>
          <a:custGeom>
            <a:avLst/>
            <a:gdLst/>
            <a:ahLst/>
            <a:cxnLst/>
            <a:rect l="l" t="t" r="r" b="b"/>
            <a:pathLst>
              <a:path w="10591800" h="1104900">
                <a:moveTo>
                  <a:pt x="76200" y="0"/>
                </a:moveTo>
                <a:lnTo>
                  <a:pt x="10515600" y="0"/>
                </a:lnTo>
                <a:cubicBezTo>
                  <a:pt x="10557684" y="0"/>
                  <a:pt x="10591800" y="34116"/>
                  <a:pt x="10591800" y="76200"/>
                </a:cubicBezTo>
                <a:lnTo>
                  <a:pt x="10591800" y="1028700"/>
                </a:lnTo>
                <a:cubicBezTo>
                  <a:pt x="10591800" y="1070784"/>
                  <a:pt x="10557684" y="1104900"/>
                  <a:pt x="10515600" y="1104900"/>
                </a:cubicBezTo>
                <a:lnTo>
                  <a:pt x="76200" y="1104900"/>
                </a:lnTo>
                <a:cubicBezTo>
                  <a:pt x="34116" y="1104900"/>
                  <a:pt x="0" y="1070784"/>
                  <a:pt x="0" y="1028700"/>
                </a:cubicBezTo>
                <a:lnTo>
                  <a:pt x="0" y="76200"/>
                </a:lnTo>
                <a:cubicBezTo>
                  <a:pt x="0" y="34116"/>
                  <a:pt x="34116" y="0"/>
                  <a:pt x="76200" y="0"/>
                </a:cubicBezTo>
                <a:close/>
              </a:path>
            </a:pathLst>
          </a:custGeom>
          <a:solidFill>
            <a:srgbClr val="FFF7F7"/>
          </a:solidFill>
          <a:ln w="9525">
            <a:solidFill>
              <a:srgbClr val="EF5350"/>
            </a:solidFill>
          </a:ln>
        </p:spPr>
      </p:sp>
      <p:sp>
        <p:nvSpPr>
          <p:cNvPr id="13" name="Freeform 13"/>
          <p:cNvSpPr/>
          <p:nvPr/>
        </p:nvSpPr>
        <p:spPr>
          <a:xfrm>
            <a:off x="800100" y="1047750"/>
            <a:ext cx="10591800" cy="38100"/>
          </a:xfrm>
          <a:custGeom>
            <a:avLst/>
            <a:gdLst/>
            <a:ahLst/>
            <a:cxnLst/>
            <a:rect l="l" t="t" r="r" b="b"/>
            <a:pathLst>
              <a:path w="10591800" h="38100">
                <a:moveTo>
                  <a:pt x="28575" y="0"/>
                </a:moveTo>
                <a:lnTo>
                  <a:pt x="10563225" y="0"/>
                </a:lnTo>
                <a:cubicBezTo>
                  <a:pt x="10579007" y="0"/>
                  <a:pt x="10591800" y="8529"/>
                  <a:pt x="10591800" y="19050"/>
                </a:cubicBezTo>
                <a:lnTo>
                  <a:pt x="10591800" y="19050"/>
                </a:lnTo>
                <a:cubicBezTo>
                  <a:pt x="10591800" y="29571"/>
                  <a:pt x="10579007" y="38100"/>
                  <a:pt x="10563225" y="38100"/>
                </a:cubicBezTo>
                <a:lnTo>
                  <a:pt x="28575" y="38100"/>
                </a:lnTo>
                <a:cubicBezTo>
                  <a:pt x="12793" y="38100"/>
                  <a:pt x="0" y="29571"/>
                  <a:pt x="0" y="19050"/>
                </a:cubicBezTo>
                <a:lnTo>
                  <a:pt x="0" y="19050"/>
                </a:lnTo>
                <a:cubicBezTo>
                  <a:pt x="0" y="8529"/>
                  <a:pt x="12793" y="0"/>
                  <a:pt x="28575" y="0"/>
                </a:cubicBezTo>
                <a:close/>
              </a:path>
            </a:pathLst>
          </a:custGeom>
          <a:solidFill>
            <a:srgbClr val="EF5350"/>
          </a:solidFill>
          <a:ln>
            <a:noFill/>
          </a:ln>
        </p:spPr>
      </p:sp>
      <p:sp>
        <p:nvSpPr>
          <p:cNvPr id="14" name="TextBox 14"/>
          <p:cNvSpPr txBox="1"/>
          <p:nvPr/>
        </p:nvSpPr>
        <p:spPr>
          <a:xfrm>
            <a:off x="1053465" y="1201102"/>
            <a:ext cx="3069950" cy="213360"/>
          </a:xfrm>
          <a:prstGeom prst="rect">
            <a:avLst/>
          </a:prstGeom>
          <a:noFill/>
          <a:ln>
            <a:noFill/>
          </a:ln>
        </p:spPr>
        <p:txBody>
          <a:bodyPr wrap="none" lIns="0" tIns="0" rIns="0" bIns="0" anchor="t" anchorCtr="0">
            <a:spAutoFit/>
          </a:bodyPr>
          <a:lstStyle/>
          <a:p>
            <a:pPr algn="l"/>
            <a:r>
              <a:rPr lang="zh-CN" sz="1050" b="1" dirty="0">
                <a:solidFill>
                  <a:srgbClr val="EF5350"/>
                </a:solidFill>
                <a:latin typeface="Arial"/>
                <a:ea typeface="Microsoft YaHei"/>
                <a:cs typeface="Arial"/>
              </a:rPr>
              <a:t>opt01 — Suppression du nanosleep caché</a:t>
            </a:r>
          </a:p>
        </p:txBody>
      </p:sp>
      <p:sp>
        <p:nvSpPr>
          <p:cNvPr id="15" name="TextBox 15"/>
          <p:cNvSpPr txBox="1"/>
          <p:nvPr/>
        </p:nvSpPr>
        <p:spPr>
          <a:xfrm>
            <a:off x="1054418" y="1456849"/>
            <a:ext cx="6432709" cy="198120"/>
          </a:xfrm>
          <a:prstGeom prst="rect">
            <a:avLst/>
          </a:prstGeom>
          <a:noFill/>
          <a:ln>
            <a:noFill/>
          </a:ln>
        </p:spPr>
        <p:txBody>
          <a:bodyPr wrap="none" lIns="0" tIns="0" rIns="0" bIns="0" anchor="t" anchorCtr="0">
            <a:spAutoFit/>
          </a:bodyPr>
          <a:lstStyle/>
          <a:p>
            <a:pPr algn="l"/>
            <a:r>
              <a:rPr lang="zh-CN" sz="975" dirty="0">
                <a:solidFill>
                  <a:srgbClr val="546E7A"/>
                </a:solidFill>
                <a:latin typeface="Arial"/>
                <a:ea typeface="Microsoft YaHei"/>
                <a:cs typeface="Arial"/>
              </a:rPr>
              <a:t>nanosleep() encodé dans un template CMake — invoqué implicitement à chaque halo_exchange.</a:t>
            </a:r>
          </a:p>
        </p:txBody>
      </p:sp>
      <p:sp>
        <p:nvSpPr>
          <p:cNvPr id="16" name="TextBox 16"/>
          <p:cNvSpPr txBox="1"/>
          <p:nvPr/>
        </p:nvSpPr>
        <p:spPr>
          <a:xfrm>
            <a:off x="1054418" y="1647349"/>
            <a:ext cx="5742075" cy="198120"/>
          </a:xfrm>
          <a:prstGeom prst="rect">
            <a:avLst/>
          </a:prstGeom>
          <a:noFill/>
          <a:ln>
            <a:noFill/>
          </a:ln>
        </p:spPr>
        <p:txBody>
          <a:bodyPr wrap="none" lIns="0" tIns="0" rIns="0" bIns="0" anchor="t" anchorCtr="0">
            <a:spAutoFit/>
          </a:bodyPr>
          <a:lstStyle/>
          <a:p>
            <a:pPr algn="l"/>
            <a:r>
              <a:rPr lang="zh-CN" sz="975" dirty="0">
                <a:solidFill>
                  <a:srgbClr val="C62828"/>
                </a:solidFill>
                <a:latin typeface="Arial"/>
                <a:ea typeface="Microsoft YaHei"/>
                <a:cs typeface="Arial"/>
              </a:rPr>
              <a:t>Impact : 5,5 h perdues par simulation de 20 000 pas. Faussait toutes les mesures.</a:t>
            </a:r>
          </a:p>
        </p:txBody>
      </p:sp>
      <p:sp>
        <p:nvSpPr>
          <p:cNvPr id="17" name="Freeform 17"/>
          <p:cNvSpPr/>
          <p:nvPr/>
        </p:nvSpPr>
        <p:spPr>
          <a:xfrm>
            <a:off x="800100" y="2343150"/>
            <a:ext cx="10591800" cy="1104900"/>
          </a:xfrm>
          <a:custGeom>
            <a:avLst/>
            <a:gdLst/>
            <a:ahLst/>
            <a:cxnLst/>
            <a:rect l="l" t="t" r="r" b="b"/>
            <a:pathLst>
              <a:path w="10591800" h="1104900">
                <a:moveTo>
                  <a:pt x="76200" y="0"/>
                </a:moveTo>
                <a:lnTo>
                  <a:pt x="10515600" y="0"/>
                </a:lnTo>
                <a:cubicBezTo>
                  <a:pt x="10557684" y="0"/>
                  <a:pt x="10591800" y="34116"/>
                  <a:pt x="10591800" y="76200"/>
                </a:cubicBezTo>
                <a:lnTo>
                  <a:pt x="10591800" y="1028700"/>
                </a:lnTo>
                <a:cubicBezTo>
                  <a:pt x="10591800" y="1070784"/>
                  <a:pt x="10557684" y="1104900"/>
                  <a:pt x="10515600" y="1104900"/>
                </a:cubicBezTo>
                <a:lnTo>
                  <a:pt x="76200" y="1104900"/>
                </a:lnTo>
                <a:cubicBezTo>
                  <a:pt x="34116" y="1104900"/>
                  <a:pt x="0" y="1070784"/>
                  <a:pt x="0" y="1028700"/>
                </a:cubicBezTo>
                <a:lnTo>
                  <a:pt x="0" y="76200"/>
                </a:lnTo>
                <a:cubicBezTo>
                  <a:pt x="0" y="34116"/>
                  <a:pt x="34116" y="0"/>
                  <a:pt x="76200" y="0"/>
                </a:cubicBezTo>
                <a:close/>
              </a:path>
            </a:pathLst>
          </a:custGeom>
          <a:solidFill>
            <a:srgbClr val="FFF7F7"/>
          </a:solidFill>
          <a:ln w="9525">
            <a:solidFill>
              <a:srgbClr val="EF5350"/>
            </a:solidFill>
          </a:ln>
        </p:spPr>
      </p:sp>
      <p:sp>
        <p:nvSpPr>
          <p:cNvPr id="18" name="Freeform 18"/>
          <p:cNvSpPr/>
          <p:nvPr/>
        </p:nvSpPr>
        <p:spPr>
          <a:xfrm>
            <a:off x="800100" y="2343150"/>
            <a:ext cx="10591800" cy="38100"/>
          </a:xfrm>
          <a:custGeom>
            <a:avLst/>
            <a:gdLst/>
            <a:ahLst/>
            <a:cxnLst/>
            <a:rect l="l" t="t" r="r" b="b"/>
            <a:pathLst>
              <a:path w="10591800" h="38100">
                <a:moveTo>
                  <a:pt x="28575" y="0"/>
                </a:moveTo>
                <a:lnTo>
                  <a:pt x="10563225" y="0"/>
                </a:lnTo>
                <a:cubicBezTo>
                  <a:pt x="10579007" y="0"/>
                  <a:pt x="10591800" y="8529"/>
                  <a:pt x="10591800" y="19050"/>
                </a:cubicBezTo>
                <a:lnTo>
                  <a:pt x="10591800" y="19050"/>
                </a:lnTo>
                <a:cubicBezTo>
                  <a:pt x="10591800" y="29571"/>
                  <a:pt x="10579007" y="38100"/>
                  <a:pt x="10563225" y="38100"/>
                </a:cubicBezTo>
                <a:lnTo>
                  <a:pt x="28575" y="38100"/>
                </a:lnTo>
                <a:cubicBezTo>
                  <a:pt x="12793" y="38100"/>
                  <a:pt x="0" y="29571"/>
                  <a:pt x="0" y="19050"/>
                </a:cubicBezTo>
                <a:lnTo>
                  <a:pt x="0" y="19050"/>
                </a:lnTo>
                <a:cubicBezTo>
                  <a:pt x="0" y="8529"/>
                  <a:pt x="12793" y="0"/>
                  <a:pt x="28575" y="0"/>
                </a:cubicBezTo>
                <a:close/>
              </a:path>
            </a:pathLst>
          </a:custGeom>
          <a:solidFill>
            <a:srgbClr val="EF5350"/>
          </a:solidFill>
          <a:ln>
            <a:noFill/>
          </a:ln>
        </p:spPr>
      </p:sp>
      <p:sp>
        <p:nvSpPr>
          <p:cNvPr id="19" name="TextBox 19"/>
          <p:cNvSpPr txBox="1"/>
          <p:nvPr/>
        </p:nvSpPr>
        <p:spPr>
          <a:xfrm>
            <a:off x="1053465" y="2496502"/>
            <a:ext cx="3094103" cy="213360"/>
          </a:xfrm>
          <a:prstGeom prst="rect">
            <a:avLst/>
          </a:prstGeom>
          <a:noFill/>
          <a:ln>
            <a:noFill/>
          </a:ln>
        </p:spPr>
        <p:txBody>
          <a:bodyPr wrap="none" lIns="0" tIns="0" rIns="0" bIns="0" anchor="t" anchorCtr="0">
            <a:spAutoFit/>
          </a:bodyPr>
          <a:lstStyle/>
          <a:p>
            <a:pPr algn="l"/>
            <a:r>
              <a:rPr lang="zh-CN" sz="1050" b="1" dirty="0">
                <a:solidFill>
                  <a:srgbClr val="EF5350"/>
                </a:solidFill>
                <a:latin typeface="Arial"/>
                <a:ea typeface="Microsoft YaHei"/>
                <a:cs typeface="Arial"/>
              </a:rPr>
              <a:t>opt02 — Correction de la formule MLUPS</a:t>
            </a:r>
          </a:p>
        </p:txBody>
      </p:sp>
      <p:sp>
        <p:nvSpPr>
          <p:cNvPr id="20" name="TextBox 20"/>
          <p:cNvSpPr txBox="1"/>
          <p:nvPr/>
        </p:nvSpPr>
        <p:spPr>
          <a:xfrm>
            <a:off x="1054418" y="2752249"/>
            <a:ext cx="4830723" cy="198120"/>
          </a:xfrm>
          <a:prstGeom prst="rect">
            <a:avLst/>
          </a:prstGeom>
          <a:noFill/>
          <a:ln>
            <a:noFill/>
          </a:ln>
        </p:spPr>
        <p:txBody>
          <a:bodyPr wrap="none" lIns="0" tIns="0" rIns="0" bIns="0" anchor="t" anchorCtr="0">
            <a:spAutoFit/>
          </a:bodyPr>
          <a:lstStyle/>
          <a:p>
            <a:pPr algn="l"/>
            <a:r>
              <a:rPr lang="zh-CN" sz="975" dirty="0">
                <a:solidFill>
                  <a:srgbClr val="546E7A"/>
                </a:solidFill>
                <a:latin typeface="Arial"/>
                <a:ea typeface="Microsoft YaHei"/>
                <a:cs typeface="Arial"/>
              </a:rPr>
              <a:t>Formule surestimait le FOM d'un facteur 4 en mode multi-processus.</a:t>
            </a:r>
          </a:p>
        </p:txBody>
      </p:sp>
      <p:sp>
        <p:nvSpPr>
          <p:cNvPr id="21" name="TextBox 21"/>
          <p:cNvSpPr txBox="1"/>
          <p:nvPr/>
        </p:nvSpPr>
        <p:spPr>
          <a:xfrm>
            <a:off x="1054418" y="2942749"/>
            <a:ext cx="5884474" cy="198120"/>
          </a:xfrm>
          <a:prstGeom prst="rect">
            <a:avLst/>
          </a:prstGeom>
          <a:noFill/>
          <a:ln>
            <a:noFill/>
          </a:ln>
        </p:spPr>
        <p:txBody>
          <a:bodyPr wrap="none" lIns="0" tIns="0" rIns="0" bIns="0" anchor="t" anchorCtr="0">
            <a:spAutoFit/>
          </a:bodyPr>
          <a:lstStyle/>
          <a:p>
            <a:pPr algn="l"/>
            <a:r>
              <a:rPr lang="zh-CN" sz="975" dirty="0">
                <a:solidFill>
                  <a:srgbClr val="C62828"/>
                </a:solidFill>
                <a:latin typeface="Arial"/>
                <a:ea typeface="Microsoft YaHei"/>
                <a:cs typeface="Arial"/>
              </a:rPr>
              <a:t>Impact : les mesures multi-rang semblaient plus rapides — masquait le coût MPI réel.</a:t>
            </a:r>
          </a:p>
        </p:txBody>
      </p:sp>
      <p:sp>
        <p:nvSpPr>
          <p:cNvPr id="22" name="Freeform 22"/>
          <p:cNvSpPr/>
          <p:nvPr/>
        </p:nvSpPr>
        <p:spPr>
          <a:xfrm>
            <a:off x="800100" y="3638550"/>
            <a:ext cx="10591800" cy="1104900"/>
          </a:xfrm>
          <a:custGeom>
            <a:avLst/>
            <a:gdLst/>
            <a:ahLst/>
            <a:cxnLst/>
            <a:rect l="l" t="t" r="r" b="b"/>
            <a:pathLst>
              <a:path w="10591800" h="1104900">
                <a:moveTo>
                  <a:pt x="76200" y="0"/>
                </a:moveTo>
                <a:lnTo>
                  <a:pt x="10515600" y="0"/>
                </a:lnTo>
                <a:cubicBezTo>
                  <a:pt x="10557684" y="0"/>
                  <a:pt x="10591800" y="34116"/>
                  <a:pt x="10591800" y="76200"/>
                </a:cubicBezTo>
                <a:lnTo>
                  <a:pt x="10591800" y="1028700"/>
                </a:lnTo>
                <a:cubicBezTo>
                  <a:pt x="10591800" y="1070784"/>
                  <a:pt x="10557684" y="1104900"/>
                  <a:pt x="10515600" y="1104900"/>
                </a:cubicBezTo>
                <a:lnTo>
                  <a:pt x="76200" y="1104900"/>
                </a:lnTo>
                <a:cubicBezTo>
                  <a:pt x="34116" y="1104900"/>
                  <a:pt x="0" y="1070784"/>
                  <a:pt x="0" y="1028700"/>
                </a:cubicBezTo>
                <a:lnTo>
                  <a:pt x="0" y="76200"/>
                </a:lnTo>
                <a:cubicBezTo>
                  <a:pt x="0" y="34116"/>
                  <a:pt x="34116" y="0"/>
                  <a:pt x="76200" y="0"/>
                </a:cubicBezTo>
                <a:close/>
              </a:path>
            </a:pathLst>
          </a:custGeom>
          <a:solidFill>
            <a:srgbClr val="FFF7F7"/>
          </a:solidFill>
          <a:ln w="9525">
            <a:solidFill>
              <a:srgbClr val="EF5350"/>
            </a:solidFill>
          </a:ln>
        </p:spPr>
      </p:sp>
      <p:sp>
        <p:nvSpPr>
          <p:cNvPr id="23" name="Freeform 23"/>
          <p:cNvSpPr/>
          <p:nvPr/>
        </p:nvSpPr>
        <p:spPr>
          <a:xfrm>
            <a:off x="800100" y="3638550"/>
            <a:ext cx="10591800" cy="38100"/>
          </a:xfrm>
          <a:custGeom>
            <a:avLst/>
            <a:gdLst/>
            <a:ahLst/>
            <a:cxnLst/>
            <a:rect l="l" t="t" r="r" b="b"/>
            <a:pathLst>
              <a:path w="10591800" h="38100">
                <a:moveTo>
                  <a:pt x="28575" y="0"/>
                </a:moveTo>
                <a:lnTo>
                  <a:pt x="10563225" y="0"/>
                </a:lnTo>
                <a:cubicBezTo>
                  <a:pt x="10579007" y="0"/>
                  <a:pt x="10591800" y="8529"/>
                  <a:pt x="10591800" y="19050"/>
                </a:cubicBezTo>
                <a:lnTo>
                  <a:pt x="10591800" y="19050"/>
                </a:lnTo>
                <a:cubicBezTo>
                  <a:pt x="10591800" y="29571"/>
                  <a:pt x="10579007" y="38100"/>
                  <a:pt x="10563225" y="38100"/>
                </a:cubicBezTo>
                <a:lnTo>
                  <a:pt x="28575" y="38100"/>
                </a:lnTo>
                <a:cubicBezTo>
                  <a:pt x="12793" y="38100"/>
                  <a:pt x="0" y="29571"/>
                  <a:pt x="0" y="19050"/>
                </a:cubicBezTo>
                <a:lnTo>
                  <a:pt x="0" y="19050"/>
                </a:lnTo>
                <a:cubicBezTo>
                  <a:pt x="0" y="8529"/>
                  <a:pt x="12793" y="0"/>
                  <a:pt x="28575" y="0"/>
                </a:cubicBezTo>
                <a:close/>
              </a:path>
            </a:pathLst>
          </a:custGeom>
          <a:solidFill>
            <a:srgbClr val="EF5350"/>
          </a:solidFill>
          <a:ln>
            <a:noFill/>
          </a:ln>
        </p:spPr>
      </p:sp>
      <p:sp>
        <p:nvSpPr>
          <p:cNvPr id="24" name="TextBox 24"/>
          <p:cNvSpPr txBox="1"/>
          <p:nvPr/>
        </p:nvSpPr>
        <p:spPr>
          <a:xfrm>
            <a:off x="1053465" y="3791902"/>
            <a:ext cx="3512756" cy="213360"/>
          </a:xfrm>
          <a:prstGeom prst="rect">
            <a:avLst/>
          </a:prstGeom>
          <a:noFill/>
          <a:ln>
            <a:noFill/>
          </a:ln>
        </p:spPr>
        <p:txBody>
          <a:bodyPr wrap="none" lIns="0" tIns="0" rIns="0" bIns="0" anchor="t" anchorCtr="0">
            <a:spAutoFit/>
          </a:bodyPr>
          <a:lstStyle/>
          <a:p>
            <a:pPr algn="l"/>
            <a:r>
              <a:rPr lang="zh-CN" sz="1050" b="1" dirty="0">
                <a:solidFill>
                  <a:srgbClr val="EF5350"/>
                </a:solidFill>
                <a:latin typeface="Arial"/>
                <a:ea typeface="Microsoft YaHei"/>
                <a:cs typeface="Arial"/>
              </a:rPr>
              <a:t>opt03 — Correction des tailles MPI send/recv</a:t>
            </a:r>
          </a:p>
        </p:txBody>
      </p:sp>
      <p:sp>
        <p:nvSpPr>
          <p:cNvPr id="25" name="TextBox 25"/>
          <p:cNvSpPr txBox="1"/>
          <p:nvPr/>
        </p:nvSpPr>
        <p:spPr>
          <a:xfrm>
            <a:off x="1054418" y="4047649"/>
            <a:ext cx="5891593" cy="198120"/>
          </a:xfrm>
          <a:prstGeom prst="rect">
            <a:avLst/>
          </a:prstGeom>
          <a:noFill/>
          <a:ln>
            <a:noFill/>
          </a:ln>
        </p:spPr>
        <p:txBody>
          <a:bodyPr wrap="none" lIns="0" tIns="0" rIns="0" bIns="0" anchor="t" anchorCtr="0">
            <a:spAutoFit/>
          </a:bodyPr>
          <a:lstStyle/>
          <a:p>
            <a:pPr algn="l"/>
            <a:r>
              <a:rPr lang="zh-CN" sz="975" dirty="0">
                <a:solidFill>
                  <a:srgbClr val="546E7A"/>
                </a:solidFill>
                <a:latin typeface="Arial"/>
                <a:ea typeface="Microsoft YaHei"/>
                <a:cs typeface="Arial"/>
              </a:rPr>
              <a:t>Incohérence entre les tailles d'envoi et de réception dans halo_exchange — corrigée.</a:t>
            </a:r>
          </a:p>
        </p:txBody>
      </p:sp>
      <p:sp>
        <p:nvSpPr>
          <p:cNvPr id="26" name="TextBox 26"/>
          <p:cNvSpPr txBox="1"/>
          <p:nvPr/>
        </p:nvSpPr>
        <p:spPr>
          <a:xfrm>
            <a:off x="1054418" y="4238149"/>
            <a:ext cx="6902625" cy="198120"/>
          </a:xfrm>
          <a:prstGeom prst="rect">
            <a:avLst/>
          </a:prstGeom>
          <a:noFill/>
          <a:ln>
            <a:noFill/>
          </a:ln>
        </p:spPr>
        <p:txBody>
          <a:bodyPr wrap="none" lIns="0" tIns="0" rIns="0" bIns="0" anchor="t" anchorCtr="0">
            <a:spAutoFit/>
          </a:bodyPr>
          <a:lstStyle/>
          <a:p>
            <a:pPr algn="l"/>
            <a:r>
              <a:rPr lang="zh-CN" sz="975" dirty="0">
                <a:solidFill>
                  <a:srgbClr val="546E7A"/>
                </a:solidFill>
                <a:latin typeface="Arial"/>
                <a:ea typeface="Microsoft YaHei"/>
                <a:cs typeface="Arial"/>
              </a:rPr>
              <a:t>Évite des échanges halo erronés et des comportements indéfinis sur implémentations MPI strictes.</a:t>
            </a:r>
          </a:p>
        </p:txBody>
      </p:sp>
      <p:sp>
        <p:nvSpPr>
          <p:cNvPr id="27" name="Freeform 27"/>
          <p:cNvSpPr/>
          <p:nvPr/>
        </p:nvSpPr>
        <p:spPr>
          <a:xfrm>
            <a:off x="800100" y="5029200"/>
            <a:ext cx="10591800" cy="304800"/>
          </a:xfrm>
          <a:custGeom>
            <a:avLst/>
            <a:gdLst/>
            <a:ahLst/>
            <a:cxnLst/>
            <a:rect l="l" t="t" r="r" b="b"/>
            <a:pathLst>
              <a:path w="10591800" h="304800">
                <a:moveTo>
                  <a:pt x="57150" y="0"/>
                </a:moveTo>
                <a:lnTo>
                  <a:pt x="10534650" y="0"/>
                </a:lnTo>
                <a:cubicBezTo>
                  <a:pt x="10566213" y="0"/>
                  <a:pt x="10591800" y="25587"/>
                  <a:pt x="10591800" y="57150"/>
                </a:cubicBezTo>
                <a:lnTo>
                  <a:pt x="10591800" y="247650"/>
                </a:lnTo>
                <a:cubicBezTo>
                  <a:pt x="10591800" y="279213"/>
                  <a:pt x="10566213" y="304800"/>
                  <a:pt x="10534650" y="304800"/>
                </a:cubicBezTo>
                <a:lnTo>
                  <a:pt x="57150" y="304800"/>
                </a:lnTo>
                <a:cubicBezTo>
                  <a:pt x="25587" y="304800"/>
                  <a:pt x="0" y="279213"/>
                  <a:pt x="0" y="247650"/>
                </a:cubicBezTo>
                <a:lnTo>
                  <a:pt x="0" y="57150"/>
                </a:lnTo>
                <a:cubicBezTo>
                  <a:pt x="0" y="25587"/>
                  <a:pt x="25587" y="0"/>
                  <a:pt x="57150" y="0"/>
                </a:cubicBezTo>
                <a:close/>
              </a:path>
            </a:pathLst>
          </a:custGeom>
          <a:solidFill>
            <a:srgbClr val="1565C0"/>
          </a:solidFill>
          <a:ln>
            <a:noFill/>
          </a:ln>
        </p:spPr>
      </p:sp>
      <p:sp>
        <p:nvSpPr>
          <p:cNvPr id="28" name="TextBox 28"/>
          <p:cNvSpPr txBox="1"/>
          <p:nvPr/>
        </p:nvSpPr>
        <p:spPr>
          <a:xfrm>
            <a:off x="4375852" y="5115878"/>
            <a:ext cx="344029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Référence validée : 60 MLUPS (np=1, OMP=1)</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6200"/>
          </a:xfrm>
          <a:prstGeom prst="rect">
            <a:avLst/>
          </a:prstGeom>
          <a:solidFill>
            <a:srgbClr val="1565C0"/>
          </a:solidFill>
          <a:ln>
            <a:noFill/>
          </a:ln>
        </p:spPr>
      </p:sp>
      <p:sp>
        <p:nvSpPr>
          <p:cNvPr id="4" name="Rectangle 4"/>
          <p:cNvSpPr/>
          <p:nvPr/>
        </p:nvSpPr>
        <p:spPr>
          <a:xfrm>
            <a:off x="0" y="76200"/>
            <a:ext cx="12192000" cy="685800"/>
          </a:xfrm>
          <a:prstGeom prst="rect">
            <a:avLst/>
          </a:prstGeom>
          <a:solidFill>
            <a:srgbClr val="F4F7FA"/>
          </a:solidFill>
          <a:ln>
            <a:noFill/>
          </a:ln>
        </p:spPr>
      </p:sp>
      <p:sp>
        <p:nvSpPr>
          <p:cNvPr id="5" name="Line 5"/>
          <p:cNvSpPr/>
          <p:nvPr/>
        </p:nvSpPr>
        <p:spPr>
          <a:xfrm>
            <a:off x="0" y="762000"/>
            <a:ext cx="12192000" cy="9525"/>
          </a:xfrm>
          <a:custGeom>
            <a:avLst/>
            <a:gdLst/>
            <a:ahLst/>
            <a:cxnLst/>
            <a:rect l="l" t="t" r="r" b="b"/>
            <a:pathLst>
              <a:path w="12192000" h="9525">
                <a:moveTo>
                  <a:pt x="0" y="0"/>
                </a:moveTo>
                <a:lnTo>
                  <a:pt x="12192000" y="0"/>
                </a:lnTo>
              </a:path>
            </a:pathLst>
          </a:custGeom>
          <a:noFill/>
          <a:ln w="9525">
            <a:solidFill>
              <a:srgbClr val="CFD8DC"/>
            </a:solidFill>
          </a:ln>
        </p:spPr>
      </p:sp>
      <p:sp>
        <p:nvSpPr>
          <p:cNvPr id="6" name="Freeform 6"/>
          <p:cNvSpPr/>
          <p:nvPr/>
        </p:nvSpPr>
        <p:spPr>
          <a:xfrm>
            <a:off x="609600" y="228600"/>
            <a:ext cx="47625" cy="304800"/>
          </a:xfrm>
          <a:custGeom>
            <a:avLst/>
            <a:gdLst/>
            <a:ahLst/>
            <a:cxnLst/>
            <a:rect l="l" t="t" r="r" b="b"/>
            <a:pathLst>
              <a:path w="47625" h="304800">
                <a:moveTo>
                  <a:pt x="19050" y="0"/>
                </a:moveTo>
                <a:lnTo>
                  <a:pt x="28575" y="0"/>
                </a:lnTo>
                <a:cubicBezTo>
                  <a:pt x="39096" y="0"/>
                  <a:pt x="47625" y="8529"/>
                  <a:pt x="47625" y="19050"/>
                </a:cubicBezTo>
                <a:lnTo>
                  <a:pt x="47625" y="285750"/>
                </a:lnTo>
                <a:cubicBezTo>
                  <a:pt x="47625" y="296271"/>
                  <a:pt x="39096" y="304800"/>
                  <a:pt x="28575" y="304800"/>
                </a:cubicBezTo>
                <a:lnTo>
                  <a:pt x="19050" y="304800"/>
                </a:lnTo>
                <a:cubicBezTo>
                  <a:pt x="8529" y="304800"/>
                  <a:pt x="0" y="296271"/>
                  <a:pt x="0" y="285750"/>
                </a:cubicBezTo>
                <a:lnTo>
                  <a:pt x="0" y="19050"/>
                </a:lnTo>
                <a:cubicBezTo>
                  <a:pt x="0" y="8529"/>
                  <a:pt x="8529" y="0"/>
                  <a:pt x="19050" y="0"/>
                </a:cubicBezTo>
                <a:close/>
              </a:path>
            </a:pathLst>
          </a:custGeom>
          <a:solidFill>
            <a:srgbClr val="1565C0"/>
          </a:solidFill>
          <a:ln>
            <a:noFill/>
          </a:ln>
        </p:spPr>
      </p:sp>
      <p:sp>
        <p:nvSpPr>
          <p:cNvPr id="7" name="TextBox 7"/>
          <p:cNvSpPr txBox="1"/>
          <p:nvPr/>
        </p:nvSpPr>
        <p:spPr>
          <a:xfrm>
            <a:off x="741045" y="183832"/>
            <a:ext cx="3483140" cy="335280"/>
          </a:xfrm>
          <a:prstGeom prst="rect">
            <a:avLst/>
          </a:prstGeom>
          <a:noFill/>
          <a:ln>
            <a:noFill/>
          </a:ln>
        </p:spPr>
        <p:txBody>
          <a:bodyPr wrap="none" lIns="0" tIns="0" rIns="0" bIns="0" anchor="t" anchorCtr="0">
            <a:spAutoFit/>
          </a:bodyPr>
          <a:lstStyle/>
          <a:p>
            <a:pPr algn="l"/>
            <a:r>
              <a:rPr lang="zh-CN" sz="1650" b="1" dirty="0">
                <a:solidFill>
                  <a:srgbClr val="1A2332"/>
                </a:solidFill>
                <a:latin typeface="Arial"/>
                <a:ea typeface="Microsoft YaHei"/>
                <a:cs typeface="Arial"/>
              </a:rPr>
              <a:t>P1-B · Réduction latence MPI</a:t>
            </a:r>
          </a:p>
        </p:txBody>
      </p:sp>
      <p:sp>
        <p:nvSpPr>
          <p:cNvPr id="8" name="TextBox 8"/>
          <p:cNvSpPr txBox="1"/>
          <p:nvPr/>
        </p:nvSpPr>
        <p:spPr>
          <a:xfrm>
            <a:off x="747712" y="469106"/>
            <a:ext cx="3807619"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Arial"/>
                <a:ea typeface="Microsoft YaHei"/>
                <a:cs typeface="Arial"/>
              </a:rPr>
              <a:t>opt04–08 · Le coût MPI = latence, pas le volume</a:t>
            </a:r>
          </a:p>
        </p:txBody>
      </p:sp>
      <p:sp>
        <p:nvSpPr>
          <p:cNvPr id="9" name="Freeform 9"/>
          <p:cNvSpPr/>
          <p:nvPr/>
        </p:nvSpPr>
        <p:spPr>
          <a:xfrm>
            <a:off x="10991850" y="228600"/>
            <a:ext cx="247650" cy="171450"/>
          </a:xfrm>
          <a:custGeom>
            <a:avLst/>
            <a:gdLst/>
            <a:ahLst/>
            <a:cxnLst/>
            <a:rect l="l" t="t" r="r" b="b"/>
            <a:pathLst>
              <a:path w="247650" h="171450">
                <a:moveTo>
                  <a:pt x="38100" y="0"/>
                </a:moveTo>
                <a:lnTo>
                  <a:pt x="209550" y="0"/>
                </a:lnTo>
                <a:cubicBezTo>
                  <a:pt x="230592" y="0"/>
                  <a:pt x="247650" y="17058"/>
                  <a:pt x="247650" y="38100"/>
                </a:cubicBezTo>
                <a:lnTo>
                  <a:pt x="247650" y="133350"/>
                </a:lnTo>
                <a:cubicBezTo>
                  <a:pt x="247650" y="154392"/>
                  <a:pt x="230592" y="171450"/>
                  <a:pt x="209550" y="171450"/>
                </a:cubicBezTo>
                <a:lnTo>
                  <a:pt x="38100" y="171450"/>
                </a:lnTo>
                <a:cubicBezTo>
                  <a:pt x="17058" y="171450"/>
                  <a:pt x="0" y="154392"/>
                  <a:pt x="0" y="133350"/>
                </a:cubicBezTo>
                <a:lnTo>
                  <a:pt x="0" y="38100"/>
                </a:lnTo>
                <a:cubicBezTo>
                  <a:pt x="0" y="17058"/>
                  <a:pt x="17058" y="0"/>
                  <a:pt x="38100" y="0"/>
                </a:cubicBezTo>
                <a:close/>
              </a:path>
            </a:pathLst>
          </a:custGeom>
          <a:solidFill>
            <a:srgbClr val="1565C0"/>
          </a:solidFill>
          <a:ln>
            <a:noFill/>
          </a:ln>
        </p:spPr>
      </p:sp>
      <p:sp>
        <p:nvSpPr>
          <p:cNvPr id="10" name="TextBox 10"/>
          <p:cNvSpPr txBox="1"/>
          <p:nvPr/>
        </p:nvSpPr>
        <p:spPr>
          <a:xfrm>
            <a:off x="11051428" y="263366"/>
            <a:ext cx="128493"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P1</a:t>
            </a:r>
          </a:p>
        </p:txBody>
      </p:sp>
      <p:sp>
        <p:nvSpPr>
          <p:cNvPr id="11" name="TextBox 11"/>
          <p:cNvSpPr txBox="1"/>
          <p:nvPr/>
        </p:nvSpPr>
        <p:spPr>
          <a:xfrm>
            <a:off x="11206901" y="351949"/>
            <a:ext cx="387882" cy="198120"/>
          </a:xfrm>
          <a:prstGeom prst="rect">
            <a:avLst/>
          </a:prstGeom>
          <a:noFill/>
          <a:ln>
            <a:noFill/>
          </a:ln>
        </p:spPr>
        <p:txBody>
          <a:bodyPr wrap="none" lIns="0" tIns="0" rIns="0" bIns="0" anchor="t" anchorCtr="0">
            <a:spAutoFit/>
          </a:bodyPr>
          <a:lstStyle/>
          <a:p>
            <a:pPr algn="r"/>
            <a:r>
              <a:rPr lang="zh-CN" sz="975" dirty="0">
                <a:solidFill>
                  <a:srgbClr val="90A4AE"/>
                </a:solidFill>
                <a:latin typeface="Arial"/>
                <a:ea typeface="Microsoft YaHei"/>
                <a:cs typeface="Arial"/>
              </a:rPr>
              <a:t>5 / 13</a:t>
            </a:r>
          </a:p>
        </p:txBody>
      </p:sp>
      <p:sp>
        <p:nvSpPr>
          <p:cNvPr id="12" name="Freeform 12"/>
          <p:cNvSpPr/>
          <p:nvPr/>
        </p:nvSpPr>
        <p:spPr>
          <a:xfrm>
            <a:off x="800100" y="952500"/>
            <a:ext cx="10591800" cy="495300"/>
          </a:xfrm>
          <a:custGeom>
            <a:avLst/>
            <a:gdLst/>
            <a:ahLst/>
            <a:cxnLst/>
            <a:rect l="l" t="t" r="r" b="b"/>
            <a:pathLst>
              <a:path w="10591800" h="495300">
                <a:moveTo>
                  <a:pt x="57150" y="0"/>
                </a:moveTo>
                <a:lnTo>
                  <a:pt x="10534650" y="0"/>
                </a:lnTo>
                <a:cubicBezTo>
                  <a:pt x="10566213" y="0"/>
                  <a:pt x="10591800" y="25587"/>
                  <a:pt x="10591800" y="57150"/>
                </a:cubicBezTo>
                <a:lnTo>
                  <a:pt x="10591800" y="438150"/>
                </a:lnTo>
                <a:cubicBezTo>
                  <a:pt x="10591800" y="469713"/>
                  <a:pt x="10566213" y="495300"/>
                  <a:pt x="10534650" y="495300"/>
                </a:cubicBezTo>
                <a:lnTo>
                  <a:pt x="57150" y="495300"/>
                </a:lnTo>
                <a:cubicBezTo>
                  <a:pt x="25587" y="495300"/>
                  <a:pt x="0" y="469713"/>
                  <a:pt x="0" y="438150"/>
                </a:cubicBezTo>
                <a:lnTo>
                  <a:pt x="0" y="57150"/>
                </a:lnTo>
                <a:cubicBezTo>
                  <a:pt x="0" y="25587"/>
                  <a:pt x="25587" y="0"/>
                  <a:pt x="57150" y="0"/>
                </a:cubicBezTo>
                <a:close/>
              </a:path>
            </a:pathLst>
          </a:custGeom>
          <a:solidFill>
            <a:srgbClr val="FFF7EF"/>
          </a:solidFill>
          <a:ln w="9525">
            <a:solidFill>
              <a:srgbClr val="E65100"/>
            </a:solidFill>
          </a:ln>
        </p:spPr>
      </p:sp>
      <p:sp>
        <p:nvSpPr>
          <p:cNvPr id="13" name="TextBox 13"/>
          <p:cNvSpPr txBox="1"/>
          <p:nvPr/>
        </p:nvSpPr>
        <p:spPr>
          <a:xfrm>
            <a:off x="3840460" y="1067752"/>
            <a:ext cx="4511080" cy="213360"/>
          </a:xfrm>
          <a:prstGeom prst="rect">
            <a:avLst/>
          </a:prstGeom>
          <a:noFill/>
          <a:ln>
            <a:noFill/>
          </a:ln>
        </p:spPr>
        <p:txBody>
          <a:bodyPr wrap="none" lIns="0" tIns="0" rIns="0" bIns="0" anchor="t" anchorCtr="0">
            <a:spAutoFit/>
          </a:bodyPr>
          <a:lstStyle/>
          <a:p>
            <a:pPr algn="ctr"/>
            <a:r>
              <a:rPr lang="zh-CN" sz="1050" b="1" dirty="0">
                <a:solidFill>
                  <a:srgbClr val="E65100"/>
                </a:solidFill>
                <a:latin typeface="Arial"/>
                <a:ea typeface="Microsoft YaHei"/>
                <a:cs typeface="Arial"/>
              </a:rPr>
              <a:t>12 barrières supprimées · 80→1 horizontal · 798→1 vertical</a:t>
            </a:r>
          </a:p>
        </p:txBody>
      </p:sp>
      <p:sp>
        <p:nvSpPr>
          <p:cNvPr id="14" name="TextBox 14"/>
          <p:cNvSpPr txBox="1"/>
          <p:nvPr/>
        </p:nvSpPr>
        <p:spPr>
          <a:xfrm>
            <a:off x="2641128" y="1266349"/>
            <a:ext cx="6909745"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Insight clé : le coût MPI vient de la latence de démarrage de chaque appel, pas du volume de données</a:t>
            </a:r>
          </a:p>
        </p:txBody>
      </p:sp>
      <p:sp>
        <p:nvSpPr>
          <p:cNvPr id="15" name="Freeform 15"/>
          <p:cNvSpPr/>
          <p:nvPr/>
        </p:nvSpPr>
        <p:spPr>
          <a:xfrm>
            <a:off x="1143000" y="1676400"/>
            <a:ext cx="4000500" cy="2933700"/>
          </a:xfrm>
          <a:custGeom>
            <a:avLst/>
            <a:gdLst/>
            <a:ahLst/>
            <a:cxnLst/>
            <a:rect l="l" t="t" r="r" b="b"/>
            <a:pathLst>
              <a:path w="4000500" h="2933700">
                <a:moveTo>
                  <a:pt x="76200" y="0"/>
                </a:moveTo>
                <a:lnTo>
                  <a:pt x="3924300" y="0"/>
                </a:lnTo>
                <a:cubicBezTo>
                  <a:pt x="3966384" y="0"/>
                  <a:pt x="4000500" y="34116"/>
                  <a:pt x="4000500" y="76200"/>
                </a:cubicBezTo>
                <a:lnTo>
                  <a:pt x="4000500" y="2857500"/>
                </a:lnTo>
                <a:cubicBezTo>
                  <a:pt x="4000500" y="2899584"/>
                  <a:pt x="3966384" y="2933700"/>
                  <a:pt x="3924300" y="2933700"/>
                </a:cubicBezTo>
                <a:lnTo>
                  <a:pt x="76200" y="2933700"/>
                </a:lnTo>
                <a:cubicBezTo>
                  <a:pt x="34116" y="2933700"/>
                  <a:pt x="0" y="2899584"/>
                  <a:pt x="0" y="2857500"/>
                </a:cubicBezTo>
                <a:lnTo>
                  <a:pt x="0" y="76200"/>
                </a:lnTo>
                <a:cubicBezTo>
                  <a:pt x="0" y="34116"/>
                  <a:pt x="34116" y="0"/>
                  <a:pt x="76200" y="0"/>
                </a:cubicBezTo>
                <a:close/>
              </a:path>
            </a:pathLst>
          </a:custGeom>
          <a:solidFill>
            <a:srgbClr val="FFF5F5"/>
          </a:solidFill>
          <a:ln w="9525">
            <a:solidFill>
              <a:srgbClr val="EF5350"/>
            </a:solidFill>
          </a:ln>
        </p:spPr>
      </p:sp>
      <p:sp>
        <p:nvSpPr>
          <p:cNvPr id="16" name="Freeform 16"/>
          <p:cNvSpPr/>
          <p:nvPr/>
        </p:nvSpPr>
        <p:spPr>
          <a:xfrm>
            <a:off x="1143000" y="1676400"/>
            <a:ext cx="4000500" cy="38100"/>
          </a:xfrm>
          <a:custGeom>
            <a:avLst/>
            <a:gdLst/>
            <a:ahLst/>
            <a:cxnLst/>
            <a:rect l="l" t="t" r="r" b="b"/>
            <a:pathLst>
              <a:path w="4000500" h="38100">
                <a:moveTo>
                  <a:pt x="28575" y="0"/>
                </a:moveTo>
                <a:lnTo>
                  <a:pt x="3971925" y="0"/>
                </a:lnTo>
                <a:cubicBezTo>
                  <a:pt x="3987707" y="0"/>
                  <a:pt x="4000500" y="8529"/>
                  <a:pt x="4000500" y="19050"/>
                </a:cubicBezTo>
                <a:lnTo>
                  <a:pt x="4000500" y="19050"/>
                </a:lnTo>
                <a:cubicBezTo>
                  <a:pt x="4000500" y="29571"/>
                  <a:pt x="3987707" y="38100"/>
                  <a:pt x="3971925" y="38100"/>
                </a:cubicBezTo>
                <a:lnTo>
                  <a:pt x="28575" y="38100"/>
                </a:lnTo>
                <a:cubicBezTo>
                  <a:pt x="12793" y="38100"/>
                  <a:pt x="0" y="29571"/>
                  <a:pt x="0" y="19050"/>
                </a:cubicBezTo>
                <a:lnTo>
                  <a:pt x="0" y="19050"/>
                </a:lnTo>
                <a:cubicBezTo>
                  <a:pt x="0" y="8529"/>
                  <a:pt x="12793" y="0"/>
                  <a:pt x="28575" y="0"/>
                </a:cubicBezTo>
                <a:close/>
              </a:path>
            </a:pathLst>
          </a:custGeom>
          <a:solidFill>
            <a:srgbClr val="EF5350"/>
          </a:solidFill>
          <a:ln>
            <a:noFill/>
          </a:ln>
        </p:spPr>
      </p:sp>
      <p:sp>
        <p:nvSpPr>
          <p:cNvPr id="17" name="TextBox 17"/>
          <p:cNvSpPr txBox="1"/>
          <p:nvPr/>
        </p:nvSpPr>
        <p:spPr>
          <a:xfrm>
            <a:off x="2533763" y="1821656"/>
            <a:ext cx="1218974" cy="228600"/>
          </a:xfrm>
          <a:prstGeom prst="rect">
            <a:avLst/>
          </a:prstGeom>
          <a:noFill/>
          <a:ln>
            <a:noFill/>
          </a:ln>
        </p:spPr>
        <p:txBody>
          <a:bodyPr wrap="none" lIns="0" tIns="0" rIns="0" bIns="0" anchor="t" anchorCtr="0">
            <a:spAutoFit/>
          </a:bodyPr>
          <a:lstStyle/>
          <a:p>
            <a:pPr algn="ctr"/>
            <a:r>
              <a:rPr lang="zh-CN" sz="1125" b="1" dirty="0">
                <a:solidFill>
                  <a:srgbClr val="EF5350"/>
                </a:solidFill>
                <a:latin typeface="Arial"/>
                <a:ea typeface="Microsoft YaHei"/>
                <a:cs typeface="Arial"/>
              </a:rPr>
              <a:t>Avant (opt03)</a:t>
            </a:r>
          </a:p>
        </p:txBody>
      </p:sp>
      <p:sp>
        <p:nvSpPr>
          <p:cNvPr id="18" name="TextBox 18"/>
          <p:cNvSpPr txBox="1"/>
          <p:nvPr/>
        </p:nvSpPr>
        <p:spPr>
          <a:xfrm>
            <a:off x="2304955" y="2142649"/>
            <a:ext cx="1676591" cy="198120"/>
          </a:xfrm>
          <a:prstGeom prst="rect">
            <a:avLst/>
          </a:prstGeom>
          <a:noFill/>
          <a:ln>
            <a:noFill/>
          </a:ln>
        </p:spPr>
        <p:txBody>
          <a:bodyPr wrap="none" lIns="0" tIns="0" rIns="0" bIns="0" anchor="t" anchorCtr="0">
            <a:spAutoFit/>
          </a:bodyPr>
          <a:lstStyle/>
          <a:p>
            <a:pPr algn="ctr"/>
            <a:r>
              <a:rPr lang="zh-CN" sz="975" dirty="0">
                <a:solidFill>
                  <a:srgbClr val="1A2332"/>
                </a:solidFill>
                <a:latin typeface="Arial"/>
                <a:ea typeface="Microsoft YaHei"/>
                <a:cs typeface="Arial"/>
              </a:rPr>
              <a:t>Envois maille-par-maille</a:t>
            </a:r>
          </a:p>
        </p:txBody>
      </p:sp>
      <p:sp>
        <p:nvSpPr>
          <p:cNvPr id="19" name="TextBox 19"/>
          <p:cNvSpPr txBox="1"/>
          <p:nvPr/>
        </p:nvSpPr>
        <p:spPr>
          <a:xfrm>
            <a:off x="2223075" y="2371249"/>
            <a:ext cx="1840349"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Consolas"/>
                <a:ea typeface="Microsoft YaHei"/>
                <a:cs typeface="Consolas"/>
              </a:rPr>
              <a:t>7 182 messages / itération</a:t>
            </a:r>
          </a:p>
        </p:txBody>
      </p:sp>
      <p:sp>
        <p:nvSpPr>
          <p:cNvPr id="20" name="TextBox 20"/>
          <p:cNvSpPr txBox="1"/>
          <p:nvPr/>
        </p:nvSpPr>
        <p:spPr>
          <a:xfrm>
            <a:off x="2102037" y="2599849"/>
            <a:ext cx="2082427"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MPI_Barrier × 12 par itération</a:t>
            </a:r>
          </a:p>
        </p:txBody>
      </p:sp>
      <p:sp>
        <p:nvSpPr>
          <p:cNvPr id="21" name="TextBox 21"/>
          <p:cNvSpPr txBox="1"/>
          <p:nvPr/>
        </p:nvSpPr>
        <p:spPr>
          <a:xfrm>
            <a:off x="1963198" y="2828449"/>
            <a:ext cx="2360105"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Synchronisation globale bloquante</a:t>
            </a:r>
          </a:p>
        </p:txBody>
      </p:sp>
      <p:sp>
        <p:nvSpPr>
          <p:cNvPr id="22" name="Line 22"/>
          <p:cNvSpPr/>
          <p:nvPr/>
        </p:nvSpPr>
        <p:spPr>
          <a:xfrm>
            <a:off x="1428750" y="3124200"/>
            <a:ext cx="3429000" cy="9525"/>
          </a:xfrm>
          <a:custGeom>
            <a:avLst/>
            <a:gdLst/>
            <a:ahLst/>
            <a:cxnLst/>
            <a:rect l="l" t="t" r="r" b="b"/>
            <a:pathLst>
              <a:path w="3429000" h="9525">
                <a:moveTo>
                  <a:pt x="0" y="0"/>
                </a:moveTo>
                <a:lnTo>
                  <a:pt x="3429000" y="0"/>
                </a:lnTo>
              </a:path>
            </a:pathLst>
          </a:custGeom>
          <a:noFill/>
          <a:ln w="9525">
            <a:solidFill>
              <a:srgbClr val="EAF0F6"/>
            </a:solidFill>
            <a:custDash>
              <a:ds d="300000" sp="300000"/>
            </a:custDash>
          </a:ln>
        </p:spPr>
      </p:sp>
      <p:sp>
        <p:nvSpPr>
          <p:cNvPr id="23" name="TextBox 23"/>
          <p:cNvSpPr txBox="1"/>
          <p:nvPr/>
        </p:nvSpPr>
        <p:spPr>
          <a:xfrm>
            <a:off x="2465618" y="3269932"/>
            <a:ext cx="1355265" cy="335280"/>
          </a:xfrm>
          <a:prstGeom prst="rect">
            <a:avLst/>
          </a:prstGeom>
          <a:noFill/>
          <a:ln>
            <a:noFill/>
          </a:ln>
        </p:spPr>
        <p:txBody>
          <a:bodyPr wrap="none" lIns="0" tIns="0" rIns="0" bIns="0" anchor="t" anchorCtr="0">
            <a:spAutoFit/>
          </a:bodyPr>
          <a:lstStyle/>
          <a:p>
            <a:pPr algn="ctr"/>
            <a:r>
              <a:rPr lang="zh-CN" sz="1650" dirty="0">
                <a:solidFill>
                  <a:srgbClr val="E65100"/>
                </a:solidFill>
                <a:latin typeface="Consolas"/>
                <a:ea typeface="Microsoft YaHei"/>
                <a:cs typeface="Consolas"/>
              </a:rPr>
              <a:t>68,7 MLUPS</a:t>
            </a:r>
          </a:p>
        </p:txBody>
      </p:sp>
      <p:sp>
        <p:nvSpPr>
          <p:cNvPr id="24" name="TextBox 24"/>
          <p:cNvSpPr txBox="1"/>
          <p:nvPr/>
        </p:nvSpPr>
        <p:spPr>
          <a:xfrm>
            <a:off x="2707231" y="3571399"/>
            <a:ext cx="872038"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np=2, OMP=1</a:t>
            </a:r>
          </a:p>
        </p:txBody>
      </p:sp>
      <p:sp>
        <p:nvSpPr>
          <p:cNvPr id="25" name="TextBox 25"/>
          <p:cNvSpPr txBox="1"/>
          <p:nvPr/>
        </p:nvSpPr>
        <p:spPr>
          <a:xfrm>
            <a:off x="2194596" y="3799999"/>
            <a:ext cx="1897309" cy="198120"/>
          </a:xfrm>
          <a:prstGeom prst="rect">
            <a:avLst/>
          </a:prstGeom>
          <a:noFill/>
          <a:ln>
            <a:noFill/>
          </a:ln>
        </p:spPr>
        <p:txBody>
          <a:bodyPr wrap="none" lIns="0" tIns="0" rIns="0" bIns="0" anchor="t" anchorCtr="0">
            <a:spAutoFit/>
          </a:bodyPr>
          <a:lstStyle/>
          <a:p>
            <a:pPr algn="ctr"/>
            <a:r>
              <a:rPr lang="zh-CN" sz="975" dirty="0">
                <a:solidFill>
                  <a:srgbClr val="90A4AE"/>
                </a:solidFill>
                <a:latin typeface="Arial"/>
                <a:ea typeface="Microsoft YaHei"/>
                <a:cs typeface="Arial"/>
              </a:rPr>
              <a:t>Latence cumulée dominante</a:t>
            </a:r>
          </a:p>
        </p:txBody>
      </p:sp>
      <p:sp>
        <p:nvSpPr>
          <p:cNvPr id="26" name="TextBox 26"/>
          <p:cNvSpPr txBox="1"/>
          <p:nvPr/>
        </p:nvSpPr>
        <p:spPr>
          <a:xfrm>
            <a:off x="5984986" y="3088005"/>
            <a:ext cx="222028" cy="426720"/>
          </a:xfrm>
          <a:prstGeom prst="rect">
            <a:avLst/>
          </a:prstGeom>
          <a:noFill/>
          <a:ln>
            <a:noFill/>
          </a:ln>
        </p:spPr>
        <p:txBody>
          <a:bodyPr wrap="none" lIns="0" tIns="0" rIns="0" bIns="0" anchor="t" anchorCtr="0">
            <a:spAutoFit/>
          </a:bodyPr>
          <a:lstStyle/>
          <a:p>
            <a:pPr algn="ctr"/>
            <a:r>
              <a:rPr lang="zh-CN" sz="2100" dirty="0">
                <a:solidFill>
                  <a:srgbClr val="1565C0"/>
                </a:solidFill>
                <a:latin typeface="Consolas"/>
                <a:ea typeface="Microsoft YaHei"/>
                <a:cs typeface="Consolas"/>
              </a:rPr>
              <a:t>→</a:t>
            </a:r>
          </a:p>
        </p:txBody>
      </p:sp>
      <p:sp>
        <p:nvSpPr>
          <p:cNvPr id="27" name="Freeform 27"/>
          <p:cNvSpPr/>
          <p:nvPr/>
        </p:nvSpPr>
        <p:spPr>
          <a:xfrm>
            <a:off x="7048500" y="1676400"/>
            <a:ext cx="4000500" cy="2933700"/>
          </a:xfrm>
          <a:custGeom>
            <a:avLst/>
            <a:gdLst/>
            <a:ahLst/>
            <a:cxnLst/>
            <a:rect l="l" t="t" r="r" b="b"/>
            <a:pathLst>
              <a:path w="4000500" h="2933700">
                <a:moveTo>
                  <a:pt x="76200" y="0"/>
                </a:moveTo>
                <a:lnTo>
                  <a:pt x="3924300" y="0"/>
                </a:lnTo>
                <a:cubicBezTo>
                  <a:pt x="3966384" y="0"/>
                  <a:pt x="4000500" y="34116"/>
                  <a:pt x="4000500" y="76200"/>
                </a:cubicBezTo>
                <a:lnTo>
                  <a:pt x="4000500" y="2857500"/>
                </a:lnTo>
                <a:cubicBezTo>
                  <a:pt x="4000500" y="2899584"/>
                  <a:pt x="3966384" y="2933700"/>
                  <a:pt x="3924300" y="2933700"/>
                </a:cubicBezTo>
                <a:lnTo>
                  <a:pt x="76200" y="2933700"/>
                </a:lnTo>
                <a:cubicBezTo>
                  <a:pt x="34116" y="2933700"/>
                  <a:pt x="0" y="2899584"/>
                  <a:pt x="0" y="2857500"/>
                </a:cubicBezTo>
                <a:lnTo>
                  <a:pt x="0" y="76200"/>
                </a:lnTo>
                <a:cubicBezTo>
                  <a:pt x="0" y="34116"/>
                  <a:pt x="34116" y="0"/>
                  <a:pt x="76200" y="0"/>
                </a:cubicBezTo>
                <a:close/>
              </a:path>
            </a:pathLst>
          </a:custGeom>
          <a:solidFill>
            <a:srgbClr val="F3FBF5"/>
          </a:solidFill>
          <a:ln w="9525">
            <a:solidFill>
              <a:srgbClr val="66BB6A"/>
            </a:solidFill>
          </a:ln>
        </p:spPr>
      </p:sp>
      <p:sp>
        <p:nvSpPr>
          <p:cNvPr id="28" name="Freeform 28"/>
          <p:cNvSpPr/>
          <p:nvPr/>
        </p:nvSpPr>
        <p:spPr>
          <a:xfrm>
            <a:off x="7048500" y="1676400"/>
            <a:ext cx="4000500" cy="38100"/>
          </a:xfrm>
          <a:custGeom>
            <a:avLst/>
            <a:gdLst/>
            <a:ahLst/>
            <a:cxnLst/>
            <a:rect l="l" t="t" r="r" b="b"/>
            <a:pathLst>
              <a:path w="4000500" h="38100">
                <a:moveTo>
                  <a:pt x="28575" y="0"/>
                </a:moveTo>
                <a:lnTo>
                  <a:pt x="3971925" y="0"/>
                </a:lnTo>
                <a:cubicBezTo>
                  <a:pt x="3987707" y="0"/>
                  <a:pt x="4000500" y="8529"/>
                  <a:pt x="4000500" y="19050"/>
                </a:cubicBezTo>
                <a:lnTo>
                  <a:pt x="4000500" y="19050"/>
                </a:lnTo>
                <a:cubicBezTo>
                  <a:pt x="4000500" y="29571"/>
                  <a:pt x="3987707" y="38100"/>
                  <a:pt x="3971925" y="38100"/>
                </a:cubicBezTo>
                <a:lnTo>
                  <a:pt x="28575" y="38100"/>
                </a:lnTo>
                <a:cubicBezTo>
                  <a:pt x="12793" y="38100"/>
                  <a:pt x="0" y="29571"/>
                  <a:pt x="0" y="19050"/>
                </a:cubicBezTo>
                <a:lnTo>
                  <a:pt x="0" y="19050"/>
                </a:lnTo>
                <a:cubicBezTo>
                  <a:pt x="0" y="8529"/>
                  <a:pt x="12793" y="0"/>
                  <a:pt x="28575" y="0"/>
                </a:cubicBezTo>
                <a:close/>
              </a:path>
            </a:pathLst>
          </a:custGeom>
          <a:solidFill>
            <a:srgbClr val="2E7D32"/>
          </a:solidFill>
          <a:ln>
            <a:noFill/>
          </a:ln>
        </p:spPr>
      </p:sp>
      <p:sp>
        <p:nvSpPr>
          <p:cNvPr id="29" name="TextBox 29"/>
          <p:cNvSpPr txBox="1"/>
          <p:nvPr/>
        </p:nvSpPr>
        <p:spPr>
          <a:xfrm>
            <a:off x="8296933" y="1821656"/>
            <a:ext cx="1503634" cy="228600"/>
          </a:xfrm>
          <a:prstGeom prst="rect">
            <a:avLst/>
          </a:prstGeom>
          <a:noFill/>
          <a:ln>
            <a:noFill/>
          </a:ln>
        </p:spPr>
        <p:txBody>
          <a:bodyPr wrap="none" lIns="0" tIns="0" rIns="0" bIns="0" anchor="t" anchorCtr="0">
            <a:spAutoFit/>
          </a:bodyPr>
          <a:lstStyle/>
          <a:p>
            <a:pPr algn="ctr"/>
            <a:r>
              <a:rPr lang="zh-CN" sz="1125" b="1" dirty="0">
                <a:solidFill>
                  <a:srgbClr val="2E7D32"/>
                </a:solidFill>
                <a:latin typeface="Arial"/>
                <a:ea typeface="Microsoft YaHei"/>
                <a:cs typeface="Arial"/>
              </a:rPr>
              <a:t>Après (opt04–08)</a:t>
            </a:r>
          </a:p>
        </p:txBody>
      </p:sp>
      <p:sp>
        <p:nvSpPr>
          <p:cNvPr id="30" name="TextBox 30"/>
          <p:cNvSpPr txBox="1"/>
          <p:nvPr/>
        </p:nvSpPr>
        <p:spPr>
          <a:xfrm>
            <a:off x="8121456" y="2142649"/>
            <a:ext cx="1854589" cy="198120"/>
          </a:xfrm>
          <a:prstGeom prst="rect">
            <a:avLst/>
          </a:prstGeom>
          <a:noFill/>
          <a:ln>
            <a:noFill/>
          </a:ln>
        </p:spPr>
        <p:txBody>
          <a:bodyPr wrap="none" lIns="0" tIns="0" rIns="0" bIns="0" anchor="t" anchorCtr="0">
            <a:spAutoFit/>
          </a:bodyPr>
          <a:lstStyle/>
          <a:p>
            <a:pPr algn="ctr"/>
            <a:r>
              <a:rPr lang="zh-CN" sz="975" dirty="0">
                <a:solidFill>
                  <a:srgbClr val="1A2332"/>
                </a:solidFill>
                <a:latin typeface="Arial"/>
                <a:ea typeface="Microsoft YaHei"/>
                <a:cs typeface="Arial"/>
              </a:rPr>
              <a:t>Envoi groupé par ligne halo</a:t>
            </a:r>
          </a:p>
        </p:txBody>
      </p:sp>
      <p:sp>
        <p:nvSpPr>
          <p:cNvPr id="31" name="TextBox 31"/>
          <p:cNvSpPr txBox="1"/>
          <p:nvPr/>
        </p:nvSpPr>
        <p:spPr>
          <a:xfrm>
            <a:off x="8306574" y="2371249"/>
            <a:ext cx="1484352"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Consolas"/>
                <a:ea typeface="Microsoft YaHei"/>
                <a:cs typeface="Consolas"/>
              </a:rPr>
              <a:t>1 message / direction</a:t>
            </a:r>
          </a:p>
        </p:txBody>
      </p:sp>
      <p:sp>
        <p:nvSpPr>
          <p:cNvPr id="32" name="TextBox 32"/>
          <p:cNvSpPr txBox="1"/>
          <p:nvPr/>
        </p:nvSpPr>
        <p:spPr>
          <a:xfrm>
            <a:off x="7840218" y="2599849"/>
            <a:ext cx="2417064"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Barrières redondantes supprimées</a:t>
            </a:r>
          </a:p>
        </p:txBody>
      </p:sp>
      <p:sp>
        <p:nvSpPr>
          <p:cNvPr id="33" name="TextBox 33"/>
          <p:cNvSpPr txBox="1"/>
          <p:nvPr/>
        </p:nvSpPr>
        <p:spPr>
          <a:xfrm>
            <a:off x="8092976" y="2828449"/>
            <a:ext cx="1911548"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Volume de données inchangé</a:t>
            </a:r>
          </a:p>
        </p:txBody>
      </p:sp>
      <p:sp>
        <p:nvSpPr>
          <p:cNvPr id="34" name="Line 34"/>
          <p:cNvSpPr/>
          <p:nvPr/>
        </p:nvSpPr>
        <p:spPr>
          <a:xfrm>
            <a:off x="7334250" y="3124200"/>
            <a:ext cx="3429000" cy="9525"/>
          </a:xfrm>
          <a:custGeom>
            <a:avLst/>
            <a:gdLst/>
            <a:ahLst/>
            <a:cxnLst/>
            <a:rect l="l" t="t" r="r" b="b"/>
            <a:pathLst>
              <a:path w="3429000" h="9525">
                <a:moveTo>
                  <a:pt x="0" y="0"/>
                </a:moveTo>
                <a:lnTo>
                  <a:pt x="3429000" y="0"/>
                </a:lnTo>
              </a:path>
            </a:pathLst>
          </a:custGeom>
          <a:noFill/>
          <a:ln w="9525">
            <a:solidFill>
              <a:srgbClr val="EAF0F6"/>
            </a:solidFill>
            <a:custDash>
              <a:ds d="300000" sp="300000"/>
            </a:custDash>
          </a:ln>
        </p:spPr>
      </p:sp>
      <p:sp>
        <p:nvSpPr>
          <p:cNvPr id="35" name="TextBox 35"/>
          <p:cNvSpPr txBox="1"/>
          <p:nvPr/>
        </p:nvSpPr>
        <p:spPr>
          <a:xfrm>
            <a:off x="8268700" y="3269932"/>
            <a:ext cx="1560100" cy="335280"/>
          </a:xfrm>
          <a:prstGeom prst="rect">
            <a:avLst/>
          </a:prstGeom>
          <a:noFill/>
          <a:ln>
            <a:noFill/>
          </a:ln>
        </p:spPr>
        <p:txBody>
          <a:bodyPr wrap="none" lIns="0" tIns="0" rIns="0" bIns="0" anchor="t" anchorCtr="0">
            <a:spAutoFit/>
          </a:bodyPr>
          <a:lstStyle/>
          <a:p>
            <a:pPr algn="ctr"/>
            <a:r>
              <a:rPr lang="zh-CN" sz="1650" dirty="0">
                <a:solidFill>
                  <a:srgbClr val="2E7D32"/>
                </a:solidFill>
                <a:latin typeface="Consolas"/>
                <a:ea typeface="Microsoft YaHei"/>
                <a:cs typeface="Consolas"/>
              </a:rPr>
              <a:t>102,75 MLUPS</a:t>
            </a:r>
          </a:p>
        </p:txBody>
      </p:sp>
      <p:sp>
        <p:nvSpPr>
          <p:cNvPr id="36" name="TextBox 36"/>
          <p:cNvSpPr txBox="1"/>
          <p:nvPr/>
        </p:nvSpPr>
        <p:spPr>
          <a:xfrm>
            <a:off x="8612731" y="3571399"/>
            <a:ext cx="872038"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np=2, OMP=1</a:t>
            </a:r>
          </a:p>
        </p:txBody>
      </p:sp>
      <p:sp>
        <p:nvSpPr>
          <p:cNvPr id="37" name="TextBox 37"/>
          <p:cNvSpPr txBox="1"/>
          <p:nvPr/>
        </p:nvSpPr>
        <p:spPr>
          <a:xfrm>
            <a:off x="8096536" y="3799999"/>
            <a:ext cx="1904429" cy="198120"/>
          </a:xfrm>
          <a:prstGeom prst="rect">
            <a:avLst/>
          </a:prstGeom>
          <a:noFill/>
          <a:ln>
            <a:noFill/>
          </a:ln>
        </p:spPr>
        <p:txBody>
          <a:bodyPr wrap="none" lIns="0" tIns="0" rIns="0" bIns="0" anchor="t" anchorCtr="0">
            <a:spAutoFit/>
          </a:bodyPr>
          <a:lstStyle/>
          <a:p>
            <a:pPr algn="ctr"/>
            <a:r>
              <a:rPr lang="zh-CN" sz="975" dirty="0">
                <a:solidFill>
                  <a:srgbClr val="90A4AE"/>
                </a:solidFill>
                <a:latin typeface="Arial"/>
                <a:ea typeface="Microsoft YaHei"/>
                <a:cs typeface="Arial"/>
              </a:rPr>
              <a:t>Latence fortement réduite</a:t>
            </a:r>
          </a:p>
        </p:txBody>
      </p:sp>
      <p:sp>
        <p:nvSpPr>
          <p:cNvPr id="38" name="Freeform 38"/>
          <p:cNvSpPr/>
          <p:nvPr/>
        </p:nvSpPr>
        <p:spPr>
          <a:xfrm>
            <a:off x="800100" y="4895850"/>
            <a:ext cx="10591800" cy="304800"/>
          </a:xfrm>
          <a:custGeom>
            <a:avLst/>
            <a:gdLst/>
            <a:ahLst/>
            <a:cxnLst/>
            <a:rect l="l" t="t" r="r" b="b"/>
            <a:pathLst>
              <a:path w="10591800" h="304800">
                <a:moveTo>
                  <a:pt x="57150" y="0"/>
                </a:moveTo>
                <a:lnTo>
                  <a:pt x="10534650" y="0"/>
                </a:lnTo>
                <a:cubicBezTo>
                  <a:pt x="10566213" y="0"/>
                  <a:pt x="10591800" y="25587"/>
                  <a:pt x="10591800" y="57150"/>
                </a:cubicBezTo>
                <a:lnTo>
                  <a:pt x="10591800" y="247650"/>
                </a:lnTo>
                <a:cubicBezTo>
                  <a:pt x="10591800" y="279213"/>
                  <a:pt x="10566213" y="304800"/>
                  <a:pt x="10534650" y="304800"/>
                </a:cubicBezTo>
                <a:lnTo>
                  <a:pt x="57150" y="304800"/>
                </a:lnTo>
                <a:cubicBezTo>
                  <a:pt x="25587" y="304800"/>
                  <a:pt x="0" y="279213"/>
                  <a:pt x="0" y="247650"/>
                </a:cubicBezTo>
                <a:lnTo>
                  <a:pt x="0" y="57150"/>
                </a:lnTo>
                <a:cubicBezTo>
                  <a:pt x="0" y="25587"/>
                  <a:pt x="25587" y="0"/>
                  <a:pt x="57150" y="0"/>
                </a:cubicBezTo>
                <a:close/>
              </a:path>
            </a:pathLst>
          </a:custGeom>
          <a:solidFill>
            <a:srgbClr val="2E7D32"/>
          </a:solidFill>
          <a:ln>
            <a:noFill/>
          </a:ln>
        </p:spPr>
      </p:sp>
      <p:sp>
        <p:nvSpPr>
          <p:cNvPr id="39" name="TextBox 39"/>
          <p:cNvSpPr txBox="1"/>
          <p:nvPr/>
        </p:nvSpPr>
        <p:spPr>
          <a:xfrm>
            <a:off x="4963575" y="4982528"/>
            <a:ext cx="226485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Jalon P1-B : 103 MLUPS · +50%</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6200"/>
          </a:xfrm>
          <a:prstGeom prst="rect">
            <a:avLst/>
          </a:prstGeom>
          <a:solidFill>
            <a:srgbClr val="1565C0"/>
          </a:solidFill>
          <a:ln>
            <a:noFill/>
          </a:ln>
        </p:spPr>
      </p:sp>
      <p:sp>
        <p:nvSpPr>
          <p:cNvPr id="4" name="Rectangle 4"/>
          <p:cNvSpPr/>
          <p:nvPr/>
        </p:nvSpPr>
        <p:spPr>
          <a:xfrm>
            <a:off x="0" y="76200"/>
            <a:ext cx="12192000" cy="685800"/>
          </a:xfrm>
          <a:prstGeom prst="rect">
            <a:avLst/>
          </a:prstGeom>
          <a:solidFill>
            <a:srgbClr val="F4F7FA"/>
          </a:solidFill>
          <a:ln>
            <a:noFill/>
          </a:ln>
        </p:spPr>
      </p:sp>
      <p:sp>
        <p:nvSpPr>
          <p:cNvPr id="5" name="Line 5"/>
          <p:cNvSpPr/>
          <p:nvPr/>
        </p:nvSpPr>
        <p:spPr>
          <a:xfrm>
            <a:off x="0" y="762000"/>
            <a:ext cx="12192000" cy="9525"/>
          </a:xfrm>
          <a:custGeom>
            <a:avLst/>
            <a:gdLst/>
            <a:ahLst/>
            <a:cxnLst/>
            <a:rect l="l" t="t" r="r" b="b"/>
            <a:pathLst>
              <a:path w="12192000" h="9525">
                <a:moveTo>
                  <a:pt x="0" y="0"/>
                </a:moveTo>
                <a:lnTo>
                  <a:pt x="12192000" y="0"/>
                </a:lnTo>
              </a:path>
            </a:pathLst>
          </a:custGeom>
          <a:noFill/>
          <a:ln w="9525">
            <a:solidFill>
              <a:srgbClr val="CFD8DC"/>
            </a:solidFill>
          </a:ln>
        </p:spPr>
      </p:sp>
      <p:sp>
        <p:nvSpPr>
          <p:cNvPr id="6" name="Freeform 6"/>
          <p:cNvSpPr/>
          <p:nvPr/>
        </p:nvSpPr>
        <p:spPr>
          <a:xfrm>
            <a:off x="609600" y="228600"/>
            <a:ext cx="47625" cy="304800"/>
          </a:xfrm>
          <a:custGeom>
            <a:avLst/>
            <a:gdLst/>
            <a:ahLst/>
            <a:cxnLst/>
            <a:rect l="l" t="t" r="r" b="b"/>
            <a:pathLst>
              <a:path w="47625" h="304800">
                <a:moveTo>
                  <a:pt x="19050" y="0"/>
                </a:moveTo>
                <a:lnTo>
                  <a:pt x="28575" y="0"/>
                </a:lnTo>
                <a:cubicBezTo>
                  <a:pt x="39096" y="0"/>
                  <a:pt x="47625" y="8529"/>
                  <a:pt x="47625" y="19050"/>
                </a:cubicBezTo>
                <a:lnTo>
                  <a:pt x="47625" y="285750"/>
                </a:lnTo>
                <a:cubicBezTo>
                  <a:pt x="47625" y="296271"/>
                  <a:pt x="39096" y="304800"/>
                  <a:pt x="28575" y="304800"/>
                </a:cubicBezTo>
                <a:lnTo>
                  <a:pt x="19050" y="304800"/>
                </a:lnTo>
                <a:cubicBezTo>
                  <a:pt x="8529" y="304800"/>
                  <a:pt x="0" y="296271"/>
                  <a:pt x="0" y="285750"/>
                </a:cubicBezTo>
                <a:lnTo>
                  <a:pt x="0" y="19050"/>
                </a:lnTo>
                <a:cubicBezTo>
                  <a:pt x="0" y="8529"/>
                  <a:pt x="8529" y="0"/>
                  <a:pt x="19050" y="0"/>
                </a:cubicBezTo>
                <a:close/>
              </a:path>
            </a:pathLst>
          </a:custGeom>
          <a:solidFill>
            <a:srgbClr val="1565C0"/>
          </a:solidFill>
          <a:ln>
            <a:noFill/>
          </a:ln>
        </p:spPr>
      </p:sp>
      <p:sp>
        <p:nvSpPr>
          <p:cNvPr id="7" name="TextBox 7"/>
          <p:cNvSpPr txBox="1"/>
          <p:nvPr/>
        </p:nvSpPr>
        <p:spPr>
          <a:xfrm>
            <a:off x="741045" y="183832"/>
            <a:ext cx="4432009" cy="335280"/>
          </a:xfrm>
          <a:prstGeom prst="rect">
            <a:avLst/>
          </a:prstGeom>
          <a:noFill/>
          <a:ln>
            <a:noFill/>
          </a:ln>
        </p:spPr>
        <p:txBody>
          <a:bodyPr wrap="none" lIns="0" tIns="0" rIns="0" bIns="0" anchor="t" anchorCtr="0">
            <a:spAutoFit/>
          </a:bodyPr>
          <a:lstStyle/>
          <a:p>
            <a:pPr algn="l"/>
            <a:r>
              <a:rPr lang="zh-CN" sz="1650" b="1" dirty="0">
                <a:solidFill>
                  <a:srgbClr val="1A2332"/>
                </a:solidFill>
                <a:latin typeface="Arial"/>
                <a:ea typeface="Microsoft YaHei"/>
                <a:cs typeface="Arial"/>
              </a:rPr>
              <a:t>P1-C · Cache + Schéma Pull + OpenMP</a:t>
            </a:r>
          </a:p>
        </p:txBody>
      </p:sp>
      <p:sp>
        <p:nvSpPr>
          <p:cNvPr id="8" name="TextBox 8"/>
          <p:cNvSpPr txBox="1"/>
          <p:nvPr/>
        </p:nvSpPr>
        <p:spPr>
          <a:xfrm>
            <a:off x="747712" y="469106"/>
            <a:ext cx="4727734"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Arial"/>
                <a:ea typeface="Microsoft YaHei"/>
                <a:cs typeface="Arial"/>
              </a:rPr>
              <a:t>opt09–13 · Localité cache · parallélisme sûr · multi-thread</a:t>
            </a:r>
          </a:p>
        </p:txBody>
      </p:sp>
      <p:sp>
        <p:nvSpPr>
          <p:cNvPr id="9" name="Freeform 9"/>
          <p:cNvSpPr/>
          <p:nvPr/>
        </p:nvSpPr>
        <p:spPr>
          <a:xfrm>
            <a:off x="10991850" y="228600"/>
            <a:ext cx="247650" cy="171450"/>
          </a:xfrm>
          <a:custGeom>
            <a:avLst/>
            <a:gdLst/>
            <a:ahLst/>
            <a:cxnLst/>
            <a:rect l="l" t="t" r="r" b="b"/>
            <a:pathLst>
              <a:path w="247650" h="171450">
                <a:moveTo>
                  <a:pt x="38100" y="0"/>
                </a:moveTo>
                <a:lnTo>
                  <a:pt x="209550" y="0"/>
                </a:lnTo>
                <a:cubicBezTo>
                  <a:pt x="230592" y="0"/>
                  <a:pt x="247650" y="17058"/>
                  <a:pt x="247650" y="38100"/>
                </a:cubicBezTo>
                <a:lnTo>
                  <a:pt x="247650" y="133350"/>
                </a:lnTo>
                <a:cubicBezTo>
                  <a:pt x="247650" y="154392"/>
                  <a:pt x="230592" y="171450"/>
                  <a:pt x="209550" y="171450"/>
                </a:cubicBezTo>
                <a:lnTo>
                  <a:pt x="38100" y="171450"/>
                </a:lnTo>
                <a:cubicBezTo>
                  <a:pt x="17058" y="171450"/>
                  <a:pt x="0" y="154392"/>
                  <a:pt x="0" y="133350"/>
                </a:cubicBezTo>
                <a:lnTo>
                  <a:pt x="0" y="38100"/>
                </a:lnTo>
                <a:cubicBezTo>
                  <a:pt x="0" y="17058"/>
                  <a:pt x="17058" y="0"/>
                  <a:pt x="38100" y="0"/>
                </a:cubicBezTo>
                <a:close/>
              </a:path>
            </a:pathLst>
          </a:custGeom>
          <a:solidFill>
            <a:srgbClr val="1565C0"/>
          </a:solidFill>
          <a:ln>
            <a:noFill/>
          </a:ln>
        </p:spPr>
      </p:sp>
      <p:sp>
        <p:nvSpPr>
          <p:cNvPr id="10" name="TextBox 10"/>
          <p:cNvSpPr txBox="1"/>
          <p:nvPr/>
        </p:nvSpPr>
        <p:spPr>
          <a:xfrm>
            <a:off x="11051428" y="263366"/>
            <a:ext cx="128493"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P1</a:t>
            </a:r>
          </a:p>
        </p:txBody>
      </p:sp>
      <p:sp>
        <p:nvSpPr>
          <p:cNvPr id="11" name="TextBox 11"/>
          <p:cNvSpPr txBox="1"/>
          <p:nvPr/>
        </p:nvSpPr>
        <p:spPr>
          <a:xfrm>
            <a:off x="11206901" y="351949"/>
            <a:ext cx="387882" cy="198120"/>
          </a:xfrm>
          <a:prstGeom prst="rect">
            <a:avLst/>
          </a:prstGeom>
          <a:noFill/>
          <a:ln>
            <a:noFill/>
          </a:ln>
        </p:spPr>
        <p:txBody>
          <a:bodyPr wrap="none" lIns="0" tIns="0" rIns="0" bIns="0" anchor="t" anchorCtr="0">
            <a:spAutoFit/>
          </a:bodyPr>
          <a:lstStyle/>
          <a:p>
            <a:pPr algn="r"/>
            <a:r>
              <a:rPr lang="zh-CN" sz="975" dirty="0">
                <a:solidFill>
                  <a:srgbClr val="90A4AE"/>
                </a:solidFill>
                <a:latin typeface="Arial"/>
                <a:ea typeface="Microsoft YaHei"/>
                <a:cs typeface="Arial"/>
              </a:rPr>
              <a:t>6 / 13</a:t>
            </a:r>
          </a:p>
        </p:txBody>
      </p:sp>
      <p:sp>
        <p:nvSpPr>
          <p:cNvPr id="12" name="Freeform 12"/>
          <p:cNvSpPr/>
          <p:nvPr/>
        </p:nvSpPr>
        <p:spPr>
          <a:xfrm>
            <a:off x="609600" y="952500"/>
            <a:ext cx="3238500" cy="4000500"/>
          </a:xfrm>
          <a:custGeom>
            <a:avLst/>
            <a:gdLst/>
            <a:ahLst/>
            <a:cxnLst/>
            <a:rect l="l" t="t" r="r" b="b"/>
            <a:pathLst>
              <a:path w="3238500" h="4000500">
                <a:moveTo>
                  <a:pt x="76200" y="0"/>
                </a:moveTo>
                <a:lnTo>
                  <a:pt x="3162300" y="0"/>
                </a:lnTo>
                <a:cubicBezTo>
                  <a:pt x="3204384" y="0"/>
                  <a:pt x="3238500" y="34116"/>
                  <a:pt x="3238500" y="76200"/>
                </a:cubicBezTo>
                <a:lnTo>
                  <a:pt x="3238500" y="3924300"/>
                </a:lnTo>
                <a:cubicBezTo>
                  <a:pt x="3238500" y="3966384"/>
                  <a:pt x="3204384" y="4000500"/>
                  <a:pt x="3162300" y="4000500"/>
                </a:cubicBezTo>
                <a:lnTo>
                  <a:pt x="76200" y="4000500"/>
                </a:lnTo>
                <a:cubicBezTo>
                  <a:pt x="34116" y="4000500"/>
                  <a:pt x="0" y="3966384"/>
                  <a:pt x="0" y="3924300"/>
                </a:cubicBezTo>
                <a:lnTo>
                  <a:pt x="0" y="76200"/>
                </a:lnTo>
                <a:cubicBezTo>
                  <a:pt x="0" y="34116"/>
                  <a:pt x="34116" y="0"/>
                  <a:pt x="76200" y="0"/>
                </a:cubicBezTo>
                <a:close/>
              </a:path>
            </a:pathLst>
          </a:custGeom>
          <a:solidFill>
            <a:srgbClr val="FFF5F5"/>
          </a:solidFill>
          <a:ln w="14288">
            <a:solidFill>
              <a:srgbClr val="EF5350"/>
            </a:solidFill>
          </a:ln>
        </p:spPr>
      </p:sp>
      <p:sp>
        <p:nvSpPr>
          <p:cNvPr id="13" name="Freeform 13"/>
          <p:cNvSpPr/>
          <p:nvPr/>
        </p:nvSpPr>
        <p:spPr>
          <a:xfrm>
            <a:off x="609600" y="952500"/>
            <a:ext cx="3238500" cy="38100"/>
          </a:xfrm>
          <a:custGeom>
            <a:avLst/>
            <a:gdLst/>
            <a:ahLst/>
            <a:cxnLst/>
            <a:rect l="l" t="t" r="r" b="b"/>
            <a:pathLst>
              <a:path w="3238500" h="38100">
                <a:moveTo>
                  <a:pt x="28575" y="0"/>
                </a:moveTo>
                <a:lnTo>
                  <a:pt x="3209925" y="0"/>
                </a:lnTo>
                <a:cubicBezTo>
                  <a:pt x="3225707" y="0"/>
                  <a:pt x="3238500" y="8529"/>
                  <a:pt x="3238500" y="19050"/>
                </a:cubicBezTo>
                <a:lnTo>
                  <a:pt x="3238500" y="19050"/>
                </a:lnTo>
                <a:cubicBezTo>
                  <a:pt x="3238500" y="29571"/>
                  <a:pt x="3225707" y="38100"/>
                  <a:pt x="3209925" y="38100"/>
                </a:cubicBezTo>
                <a:lnTo>
                  <a:pt x="28575" y="38100"/>
                </a:lnTo>
                <a:cubicBezTo>
                  <a:pt x="12793" y="38100"/>
                  <a:pt x="0" y="29571"/>
                  <a:pt x="0" y="19050"/>
                </a:cubicBezTo>
                <a:lnTo>
                  <a:pt x="0" y="19050"/>
                </a:lnTo>
                <a:cubicBezTo>
                  <a:pt x="0" y="8529"/>
                  <a:pt x="12793" y="0"/>
                  <a:pt x="28575" y="0"/>
                </a:cubicBezTo>
                <a:close/>
              </a:path>
            </a:pathLst>
          </a:custGeom>
          <a:solidFill>
            <a:srgbClr val="EF5350"/>
          </a:solidFill>
          <a:ln>
            <a:noFill/>
          </a:ln>
        </p:spPr>
      </p:sp>
      <p:sp>
        <p:nvSpPr>
          <p:cNvPr id="14" name="TextBox 14"/>
          <p:cNvSpPr txBox="1"/>
          <p:nvPr/>
        </p:nvSpPr>
        <p:spPr>
          <a:xfrm>
            <a:off x="1666807" y="1078706"/>
            <a:ext cx="1124087" cy="228600"/>
          </a:xfrm>
          <a:prstGeom prst="rect">
            <a:avLst/>
          </a:prstGeom>
          <a:noFill/>
          <a:ln>
            <a:noFill/>
          </a:ln>
        </p:spPr>
        <p:txBody>
          <a:bodyPr wrap="none" lIns="0" tIns="0" rIns="0" bIns="0" anchor="t" anchorCtr="0">
            <a:spAutoFit/>
          </a:bodyPr>
          <a:lstStyle/>
          <a:p>
            <a:pPr algn="ctr"/>
            <a:r>
              <a:rPr lang="zh-CN" sz="1125" b="1" dirty="0">
                <a:solidFill>
                  <a:srgbClr val="EF5350"/>
                </a:solidFill>
                <a:latin typeface="Arial"/>
                <a:ea typeface="Microsoft YaHei"/>
                <a:cs typeface="Arial"/>
              </a:rPr>
              <a:t>Push (avant)</a:t>
            </a:r>
          </a:p>
        </p:txBody>
      </p:sp>
      <p:sp>
        <p:nvSpPr>
          <p:cNvPr id="15" name="Line 15"/>
          <p:cNvSpPr/>
          <p:nvPr/>
        </p:nvSpPr>
        <p:spPr>
          <a:xfrm>
            <a:off x="800100" y="1295400"/>
            <a:ext cx="2857500" cy="9525"/>
          </a:xfrm>
          <a:custGeom>
            <a:avLst/>
            <a:gdLst/>
            <a:ahLst/>
            <a:cxnLst/>
            <a:rect l="l" t="t" r="r" b="b"/>
            <a:pathLst>
              <a:path w="2857500" h="9525">
                <a:moveTo>
                  <a:pt x="0" y="0"/>
                </a:moveTo>
                <a:lnTo>
                  <a:pt x="2857500" y="0"/>
                </a:lnTo>
              </a:path>
            </a:pathLst>
          </a:custGeom>
          <a:noFill/>
          <a:ln w="9525">
            <a:solidFill>
              <a:srgbClr val="FFCDD2"/>
            </a:solidFill>
          </a:ln>
        </p:spPr>
      </p:sp>
      <p:sp>
        <p:nvSpPr>
          <p:cNvPr id="16" name="TextBox 16"/>
          <p:cNvSpPr txBox="1"/>
          <p:nvPr/>
        </p:nvSpPr>
        <p:spPr>
          <a:xfrm>
            <a:off x="1223236" y="1456849"/>
            <a:ext cx="2011228" cy="198120"/>
          </a:xfrm>
          <a:prstGeom prst="rect">
            <a:avLst/>
          </a:prstGeom>
          <a:noFill/>
          <a:ln>
            <a:noFill/>
          </a:ln>
        </p:spPr>
        <p:txBody>
          <a:bodyPr wrap="none" lIns="0" tIns="0" rIns="0" bIns="0" anchor="t" anchorCtr="0">
            <a:spAutoFit/>
          </a:bodyPr>
          <a:lstStyle/>
          <a:p>
            <a:pPr algn="ctr"/>
            <a:r>
              <a:rPr lang="zh-CN" sz="975" dirty="0">
                <a:solidFill>
                  <a:srgbClr val="1A2332"/>
                </a:solidFill>
                <a:latin typeface="Arial"/>
                <a:ea typeface="Microsoft YaHei"/>
                <a:cs typeface="Arial"/>
              </a:rPr>
              <a:t>La source écrit vers sa cible</a:t>
            </a:r>
          </a:p>
        </p:txBody>
      </p:sp>
      <p:sp>
        <p:nvSpPr>
          <p:cNvPr id="17" name="TextBox 17"/>
          <p:cNvSpPr txBox="1"/>
          <p:nvPr/>
        </p:nvSpPr>
        <p:spPr>
          <a:xfrm>
            <a:off x="1070158" y="1685449"/>
            <a:ext cx="2317385"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Plusieurs threads peuvent écrire</a:t>
            </a:r>
          </a:p>
        </p:txBody>
      </p:sp>
      <p:sp>
        <p:nvSpPr>
          <p:cNvPr id="18" name="TextBox 18"/>
          <p:cNvSpPr txBox="1"/>
          <p:nvPr/>
        </p:nvSpPr>
        <p:spPr>
          <a:xfrm>
            <a:off x="1347835" y="1875949"/>
            <a:ext cx="1762030"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sur la même cellule cible.</a:t>
            </a:r>
          </a:p>
        </p:txBody>
      </p:sp>
      <p:sp>
        <p:nvSpPr>
          <p:cNvPr id="19" name="Freeform 19"/>
          <p:cNvSpPr/>
          <p:nvPr/>
        </p:nvSpPr>
        <p:spPr>
          <a:xfrm>
            <a:off x="838200" y="2152650"/>
            <a:ext cx="2743200" cy="438150"/>
          </a:xfrm>
          <a:custGeom>
            <a:avLst/>
            <a:gdLst/>
            <a:ahLst/>
            <a:cxnLst/>
            <a:rect l="l" t="t" r="r" b="b"/>
            <a:pathLst>
              <a:path w="2743200" h="438150">
                <a:moveTo>
                  <a:pt x="38100" y="0"/>
                </a:moveTo>
                <a:lnTo>
                  <a:pt x="2705100" y="0"/>
                </a:lnTo>
                <a:cubicBezTo>
                  <a:pt x="2726142" y="0"/>
                  <a:pt x="2743200" y="17058"/>
                  <a:pt x="2743200" y="38100"/>
                </a:cubicBezTo>
                <a:lnTo>
                  <a:pt x="2743200" y="400050"/>
                </a:lnTo>
                <a:cubicBezTo>
                  <a:pt x="2743200" y="421092"/>
                  <a:pt x="2726142" y="438150"/>
                  <a:pt x="2705100" y="438150"/>
                </a:cubicBezTo>
                <a:lnTo>
                  <a:pt x="38100" y="438150"/>
                </a:lnTo>
                <a:cubicBezTo>
                  <a:pt x="17058" y="438150"/>
                  <a:pt x="0" y="421092"/>
                  <a:pt x="0" y="400050"/>
                </a:cubicBezTo>
                <a:lnTo>
                  <a:pt x="0" y="38100"/>
                </a:lnTo>
                <a:cubicBezTo>
                  <a:pt x="0" y="17058"/>
                  <a:pt x="17058" y="0"/>
                  <a:pt x="38100" y="0"/>
                </a:cubicBezTo>
                <a:close/>
              </a:path>
            </a:pathLst>
          </a:custGeom>
          <a:solidFill>
            <a:srgbClr val="FFEBEE"/>
          </a:solidFill>
          <a:ln w="9525">
            <a:solidFill>
              <a:srgbClr val="EF9A9A"/>
            </a:solidFill>
          </a:ln>
        </p:spPr>
      </p:sp>
      <p:sp>
        <p:nvSpPr>
          <p:cNvPr id="20" name="TextBox 20"/>
          <p:cNvSpPr txBox="1"/>
          <p:nvPr/>
        </p:nvSpPr>
        <p:spPr>
          <a:xfrm>
            <a:off x="1236226" y="2256949"/>
            <a:ext cx="1947148" cy="198120"/>
          </a:xfrm>
          <a:prstGeom prst="rect">
            <a:avLst/>
          </a:prstGeom>
          <a:noFill/>
          <a:ln>
            <a:noFill/>
          </a:ln>
        </p:spPr>
        <p:txBody>
          <a:bodyPr wrap="none" lIns="0" tIns="0" rIns="0" bIns="0" anchor="t" anchorCtr="0">
            <a:spAutoFit/>
          </a:bodyPr>
          <a:lstStyle/>
          <a:p>
            <a:pPr algn="ctr"/>
            <a:r>
              <a:rPr lang="zh-CN" sz="975" dirty="0">
                <a:solidFill>
                  <a:srgbClr val="C62828"/>
                </a:solidFill>
                <a:latin typeface="Consolas"/>
                <a:ea typeface="Microsoft YaHei"/>
                <a:cs typeface="Consolas"/>
              </a:rPr>
              <a:t>mesh_out[i+dx][j+dy] = ...</a:t>
            </a:r>
          </a:p>
        </p:txBody>
      </p:sp>
      <p:sp>
        <p:nvSpPr>
          <p:cNvPr id="21" name="TextBox 21"/>
          <p:cNvSpPr txBox="1"/>
          <p:nvPr/>
        </p:nvSpPr>
        <p:spPr>
          <a:xfrm>
            <a:off x="1286065" y="2409349"/>
            <a:ext cx="1847469" cy="198120"/>
          </a:xfrm>
          <a:prstGeom prst="rect">
            <a:avLst/>
          </a:prstGeom>
          <a:noFill/>
          <a:ln>
            <a:noFill/>
          </a:ln>
        </p:spPr>
        <p:txBody>
          <a:bodyPr wrap="none" lIns="0" tIns="0" rIns="0" bIns="0" anchor="t" anchorCtr="0">
            <a:spAutoFit/>
          </a:bodyPr>
          <a:lstStyle/>
          <a:p>
            <a:pPr algn="ctr"/>
            <a:r>
              <a:rPr lang="zh-CN" sz="975" dirty="0">
                <a:solidFill>
                  <a:srgbClr val="C62828"/>
                </a:solidFill>
                <a:latin typeface="Arial"/>
                <a:ea typeface="Microsoft YaHei"/>
                <a:cs typeface="Arial"/>
              </a:rPr>
              <a:t>→ écriture conflict (race)</a:t>
            </a:r>
          </a:p>
        </p:txBody>
      </p:sp>
      <p:sp>
        <p:nvSpPr>
          <p:cNvPr id="22" name="TextBox 22"/>
          <p:cNvSpPr txBox="1"/>
          <p:nvPr/>
        </p:nvSpPr>
        <p:spPr>
          <a:xfrm>
            <a:off x="1312235" y="2809399"/>
            <a:ext cx="1833229" cy="198120"/>
          </a:xfrm>
          <a:prstGeom prst="rect">
            <a:avLst/>
          </a:prstGeom>
          <a:noFill/>
          <a:ln>
            <a:noFill/>
          </a:ln>
        </p:spPr>
        <p:txBody>
          <a:bodyPr wrap="none" lIns="0" tIns="0" rIns="0" bIns="0" anchor="t" anchorCtr="0">
            <a:spAutoFit/>
          </a:bodyPr>
          <a:lstStyle/>
          <a:p>
            <a:pPr algn="ctr"/>
            <a:r>
              <a:rPr lang="zh-CN" sz="975" dirty="0">
                <a:solidFill>
                  <a:srgbClr val="C62828"/>
                </a:solidFill>
                <a:latin typeface="Arial"/>
                <a:ea typeface="Microsoft YaHei"/>
                <a:cs typeface="Arial"/>
              </a:rPr>
              <a:t>Race condition sans mutex</a:t>
            </a:r>
          </a:p>
        </p:txBody>
      </p:sp>
      <p:sp>
        <p:nvSpPr>
          <p:cNvPr id="23" name="TextBox 23"/>
          <p:cNvSpPr txBox="1"/>
          <p:nvPr/>
        </p:nvSpPr>
        <p:spPr>
          <a:xfrm>
            <a:off x="1184077" y="3018949"/>
            <a:ext cx="2089547" cy="198120"/>
          </a:xfrm>
          <a:prstGeom prst="rect">
            <a:avLst/>
          </a:prstGeom>
          <a:noFill/>
          <a:ln>
            <a:noFill/>
          </a:ln>
        </p:spPr>
        <p:txBody>
          <a:bodyPr wrap="none" lIns="0" tIns="0" rIns="0" bIns="0" anchor="t" anchorCtr="0">
            <a:spAutoFit/>
          </a:bodyPr>
          <a:lstStyle/>
          <a:p>
            <a:pPr algn="ctr"/>
            <a:r>
              <a:rPr lang="zh-CN" sz="975" dirty="0">
                <a:solidFill>
                  <a:srgbClr val="C62828"/>
                </a:solidFill>
                <a:latin typeface="Arial"/>
                <a:ea typeface="Microsoft YaHei"/>
                <a:cs typeface="Arial"/>
              </a:rPr>
              <a:t>Non parallélisable sans verrou</a:t>
            </a:r>
          </a:p>
        </p:txBody>
      </p:sp>
      <p:sp>
        <p:nvSpPr>
          <p:cNvPr id="24" name="TextBox 24"/>
          <p:cNvSpPr txBox="1"/>
          <p:nvPr/>
        </p:nvSpPr>
        <p:spPr>
          <a:xfrm>
            <a:off x="1180517" y="3323749"/>
            <a:ext cx="2096667" cy="198120"/>
          </a:xfrm>
          <a:prstGeom prst="rect">
            <a:avLst/>
          </a:prstGeom>
          <a:noFill/>
          <a:ln>
            <a:noFill/>
          </a:ln>
        </p:spPr>
        <p:txBody>
          <a:bodyPr wrap="none" lIns="0" tIns="0" rIns="0" bIns="0" anchor="t" anchorCtr="0">
            <a:spAutoFit/>
          </a:bodyPr>
          <a:lstStyle/>
          <a:p>
            <a:pPr algn="ctr"/>
            <a:r>
              <a:rPr lang="zh-CN" sz="975" dirty="0">
                <a:solidFill>
                  <a:srgbClr val="90A4AE"/>
                </a:solidFill>
                <a:latin typeface="Arial"/>
                <a:ea typeface="Microsoft YaHei"/>
                <a:cs typeface="Arial"/>
              </a:rPr>
              <a:t>OpenMP requière des sections</a:t>
            </a:r>
          </a:p>
        </p:txBody>
      </p:sp>
      <p:sp>
        <p:nvSpPr>
          <p:cNvPr id="25" name="TextBox 25"/>
          <p:cNvSpPr txBox="1"/>
          <p:nvPr/>
        </p:nvSpPr>
        <p:spPr>
          <a:xfrm>
            <a:off x="1379875" y="3495199"/>
            <a:ext cx="1697950" cy="198120"/>
          </a:xfrm>
          <a:prstGeom prst="rect">
            <a:avLst/>
          </a:prstGeom>
          <a:noFill/>
          <a:ln>
            <a:noFill/>
          </a:ln>
        </p:spPr>
        <p:txBody>
          <a:bodyPr wrap="none" lIns="0" tIns="0" rIns="0" bIns="0" anchor="t" anchorCtr="0">
            <a:spAutoFit/>
          </a:bodyPr>
          <a:lstStyle/>
          <a:p>
            <a:pPr algn="ctr"/>
            <a:r>
              <a:rPr lang="zh-CN" sz="975" dirty="0">
                <a:solidFill>
                  <a:srgbClr val="90A4AE"/>
                </a:solidFill>
                <a:latin typeface="Arial"/>
                <a:ea typeface="Microsoft YaHei"/>
                <a:cs typeface="Arial"/>
              </a:rPr>
              <a:t>critiques → sérialisation</a:t>
            </a:r>
          </a:p>
        </p:txBody>
      </p:sp>
      <p:sp>
        <p:nvSpPr>
          <p:cNvPr id="26" name="Freeform 26"/>
          <p:cNvSpPr/>
          <p:nvPr/>
        </p:nvSpPr>
        <p:spPr>
          <a:xfrm>
            <a:off x="4476750" y="952500"/>
            <a:ext cx="3238500" cy="4000500"/>
          </a:xfrm>
          <a:custGeom>
            <a:avLst/>
            <a:gdLst/>
            <a:ahLst/>
            <a:cxnLst/>
            <a:rect l="l" t="t" r="r" b="b"/>
            <a:pathLst>
              <a:path w="3238500" h="4000500">
                <a:moveTo>
                  <a:pt x="76200" y="0"/>
                </a:moveTo>
                <a:lnTo>
                  <a:pt x="3162300" y="0"/>
                </a:lnTo>
                <a:cubicBezTo>
                  <a:pt x="3204384" y="0"/>
                  <a:pt x="3238500" y="34116"/>
                  <a:pt x="3238500" y="76200"/>
                </a:cubicBezTo>
                <a:lnTo>
                  <a:pt x="3238500" y="3924300"/>
                </a:lnTo>
                <a:cubicBezTo>
                  <a:pt x="3238500" y="3966384"/>
                  <a:pt x="3204384" y="4000500"/>
                  <a:pt x="3162300" y="4000500"/>
                </a:cubicBezTo>
                <a:lnTo>
                  <a:pt x="76200" y="4000500"/>
                </a:lnTo>
                <a:cubicBezTo>
                  <a:pt x="34116" y="4000500"/>
                  <a:pt x="0" y="3966384"/>
                  <a:pt x="0" y="3924300"/>
                </a:cubicBezTo>
                <a:lnTo>
                  <a:pt x="0" y="76200"/>
                </a:lnTo>
                <a:cubicBezTo>
                  <a:pt x="0" y="34116"/>
                  <a:pt x="34116" y="0"/>
                  <a:pt x="76200" y="0"/>
                </a:cubicBezTo>
                <a:close/>
              </a:path>
            </a:pathLst>
          </a:custGeom>
          <a:solidFill>
            <a:srgbClr val="E8F5E9"/>
          </a:solidFill>
          <a:ln w="14288">
            <a:solidFill>
              <a:srgbClr val="66BB6A"/>
            </a:solidFill>
          </a:ln>
        </p:spPr>
      </p:sp>
      <p:sp>
        <p:nvSpPr>
          <p:cNvPr id="27" name="Freeform 27"/>
          <p:cNvSpPr/>
          <p:nvPr/>
        </p:nvSpPr>
        <p:spPr>
          <a:xfrm>
            <a:off x="4476750" y="952500"/>
            <a:ext cx="3238500" cy="38100"/>
          </a:xfrm>
          <a:custGeom>
            <a:avLst/>
            <a:gdLst/>
            <a:ahLst/>
            <a:cxnLst/>
            <a:rect l="l" t="t" r="r" b="b"/>
            <a:pathLst>
              <a:path w="3238500" h="38100">
                <a:moveTo>
                  <a:pt x="28575" y="0"/>
                </a:moveTo>
                <a:lnTo>
                  <a:pt x="3209925" y="0"/>
                </a:lnTo>
                <a:cubicBezTo>
                  <a:pt x="3225707" y="0"/>
                  <a:pt x="3238500" y="8529"/>
                  <a:pt x="3238500" y="19050"/>
                </a:cubicBezTo>
                <a:lnTo>
                  <a:pt x="3238500" y="19050"/>
                </a:lnTo>
                <a:cubicBezTo>
                  <a:pt x="3238500" y="29571"/>
                  <a:pt x="3225707" y="38100"/>
                  <a:pt x="3209925" y="38100"/>
                </a:cubicBezTo>
                <a:lnTo>
                  <a:pt x="28575" y="38100"/>
                </a:lnTo>
                <a:cubicBezTo>
                  <a:pt x="12793" y="38100"/>
                  <a:pt x="0" y="29571"/>
                  <a:pt x="0" y="19050"/>
                </a:cubicBezTo>
                <a:lnTo>
                  <a:pt x="0" y="19050"/>
                </a:lnTo>
                <a:cubicBezTo>
                  <a:pt x="0" y="8529"/>
                  <a:pt x="12793" y="0"/>
                  <a:pt x="28575" y="0"/>
                </a:cubicBezTo>
                <a:close/>
              </a:path>
            </a:pathLst>
          </a:custGeom>
          <a:solidFill>
            <a:srgbClr val="2E7D32"/>
          </a:solidFill>
          <a:ln>
            <a:noFill/>
          </a:ln>
        </p:spPr>
      </p:sp>
      <p:sp>
        <p:nvSpPr>
          <p:cNvPr id="28" name="TextBox 28"/>
          <p:cNvSpPr txBox="1"/>
          <p:nvPr/>
        </p:nvSpPr>
        <p:spPr>
          <a:xfrm>
            <a:off x="5607278" y="1078706"/>
            <a:ext cx="977444" cy="228600"/>
          </a:xfrm>
          <a:prstGeom prst="rect">
            <a:avLst/>
          </a:prstGeom>
          <a:noFill/>
          <a:ln>
            <a:noFill/>
          </a:ln>
        </p:spPr>
        <p:txBody>
          <a:bodyPr wrap="none" lIns="0" tIns="0" rIns="0" bIns="0" anchor="t" anchorCtr="0">
            <a:spAutoFit/>
          </a:bodyPr>
          <a:lstStyle/>
          <a:p>
            <a:pPr algn="ctr"/>
            <a:r>
              <a:rPr lang="zh-CN" sz="1125" b="1" dirty="0">
                <a:solidFill>
                  <a:srgbClr val="2E7D32"/>
                </a:solidFill>
                <a:latin typeface="Arial"/>
                <a:ea typeface="Microsoft YaHei"/>
                <a:cs typeface="Arial"/>
              </a:rPr>
              <a:t>Schéma Pull</a:t>
            </a:r>
          </a:p>
        </p:txBody>
      </p:sp>
      <p:sp>
        <p:nvSpPr>
          <p:cNvPr id="29" name="Line 29"/>
          <p:cNvSpPr/>
          <p:nvPr/>
        </p:nvSpPr>
        <p:spPr>
          <a:xfrm>
            <a:off x="4667250" y="1295400"/>
            <a:ext cx="2857500" cy="9525"/>
          </a:xfrm>
          <a:custGeom>
            <a:avLst/>
            <a:gdLst/>
            <a:ahLst/>
            <a:cxnLst/>
            <a:rect l="l" t="t" r="r" b="b"/>
            <a:pathLst>
              <a:path w="2857500" h="9525">
                <a:moveTo>
                  <a:pt x="0" y="0"/>
                </a:moveTo>
                <a:lnTo>
                  <a:pt x="2857500" y="0"/>
                </a:lnTo>
              </a:path>
            </a:pathLst>
          </a:custGeom>
          <a:noFill/>
          <a:ln w="9525">
            <a:solidFill>
              <a:srgbClr val="C8E6C9"/>
            </a:solidFill>
          </a:ln>
        </p:spPr>
      </p:sp>
      <p:sp>
        <p:nvSpPr>
          <p:cNvPr id="30" name="TextBox 30"/>
          <p:cNvSpPr txBox="1"/>
          <p:nvPr/>
        </p:nvSpPr>
        <p:spPr>
          <a:xfrm>
            <a:off x="5125986" y="1456849"/>
            <a:ext cx="1940028" cy="198120"/>
          </a:xfrm>
          <a:prstGeom prst="rect">
            <a:avLst/>
          </a:prstGeom>
          <a:noFill/>
          <a:ln>
            <a:noFill/>
          </a:ln>
        </p:spPr>
        <p:txBody>
          <a:bodyPr wrap="none" lIns="0" tIns="0" rIns="0" bIns="0" anchor="t" anchorCtr="0">
            <a:spAutoFit/>
          </a:bodyPr>
          <a:lstStyle/>
          <a:p>
            <a:pPr algn="ctr"/>
            <a:r>
              <a:rPr lang="zh-CN" sz="975" dirty="0">
                <a:solidFill>
                  <a:srgbClr val="1A2332"/>
                </a:solidFill>
                <a:latin typeface="Arial"/>
                <a:ea typeface="Microsoft YaHei"/>
                <a:cs typeface="Arial"/>
              </a:rPr>
              <a:t>La cible lit depuis sa source</a:t>
            </a:r>
          </a:p>
        </p:txBody>
      </p:sp>
      <p:sp>
        <p:nvSpPr>
          <p:cNvPr id="31" name="TextBox 31"/>
          <p:cNvSpPr txBox="1"/>
          <p:nvPr/>
        </p:nvSpPr>
        <p:spPr>
          <a:xfrm>
            <a:off x="4997827" y="1685449"/>
            <a:ext cx="2196346"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Chaque thread est propriétaire</a:t>
            </a:r>
          </a:p>
        </p:txBody>
      </p:sp>
      <p:sp>
        <p:nvSpPr>
          <p:cNvPr id="32" name="TextBox 32"/>
          <p:cNvSpPr txBox="1"/>
          <p:nvPr/>
        </p:nvSpPr>
        <p:spPr>
          <a:xfrm>
            <a:off x="5108186" y="1875949"/>
            <a:ext cx="1975628"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de sa cellule de destination.</a:t>
            </a:r>
          </a:p>
        </p:txBody>
      </p:sp>
      <p:sp>
        <p:nvSpPr>
          <p:cNvPr id="33" name="Freeform 33"/>
          <p:cNvSpPr/>
          <p:nvPr/>
        </p:nvSpPr>
        <p:spPr>
          <a:xfrm>
            <a:off x="4705350" y="2152650"/>
            <a:ext cx="2781300" cy="438150"/>
          </a:xfrm>
          <a:custGeom>
            <a:avLst/>
            <a:gdLst/>
            <a:ahLst/>
            <a:cxnLst/>
            <a:rect l="l" t="t" r="r" b="b"/>
            <a:pathLst>
              <a:path w="2781300" h="438150">
                <a:moveTo>
                  <a:pt x="38100" y="0"/>
                </a:moveTo>
                <a:lnTo>
                  <a:pt x="2743200" y="0"/>
                </a:lnTo>
                <a:cubicBezTo>
                  <a:pt x="2764242" y="0"/>
                  <a:pt x="2781300" y="17058"/>
                  <a:pt x="2781300" y="38100"/>
                </a:cubicBezTo>
                <a:lnTo>
                  <a:pt x="2781300" y="400050"/>
                </a:lnTo>
                <a:cubicBezTo>
                  <a:pt x="2781300" y="421092"/>
                  <a:pt x="2764242" y="438150"/>
                  <a:pt x="2743200" y="438150"/>
                </a:cubicBezTo>
                <a:lnTo>
                  <a:pt x="38100" y="438150"/>
                </a:lnTo>
                <a:cubicBezTo>
                  <a:pt x="17058" y="438150"/>
                  <a:pt x="0" y="421092"/>
                  <a:pt x="0" y="400050"/>
                </a:cubicBezTo>
                <a:lnTo>
                  <a:pt x="0" y="38100"/>
                </a:lnTo>
                <a:cubicBezTo>
                  <a:pt x="0" y="17058"/>
                  <a:pt x="17058" y="0"/>
                  <a:pt x="38100" y="0"/>
                </a:cubicBezTo>
                <a:close/>
              </a:path>
            </a:pathLst>
          </a:custGeom>
          <a:solidFill>
            <a:srgbClr val="F1F8E9"/>
          </a:solidFill>
          <a:ln w="9525">
            <a:solidFill>
              <a:srgbClr val="A5D6A7"/>
            </a:solidFill>
          </a:ln>
        </p:spPr>
      </p:sp>
      <p:sp>
        <p:nvSpPr>
          <p:cNvPr id="34" name="TextBox 34"/>
          <p:cNvSpPr txBox="1"/>
          <p:nvPr/>
        </p:nvSpPr>
        <p:spPr>
          <a:xfrm>
            <a:off x="4769989" y="2256949"/>
            <a:ext cx="2652022" cy="198120"/>
          </a:xfrm>
          <a:prstGeom prst="rect">
            <a:avLst/>
          </a:prstGeom>
          <a:noFill/>
          <a:ln>
            <a:noFill/>
          </a:ln>
        </p:spPr>
        <p:txBody>
          <a:bodyPr wrap="none" lIns="0" tIns="0" rIns="0" bIns="0" anchor="t" anchorCtr="0">
            <a:spAutoFit/>
          </a:bodyPr>
          <a:lstStyle/>
          <a:p>
            <a:pPr algn="ctr"/>
            <a:r>
              <a:rPr lang="zh-CN" sz="975" dirty="0">
                <a:solidFill>
                  <a:srgbClr val="2E7D32"/>
                </a:solidFill>
                <a:latin typeface="Consolas"/>
                <a:ea typeface="Microsoft YaHei"/>
                <a:cs typeface="Consolas"/>
              </a:rPr>
              <a:t>mesh_out[i][j] = mesh_in[i-dx][j-dy]</a:t>
            </a:r>
          </a:p>
        </p:txBody>
      </p:sp>
      <p:sp>
        <p:nvSpPr>
          <p:cNvPr id="35" name="TextBox 35"/>
          <p:cNvSpPr txBox="1"/>
          <p:nvPr/>
        </p:nvSpPr>
        <p:spPr>
          <a:xfrm>
            <a:off x="5389424" y="2409349"/>
            <a:ext cx="1413153" cy="198120"/>
          </a:xfrm>
          <a:prstGeom prst="rect">
            <a:avLst/>
          </a:prstGeom>
          <a:noFill/>
          <a:ln>
            <a:noFill/>
          </a:ln>
        </p:spPr>
        <p:txBody>
          <a:bodyPr wrap="none" lIns="0" tIns="0" rIns="0" bIns="0" anchor="t" anchorCtr="0">
            <a:spAutoFit/>
          </a:bodyPr>
          <a:lstStyle/>
          <a:p>
            <a:pPr algn="ctr"/>
            <a:r>
              <a:rPr lang="zh-CN" sz="975" dirty="0">
                <a:solidFill>
                  <a:srgbClr val="2E7D32"/>
                </a:solidFill>
                <a:latin typeface="Arial"/>
                <a:ea typeface="Microsoft YaHei"/>
                <a:cs typeface="Arial"/>
              </a:rPr>
              <a:t>→ écriture exclusive</a:t>
            </a:r>
          </a:p>
        </p:txBody>
      </p:sp>
      <p:sp>
        <p:nvSpPr>
          <p:cNvPr id="36" name="TextBox 36"/>
          <p:cNvSpPr txBox="1"/>
          <p:nvPr/>
        </p:nvSpPr>
        <p:spPr>
          <a:xfrm>
            <a:off x="5257705" y="2809399"/>
            <a:ext cx="1676591" cy="198120"/>
          </a:xfrm>
          <a:prstGeom prst="rect">
            <a:avLst/>
          </a:prstGeom>
          <a:noFill/>
          <a:ln>
            <a:noFill/>
          </a:ln>
        </p:spPr>
        <p:txBody>
          <a:bodyPr wrap="none" lIns="0" tIns="0" rIns="0" bIns="0" anchor="t" anchorCtr="0">
            <a:spAutoFit/>
          </a:bodyPr>
          <a:lstStyle/>
          <a:p>
            <a:pPr algn="ctr"/>
            <a:r>
              <a:rPr lang="zh-CN" sz="975" dirty="0">
                <a:solidFill>
                  <a:srgbClr val="2E7D32"/>
                </a:solidFill>
                <a:latin typeface="Arial"/>
                <a:ea typeface="Microsoft YaHei"/>
                <a:cs typeface="Arial"/>
              </a:rPr>
              <a:t>Race-free, sans verrou</a:t>
            </a:r>
          </a:p>
        </p:txBody>
      </p:sp>
      <p:sp>
        <p:nvSpPr>
          <p:cNvPr id="37" name="TextBox 37"/>
          <p:cNvSpPr txBox="1"/>
          <p:nvPr/>
        </p:nvSpPr>
        <p:spPr>
          <a:xfrm>
            <a:off x="4994267" y="3018949"/>
            <a:ext cx="2203466" cy="198120"/>
          </a:xfrm>
          <a:prstGeom prst="rect">
            <a:avLst/>
          </a:prstGeom>
          <a:noFill/>
          <a:ln>
            <a:noFill/>
          </a:ln>
        </p:spPr>
        <p:txBody>
          <a:bodyPr wrap="none" lIns="0" tIns="0" rIns="0" bIns="0" anchor="t" anchorCtr="0">
            <a:spAutoFit/>
          </a:bodyPr>
          <a:lstStyle/>
          <a:p>
            <a:pPr algn="ctr"/>
            <a:r>
              <a:rPr lang="zh-CN" sz="975" dirty="0">
                <a:solidFill>
                  <a:srgbClr val="2E7D32"/>
                </a:solidFill>
                <a:latin typeface="Arial"/>
                <a:ea typeface="Microsoft YaHei"/>
                <a:cs typeface="Arial"/>
              </a:rPr>
              <a:t>Chaque thread isolé en écriture</a:t>
            </a:r>
          </a:p>
        </p:txBody>
      </p:sp>
      <p:sp>
        <p:nvSpPr>
          <p:cNvPr id="38" name="TextBox 38"/>
          <p:cNvSpPr txBox="1"/>
          <p:nvPr/>
        </p:nvSpPr>
        <p:spPr>
          <a:xfrm>
            <a:off x="5186505" y="3323749"/>
            <a:ext cx="1818989"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Équivalence mathématique</a:t>
            </a:r>
          </a:p>
        </p:txBody>
      </p:sp>
      <p:sp>
        <p:nvSpPr>
          <p:cNvPr id="39" name="TextBox 39"/>
          <p:cNvSpPr txBox="1"/>
          <p:nvPr/>
        </p:nvSpPr>
        <p:spPr>
          <a:xfrm>
            <a:off x="5125986" y="3495199"/>
            <a:ext cx="1940028"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garantie par symétrie D2Q9</a:t>
            </a:r>
          </a:p>
        </p:txBody>
      </p:sp>
      <p:sp>
        <p:nvSpPr>
          <p:cNvPr id="40" name="Freeform 40"/>
          <p:cNvSpPr/>
          <p:nvPr/>
        </p:nvSpPr>
        <p:spPr>
          <a:xfrm>
            <a:off x="8343900" y="952500"/>
            <a:ext cx="3238500" cy="4000500"/>
          </a:xfrm>
          <a:custGeom>
            <a:avLst/>
            <a:gdLst/>
            <a:ahLst/>
            <a:cxnLst/>
            <a:rect l="l" t="t" r="r" b="b"/>
            <a:pathLst>
              <a:path w="3238500" h="4000500">
                <a:moveTo>
                  <a:pt x="76200" y="0"/>
                </a:moveTo>
                <a:lnTo>
                  <a:pt x="3162300" y="0"/>
                </a:lnTo>
                <a:cubicBezTo>
                  <a:pt x="3204384" y="0"/>
                  <a:pt x="3238500" y="34116"/>
                  <a:pt x="3238500" y="76200"/>
                </a:cubicBezTo>
                <a:lnTo>
                  <a:pt x="3238500" y="3924300"/>
                </a:lnTo>
                <a:cubicBezTo>
                  <a:pt x="3238500" y="3966384"/>
                  <a:pt x="3204384" y="4000500"/>
                  <a:pt x="3162300" y="4000500"/>
                </a:cubicBezTo>
                <a:lnTo>
                  <a:pt x="76200" y="4000500"/>
                </a:lnTo>
                <a:cubicBezTo>
                  <a:pt x="34116" y="4000500"/>
                  <a:pt x="0" y="3966384"/>
                  <a:pt x="0" y="3924300"/>
                </a:cubicBezTo>
                <a:lnTo>
                  <a:pt x="0" y="76200"/>
                </a:lnTo>
                <a:cubicBezTo>
                  <a:pt x="0" y="34116"/>
                  <a:pt x="34116" y="0"/>
                  <a:pt x="76200" y="0"/>
                </a:cubicBezTo>
                <a:close/>
              </a:path>
            </a:pathLst>
          </a:custGeom>
          <a:solidFill>
            <a:srgbClr val="E3F2FD"/>
          </a:solidFill>
          <a:ln w="14288">
            <a:solidFill>
              <a:srgbClr val="1565C0"/>
            </a:solidFill>
          </a:ln>
        </p:spPr>
      </p:sp>
      <p:sp>
        <p:nvSpPr>
          <p:cNvPr id="41" name="Freeform 41"/>
          <p:cNvSpPr/>
          <p:nvPr/>
        </p:nvSpPr>
        <p:spPr>
          <a:xfrm>
            <a:off x="8343900" y="952500"/>
            <a:ext cx="3238500" cy="38100"/>
          </a:xfrm>
          <a:custGeom>
            <a:avLst/>
            <a:gdLst/>
            <a:ahLst/>
            <a:cxnLst/>
            <a:rect l="l" t="t" r="r" b="b"/>
            <a:pathLst>
              <a:path w="3238500" h="38100">
                <a:moveTo>
                  <a:pt x="28575" y="0"/>
                </a:moveTo>
                <a:lnTo>
                  <a:pt x="3209925" y="0"/>
                </a:lnTo>
                <a:cubicBezTo>
                  <a:pt x="3225707" y="0"/>
                  <a:pt x="3238500" y="8529"/>
                  <a:pt x="3238500" y="19050"/>
                </a:cubicBezTo>
                <a:lnTo>
                  <a:pt x="3238500" y="19050"/>
                </a:lnTo>
                <a:cubicBezTo>
                  <a:pt x="3238500" y="29571"/>
                  <a:pt x="3225707" y="38100"/>
                  <a:pt x="3209925" y="38100"/>
                </a:cubicBezTo>
                <a:lnTo>
                  <a:pt x="28575" y="38100"/>
                </a:lnTo>
                <a:cubicBezTo>
                  <a:pt x="12793" y="38100"/>
                  <a:pt x="0" y="29571"/>
                  <a:pt x="0" y="19050"/>
                </a:cubicBezTo>
                <a:lnTo>
                  <a:pt x="0" y="19050"/>
                </a:lnTo>
                <a:cubicBezTo>
                  <a:pt x="0" y="8529"/>
                  <a:pt x="12793" y="0"/>
                  <a:pt x="28575" y="0"/>
                </a:cubicBezTo>
                <a:close/>
              </a:path>
            </a:pathLst>
          </a:custGeom>
          <a:solidFill>
            <a:srgbClr val="1565C0"/>
          </a:solidFill>
          <a:ln>
            <a:noFill/>
          </a:ln>
        </p:spPr>
      </p:sp>
      <p:sp>
        <p:nvSpPr>
          <p:cNvPr id="42" name="TextBox 42"/>
          <p:cNvSpPr txBox="1"/>
          <p:nvPr/>
        </p:nvSpPr>
        <p:spPr>
          <a:xfrm>
            <a:off x="9629698" y="1078706"/>
            <a:ext cx="666905" cy="228600"/>
          </a:xfrm>
          <a:prstGeom prst="rect">
            <a:avLst/>
          </a:prstGeom>
          <a:noFill/>
          <a:ln>
            <a:noFill/>
          </a:ln>
        </p:spPr>
        <p:txBody>
          <a:bodyPr wrap="none" lIns="0" tIns="0" rIns="0" bIns="0" anchor="t" anchorCtr="0">
            <a:spAutoFit/>
          </a:bodyPr>
          <a:lstStyle/>
          <a:p>
            <a:pPr algn="ctr"/>
            <a:r>
              <a:rPr lang="zh-CN" sz="1125" b="1" dirty="0">
                <a:solidFill>
                  <a:srgbClr val="1565C0"/>
                </a:solidFill>
                <a:latin typeface="Arial"/>
                <a:ea typeface="Microsoft YaHei"/>
                <a:cs typeface="Arial"/>
              </a:rPr>
              <a:t>OpenMP</a:t>
            </a:r>
          </a:p>
        </p:txBody>
      </p:sp>
      <p:sp>
        <p:nvSpPr>
          <p:cNvPr id="43" name="Line 43"/>
          <p:cNvSpPr/>
          <p:nvPr/>
        </p:nvSpPr>
        <p:spPr>
          <a:xfrm>
            <a:off x="8534400" y="1295400"/>
            <a:ext cx="2857500" cy="9525"/>
          </a:xfrm>
          <a:custGeom>
            <a:avLst/>
            <a:gdLst/>
            <a:ahLst/>
            <a:cxnLst/>
            <a:rect l="l" t="t" r="r" b="b"/>
            <a:pathLst>
              <a:path w="2857500" h="9525">
                <a:moveTo>
                  <a:pt x="0" y="0"/>
                </a:moveTo>
                <a:lnTo>
                  <a:pt x="2857500" y="0"/>
                </a:lnTo>
              </a:path>
            </a:pathLst>
          </a:custGeom>
          <a:noFill/>
          <a:ln w="9525">
            <a:solidFill>
              <a:srgbClr val="BBDEFB"/>
            </a:solidFill>
          </a:ln>
        </p:spPr>
      </p:sp>
      <p:sp>
        <p:nvSpPr>
          <p:cNvPr id="44" name="TextBox 44"/>
          <p:cNvSpPr txBox="1"/>
          <p:nvPr/>
        </p:nvSpPr>
        <p:spPr>
          <a:xfrm>
            <a:off x="8893457" y="1456849"/>
            <a:ext cx="2139386" cy="198120"/>
          </a:xfrm>
          <a:prstGeom prst="rect">
            <a:avLst/>
          </a:prstGeom>
          <a:noFill/>
          <a:ln>
            <a:noFill/>
          </a:ln>
        </p:spPr>
        <p:txBody>
          <a:bodyPr wrap="none" lIns="0" tIns="0" rIns="0" bIns="0" anchor="t" anchorCtr="0">
            <a:spAutoFit/>
          </a:bodyPr>
          <a:lstStyle/>
          <a:p>
            <a:pPr algn="ctr"/>
            <a:r>
              <a:rPr lang="zh-CN" sz="975" dirty="0">
                <a:solidFill>
                  <a:srgbClr val="1A2332"/>
                </a:solidFill>
                <a:latin typeface="Arial"/>
                <a:ea typeface="Microsoft YaHei"/>
                <a:cs typeface="Arial"/>
              </a:rPr>
              <a:t>Pull rend le parallélisme trivial</a:t>
            </a:r>
          </a:p>
        </p:txBody>
      </p:sp>
      <p:sp>
        <p:nvSpPr>
          <p:cNvPr id="45" name="Freeform 45"/>
          <p:cNvSpPr/>
          <p:nvPr/>
        </p:nvSpPr>
        <p:spPr>
          <a:xfrm>
            <a:off x="8572500" y="1714500"/>
            <a:ext cx="2781300" cy="552450"/>
          </a:xfrm>
          <a:custGeom>
            <a:avLst/>
            <a:gdLst/>
            <a:ahLst/>
            <a:cxnLst/>
            <a:rect l="l" t="t" r="r" b="b"/>
            <a:pathLst>
              <a:path w="2781300" h="552450">
                <a:moveTo>
                  <a:pt x="38100" y="0"/>
                </a:moveTo>
                <a:lnTo>
                  <a:pt x="2743200" y="0"/>
                </a:lnTo>
                <a:cubicBezTo>
                  <a:pt x="2764242" y="0"/>
                  <a:pt x="2781300" y="17058"/>
                  <a:pt x="2781300" y="38100"/>
                </a:cubicBezTo>
                <a:lnTo>
                  <a:pt x="2781300" y="514350"/>
                </a:lnTo>
                <a:cubicBezTo>
                  <a:pt x="2781300" y="535392"/>
                  <a:pt x="2764242" y="552450"/>
                  <a:pt x="2743200" y="552450"/>
                </a:cubicBezTo>
                <a:lnTo>
                  <a:pt x="38100" y="552450"/>
                </a:lnTo>
                <a:cubicBezTo>
                  <a:pt x="17058" y="552450"/>
                  <a:pt x="0" y="535392"/>
                  <a:pt x="0" y="514350"/>
                </a:cubicBezTo>
                <a:lnTo>
                  <a:pt x="0" y="38100"/>
                </a:lnTo>
                <a:cubicBezTo>
                  <a:pt x="0" y="17058"/>
                  <a:pt x="17058" y="0"/>
                  <a:pt x="38100" y="0"/>
                </a:cubicBezTo>
                <a:close/>
              </a:path>
            </a:pathLst>
          </a:custGeom>
          <a:solidFill>
            <a:srgbClr val="F4F7FA"/>
          </a:solidFill>
          <a:ln w="9525">
            <a:solidFill>
              <a:srgbClr val="CFD8DC"/>
            </a:solidFill>
          </a:ln>
        </p:spPr>
      </p:sp>
      <p:sp>
        <p:nvSpPr>
          <p:cNvPr id="46" name="TextBox 46"/>
          <p:cNvSpPr txBox="1"/>
          <p:nvPr/>
        </p:nvSpPr>
        <p:spPr>
          <a:xfrm>
            <a:off x="9089255" y="1799749"/>
            <a:ext cx="1747790" cy="198120"/>
          </a:xfrm>
          <a:prstGeom prst="rect">
            <a:avLst/>
          </a:prstGeom>
          <a:noFill/>
          <a:ln>
            <a:noFill/>
          </a:ln>
        </p:spPr>
        <p:txBody>
          <a:bodyPr wrap="none" lIns="0" tIns="0" rIns="0" bIns="0" anchor="t" anchorCtr="0">
            <a:spAutoFit/>
          </a:bodyPr>
          <a:lstStyle/>
          <a:p>
            <a:pPr algn="ctr"/>
            <a:r>
              <a:rPr lang="zh-CN" sz="975" dirty="0">
                <a:solidFill>
                  <a:srgbClr val="1565C0"/>
                </a:solidFill>
                <a:latin typeface="Consolas"/>
                <a:ea typeface="Microsoft YaHei"/>
                <a:cs typeface="Consolas"/>
              </a:rPr>
              <a:t>#pragma omp parallel for</a:t>
            </a:r>
          </a:p>
        </p:txBody>
      </p:sp>
      <p:sp>
        <p:nvSpPr>
          <p:cNvPr id="47" name="TextBox 47"/>
          <p:cNvSpPr txBox="1"/>
          <p:nvPr/>
        </p:nvSpPr>
        <p:spPr>
          <a:xfrm>
            <a:off x="9359813" y="1971199"/>
            <a:ext cx="1206675" cy="198120"/>
          </a:xfrm>
          <a:prstGeom prst="rect">
            <a:avLst/>
          </a:prstGeom>
          <a:noFill/>
          <a:ln>
            <a:noFill/>
          </a:ln>
        </p:spPr>
        <p:txBody>
          <a:bodyPr wrap="none" lIns="0" tIns="0" rIns="0" bIns="0" anchor="t" anchorCtr="0">
            <a:spAutoFit/>
          </a:bodyPr>
          <a:lstStyle/>
          <a:p>
            <a:pPr algn="ctr"/>
            <a:r>
              <a:rPr lang="zh-CN" sz="975" dirty="0">
                <a:solidFill>
                  <a:srgbClr val="1A2332"/>
                </a:solidFill>
                <a:latin typeface="Consolas"/>
                <a:ea typeface="Microsoft YaHei"/>
                <a:cs typeface="Consolas"/>
              </a:rPr>
              <a:t>schedule(static)</a:t>
            </a:r>
          </a:p>
        </p:txBody>
      </p:sp>
      <p:sp>
        <p:nvSpPr>
          <p:cNvPr id="48" name="TextBox 48"/>
          <p:cNvSpPr txBox="1"/>
          <p:nvPr/>
        </p:nvSpPr>
        <p:spPr>
          <a:xfrm>
            <a:off x="9075015" y="2142649"/>
            <a:ext cx="1776270" cy="198120"/>
          </a:xfrm>
          <a:prstGeom prst="rect">
            <a:avLst/>
          </a:prstGeom>
          <a:noFill/>
          <a:ln>
            <a:noFill/>
          </a:ln>
        </p:spPr>
        <p:txBody>
          <a:bodyPr wrap="none" lIns="0" tIns="0" rIns="0" bIns="0" anchor="t" anchorCtr="0">
            <a:spAutoFit/>
          </a:bodyPr>
          <a:lstStyle/>
          <a:p>
            <a:pPr algn="ctr"/>
            <a:r>
              <a:rPr lang="zh-CN" sz="975" dirty="0">
                <a:solidFill>
                  <a:srgbClr val="1A2332"/>
                </a:solidFill>
                <a:latin typeface="Consolas"/>
                <a:ea typeface="Microsoft YaHei"/>
                <a:cs typeface="Consolas"/>
              </a:rPr>
              <a:t>for (i = 0; i &lt; width; i++)</a:t>
            </a:r>
          </a:p>
        </p:txBody>
      </p:sp>
      <p:sp>
        <p:nvSpPr>
          <p:cNvPr id="49" name="TextBox 49"/>
          <p:cNvSpPr txBox="1"/>
          <p:nvPr/>
        </p:nvSpPr>
        <p:spPr>
          <a:xfrm>
            <a:off x="8786658" y="2447449"/>
            <a:ext cx="2352985"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Colonnes réparties entre threads</a:t>
            </a:r>
          </a:p>
        </p:txBody>
      </p:sp>
      <p:sp>
        <p:nvSpPr>
          <p:cNvPr id="50" name="TextBox 50"/>
          <p:cNvSpPr txBox="1"/>
          <p:nvPr/>
        </p:nvSpPr>
        <p:spPr>
          <a:xfrm>
            <a:off x="8815137" y="2656999"/>
            <a:ext cx="2296025"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Collision + propagation parallèles</a:t>
            </a:r>
          </a:p>
        </p:txBody>
      </p:sp>
      <p:sp>
        <p:nvSpPr>
          <p:cNvPr id="51" name="TextBox 51"/>
          <p:cNvSpPr txBox="1"/>
          <p:nvPr/>
        </p:nvSpPr>
        <p:spPr>
          <a:xfrm>
            <a:off x="9395412" y="2961799"/>
            <a:ext cx="1135475" cy="198120"/>
          </a:xfrm>
          <a:prstGeom prst="rect">
            <a:avLst/>
          </a:prstGeom>
          <a:noFill/>
          <a:ln>
            <a:noFill/>
          </a:ln>
        </p:spPr>
        <p:txBody>
          <a:bodyPr wrap="none" lIns="0" tIns="0" rIns="0" bIns="0" anchor="t" anchorCtr="0">
            <a:spAutoFit/>
          </a:bodyPr>
          <a:lstStyle/>
          <a:p>
            <a:pPr algn="ctr"/>
            <a:r>
              <a:rPr lang="zh-CN" sz="975" dirty="0">
                <a:solidFill>
                  <a:srgbClr val="1565C0"/>
                </a:solidFill>
                <a:latin typeface="Arial"/>
                <a:ea typeface="Microsoft YaHei"/>
                <a:cs typeface="Arial"/>
              </a:rPr>
              <a:t>Localité cache :</a:t>
            </a:r>
          </a:p>
        </p:txBody>
      </p:sp>
      <p:sp>
        <p:nvSpPr>
          <p:cNvPr id="52" name="TextBox 52"/>
          <p:cNvSpPr txBox="1"/>
          <p:nvPr/>
        </p:nvSpPr>
        <p:spPr>
          <a:xfrm>
            <a:off x="9313533" y="3152299"/>
            <a:ext cx="1299234"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j interne, stride-1</a:t>
            </a:r>
          </a:p>
        </p:txBody>
      </p:sp>
      <p:sp>
        <p:nvSpPr>
          <p:cNvPr id="53" name="TextBox 53"/>
          <p:cNvSpPr txBox="1"/>
          <p:nvPr/>
        </p:nvSpPr>
        <p:spPr>
          <a:xfrm>
            <a:off x="9071455" y="3342799"/>
            <a:ext cx="1783390"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accès contigu en mémoire</a:t>
            </a:r>
          </a:p>
        </p:txBody>
      </p:sp>
      <p:sp>
        <p:nvSpPr>
          <p:cNvPr id="54" name="TextBox 54"/>
          <p:cNvSpPr txBox="1"/>
          <p:nvPr/>
        </p:nvSpPr>
        <p:spPr>
          <a:xfrm>
            <a:off x="9032296" y="3609499"/>
            <a:ext cx="1861709" cy="198120"/>
          </a:xfrm>
          <a:prstGeom prst="rect">
            <a:avLst/>
          </a:prstGeom>
          <a:noFill/>
          <a:ln>
            <a:noFill/>
          </a:ln>
        </p:spPr>
        <p:txBody>
          <a:bodyPr wrap="none" lIns="0" tIns="0" rIns="0" bIns="0" anchor="t" anchorCtr="0">
            <a:spAutoFit/>
          </a:bodyPr>
          <a:lstStyle/>
          <a:p>
            <a:pPr algn="ctr"/>
            <a:r>
              <a:rPr lang="zh-CN" sz="975" dirty="0">
                <a:solidFill>
                  <a:srgbClr val="2E7D32"/>
                </a:solidFill>
                <a:latin typeface="Arial"/>
                <a:ea typeface="Microsoft YaHei"/>
                <a:cs typeface="Arial"/>
              </a:rPr>
              <a:t>OMP=4 : x4 threads actifs</a:t>
            </a:r>
          </a:p>
        </p:txBody>
      </p:sp>
      <p:sp>
        <p:nvSpPr>
          <p:cNvPr id="55" name="TextBox 55"/>
          <p:cNvSpPr txBox="1"/>
          <p:nvPr/>
        </p:nvSpPr>
        <p:spPr>
          <a:xfrm>
            <a:off x="9217414" y="3799999"/>
            <a:ext cx="1491472" cy="198120"/>
          </a:xfrm>
          <a:prstGeom prst="rect">
            <a:avLst/>
          </a:prstGeom>
          <a:noFill/>
          <a:ln>
            <a:noFill/>
          </a:ln>
        </p:spPr>
        <p:txBody>
          <a:bodyPr wrap="none" lIns="0" tIns="0" rIns="0" bIns="0" anchor="t" anchorCtr="0">
            <a:spAutoFit/>
          </a:bodyPr>
          <a:lstStyle/>
          <a:p>
            <a:pPr algn="ctr"/>
            <a:r>
              <a:rPr lang="zh-CN" sz="975" dirty="0">
                <a:solidFill>
                  <a:srgbClr val="2E7D32"/>
                </a:solidFill>
                <a:latin typeface="Arial"/>
                <a:ea typeface="Microsoft YaHei"/>
                <a:cs typeface="Arial"/>
              </a:rPr>
              <a:t>sans section critique</a:t>
            </a:r>
          </a:p>
        </p:txBody>
      </p:sp>
      <p:sp>
        <p:nvSpPr>
          <p:cNvPr id="56" name="Freeform 56"/>
          <p:cNvSpPr/>
          <p:nvPr/>
        </p:nvSpPr>
        <p:spPr>
          <a:xfrm>
            <a:off x="800100" y="5238750"/>
            <a:ext cx="10591800" cy="304800"/>
          </a:xfrm>
          <a:custGeom>
            <a:avLst/>
            <a:gdLst/>
            <a:ahLst/>
            <a:cxnLst/>
            <a:rect l="l" t="t" r="r" b="b"/>
            <a:pathLst>
              <a:path w="10591800" h="304800">
                <a:moveTo>
                  <a:pt x="57150" y="0"/>
                </a:moveTo>
                <a:lnTo>
                  <a:pt x="10534650" y="0"/>
                </a:lnTo>
                <a:cubicBezTo>
                  <a:pt x="10566213" y="0"/>
                  <a:pt x="10591800" y="25587"/>
                  <a:pt x="10591800" y="57150"/>
                </a:cubicBezTo>
                <a:lnTo>
                  <a:pt x="10591800" y="247650"/>
                </a:lnTo>
                <a:cubicBezTo>
                  <a:pt x="10591800" y="279213"/>
                  <a:pt x="10566213" y="304800"/>
                  <a:pt x="10534650" y="304800"/>
                </a:cubicBezTo>
                <a:lnTo>
                  <a:pt x="57150" y="304800"/>
                </a:lnTo>
                <a:cubicBezTo>
                  <a:pt x="25587" y="304800"/>
                  <a:pt x="0" y="279213"/>
                  <a:pt x="0" y="247650"/>
                </a:cubicBezTo>
                <a:lnTo>
                  <a:pt x="0" y="57150"/>
                </a:lnTo>
                <a:cubicBezTo>
                  <a:pt x="0" y="25587"/>
                  <a:pt x="25587" y="0"/>
                  <a:pt x="57150" y="0"/>
                </a:cubicBezTo>
                <a:close/>
              </a:path>
            </a:pathLst>
          </a:custGeom>
          <a:solidFill>
            <a:srgbClr val="2E7D32"/>
          </a:solidFill>
          <a:ln>
            <a:noFill/>
          </a:ln>
        </p:spPr>
      </p:sp>
      <p:sp>
        <p:nvSpPr>
          <p:cNvPr id="57" name="TextBox 57"/>
          <p:cNvSpPr txBox="1"/>
          <p:nvPr/>
        </p:nvSpPr>
        <p:spPr>
          <a:xfrm>
            <a:off x="4661662" y="5325428"/>
            <a:ext cx="2868675"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Jalon P1-C : 194 MLUPS · np=1, OMP=4</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6200"/>
          </a:xfrm>
          <a:prstGeom prst="rect">
            <a:avLst/>
          </a:prstGeom>
          <a:solidFill>
            <a:srgbClr val="1565C0"/>
          </a:solidFill>
          <a:ln>
            <a:noFill/>
          </a:ln>
        </p:spPr>
      </p:sp>
      <p:sp>
        <p:nvSpPr>
          <p:cNvPr id="4" name="Rectangle 4"/>
          <p:cNvSpPr/>
          <p:nvPr/>
        </p:nvSpPr>
        <p:spPr>
          <a:xfrm>
            <a:off x="0" y="76200"/>
            <a:ext cx="12192000" cy="685800"/>
          </a:xfrm>
          <a:prstGeom prst="rect">
            <a:avLst/>
          </a:prstGeom>
          <a:solidFill>
            <a:srgbClr val="F4F7FA"/>
          </a:solidFill>
          <a:ln>
            <a:noFill/>
          </a:ln>
        </p:spPr>
      </p:sp>
      <p:sp>
        <p:nvSpPr>
          <p:cNvPr id="5" name="Line 5"/>
          <p:cNvSpPr/>
          <p:nvPr/>
        </p:nvSpPr>
        <p:spPr>
          <a:xfrm>
            <a:off x="0" y="762000"/>
            <a:ext cx="12192000" cy="9525"/>
          </a:xfrm>
          <a:custGeom>
            <a:avLst/>
            <a:gdLst/>
            <a:ahLst/>
            <a:cxnLst/>
            <a:rect l="l" t="t" r="r" b="b"/>
            <a:pathLst>
              <a:path w="12192000" h="9525">
                <a:moveTo>
                  <a:pt x="0" y="0"/>
                </a:moveTo>
                <a:lnTo>
                  <a:pt x="12192000" y="0"/>
                </a:lnTo>
              </a:path>
            </a:pathLst>
          </a:custGeom>
          <a:noFill/>
          <a:ln w="9525">
            <a:solidFill>
              <a:srgbClr val="CFD8DC"/>
            </a:solidFill>
          </a:ln>
        </p:spPr>
      </p:sp>
      <p:sp>
        <p:nvSpPr>
          <p:cNvPr id="6" name="Freeform 6"/>
          <p:cNvSpPr/>
          <p:nvPr/>
        </p:nvSpPr>
        <p:spPr>
          <a:xfrm>
            <a:off x="609600" y="228600"/>
            <a:ext cx="47625" cy="304800"/>
          </a:xfrm>
          <a:custGeom>
            <a:avLst/>
            <a:gdLst/>
            <a:ahLst/>
            <a:cxnLst/>
            <a:rect l="l" t="t" r="r" b="b"/>
            <a:pathLst>
              <a:path w="47625" h="304800">
                <a:moveTo>
                  <a:pt x="19050" y="0"/>
                </a:moveTo>
                <a:lnTo>
                  <a:pt x="28575" y="0"/>
                </a:lnTo>
                <a:cubicBezTo>
                  <a:pt x="39096" y="0"/>
                  <a:pt x="47625" y="8529"/>
                  <a:pt x="47625" y="19050"/>
                </a:cubicBezTo>
                <a:lnTo>
                  <a:pt x="47625" y="285750"/>
                </a:lnTo>
                <a:cubicBezTo>
                  <a:pt x="47625" y="296271"/>
                  <a:pt x="39096" y="304800"/>
                  <a:pt x="28575" y="304800"/>
                </a:cubicBezTo>
                <a:lnTo>
                  <a:pt x="19050" y="304800"/>
                </a:lnTo>
                <a:cubicBezTo>
                  <a:pt x="8529" y="304800"/>
                  <a:pt x="0" y="296271"/>
                  <a:pt x="0" y="285750"/>
                </a:cubicBezTo>
                <a:lnTo>
                  <a:pt x="0" y="19050"/>
                </a:lnTo>
                <a:cubicBezTo>
                  <a:pt x="0" y="8529"/>
                  <a:pt x="8529" y="0"/>
                  <a:pt x="19050" y="0"/>
                </a:cubicBezTo>
                <a:close/>
              </a:path>
            </a:pathLst>
          </a:custGeom>
          <a:solidFill>
            <a:srgbClr val="1565C0"/>
          </a:solidFill>
          <a:ln>
            <a:noFill/>
          </a:ln>
        </p:spPr>
      </p:sp>
      <p:sp>
        <p:nvSpPr>
          <p:cNvPr id="7" name="TextBox 7"/>
          <p:cNvSpPr txBox="1"/>
          <p:nvPr/>
        </p:nvSpPr>
        <p:spPr>
          <a:xfrm>
            <a:off x="741045" y="183832"/>
            <a:ext cx="5191104" cy="335280"/>
          </a:xfrm>
          <a:prstGeom prst="rect">
            <a:avLst/>
          </a:prstGeom>
          <a:noFill/>
          <a:ln>
            <a:noFill/>
          </a:ln>
        </p:spPr>
        <p:txBody>
          <a:bodyPr wrap="none" lIns="0" tIns="0" rIns="0" bIns="0" anchor="t" anchorCtr="0">
            <a:spAutoFit/>
          </a:bodyPr>
          <a:lstStyle/>
          <a:p>
            <a:pPr algn="l"/>
            <a:r>
              <a:rPr lang="zh-CN" sz="1650" b="1" dirty="0">
                <a:solidFill>
                  <a:srgbClr val="1A2332"/>
                </a:solidFill>
                <a:latin typeface="Arial"/>
                <a:ea typeface="Microsoft YaHei"/>
                <a:cs typeface="Arial"/>
              </a:rPr>
              <a:t>P1-D · Diagnostics et décisions techniques</a:t>
            </a:r>
          </a:p>
        </p:txBody>
      </p:sp>
      <p:sp>
        <p:nvSpPr>
          <p:cNvPr id="8" name="TextBox 8"/>
          <p:cNvSpPr txBox="1"/>
          <p:nvPr/>
        </p:nvSpPr>
        <p:spPr>
          <a:xfrm>
            <a:off x="747712" y="469106"/>
            <a:ext cx="2821781"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Arial"/>
                <a:ea typeface="Microsoft YaHei"/>
                <a:cs typeface="Arial"/>
              </a:rPr>
              <a:t>pistes testées · décisions validées</a:t>
            </a:r>
          </a:p>
        </p:txBody>
      </p:sp>
      <p:sp>
        <p:nvSpPr>
          <p:cNvPr id="9" name="Freeform 9"/>
          <p:cNvSpPr/>
          <p:nvPr/>
        </p:nvSpPr>
        <p:spPr>
          <a:xfrm>
            <a:off x="10991850" y="228600"/>
            <a:ext cx="247650" cy="171450"/>
          </a:xfrm>
          <a:custGeom>
            <a:avLst/>
            <a:gdLst/>
            <a:ahLst/>
            <a:cxnLst/>
            <a:rect l="l" t="t" r="r" b="b"/>
            <a:pathLst>
              <a:path w="247650" h="171450">
                <a:moveTo>
                  <a:pt x="38100" y="0"/>
                </a:moveTo>
                <a:lnTo>
                  <a:pt x="209550" y="0"/>
                </a:lnTo>
                <a:cubicBezTo>
                  <a:pt x="230592" y="0"/>
                  <a:pt x="247650" y="17058"/>
                  <a:pt x="247650" y="38100"/>
                </a:cubicBezTo>
                <a:lnTo>
                  <a:pt x="247650" y="133350"/>
                </a:lnTo>
                <a:cubicBezTo>
                  <a:pt x="247650" y="154392"/>
                  <a:pt x="230592" y="171450"/>
                  <a:pt x="209550" y="171450"/>
                </a:cubicBezTo>
                <a:lnTo>
                  <a:pt x="38100" y="171450"/>
                </a:lnTo>
                <a:cubicBezTo>
                  <a:pt x="17058" y="171450"/>
                  <a:pt x="0" y="154392"/>
                  <a:pt x="0" y="133350"/>
                </a:cubicBezTo>
                <a:lnTo>
                  <a:pt x="0" y="38100"/>
                </a:lnTo>
                <a:cubicBezTo>
                  <a:pt x="0" y="17058"/>
                  <a:pt x="17058" y="0"/>
                  <a:pt x="38100" y="0"/>
                </a:cubicBezTo>
                <a:close/>
              </a:path>
            </a:pathLst>
          </a:custGeom>
          <a:solidFill>
            <a:srgbClr val="1565C0"/>
          </a:solidFill>
          <a:ln>
            <a:noFill/>
          </a:ln>
        </p:spPr>
      </p:sp>
      <p:sp>
        <p:nvSpPr>
          <p:cNvPr id="10" name="TextBox 10"/>
          <p:cNvSpPr txBox="1"/>
          <p:nvPr/>
        </p:nvSpPr>
        <p:spPr>
          <a:xfrm>
            <a:off x="11051428" y="263366"/>
            <a:ext cx="128493"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P1</a:t>
            </a:r>
          </a:p>
        </p:txBody>
      </p:sp>
      <p:sp>
        <p:nvSpPr>
          <p:cNvPr id="11" name="TextBox 11"/>
          <p:cNvSpPr txBox="1"/>
          <p:nvPr/>
        </p:nvSpPr>
        <p:spPr>
          <a:xfrm>
            <a:off x="11206901" y="351949"/>
            <a:ext cx="387882" cy="198120"/>
          </a:xfrm>
          <a:prstGeom prst="rect">
            <a:avLst/>
          </a:prstGeom>
          <a:noFill/>
          <a:ln>
            <a:noFill/>
          </a:ln>
        </p:spPr>
        <p:txBody>
          <a:bodyPr wrap="none" lIns="0" tIns="0" rIns="0" bIns="0" anchor="t" anchorCtr="0">
            <a:spAutoFit/>
          </a:bodyPr>
          <a:lstStyle/>
          <a:p>
            <a:pPr algn="r"/>
            <a:r>
              <a:rPr lang="zh-CN" sz="975" dirty="0">
                <a:solidFill>
                  <a:srgbClr val="90A4AE"/>
                </a:solidFill>
                <a:latin typeface="Arial"/>
                <a:ea typeface="Microsoft YaHei"/>
                <a:cs typeface="Arial"/>
              </a:rPr>
              <a:t>7 / 13</a:t>
            </a:r>
          </a:p>
        </p:txBody>
      </p:sp>
      <p:sp>
        <p:nvSpPr>
          <p:cNvPr id="12" name="TextBox 12"/>
          <p:cNvSpPr txBox="1"/>
          <p:nvPr/>
        </p:nvSpPr>
        <p:spPr>
          <a:xfrm>
            <a:off x="2563225" y="953452"/>
            <a:ext cx="7065550" cy="213360"/>
          </a:xfrm>
          <a:prstGeom prst="rect">
            <a:avLst/>
          </a:prstGeom>
          <a:noFill/>
          <a:ln>
            <a:noFill/>
          </a:ln>
        </p:spPr>
        <p:txBody>
          <a:bodyPr wrap="none" lIns="0" tIns="0" rIns="0" bIns="0" anchor="t" anchorCtr="0">
            <a:spAutoFit/>
          </a:bodyPr>
          <a:lstStyle/>
          <a:p>
            <a:pPr algn="ctr"/>
            <a:r>
              <a:rPr lang="zh-CN" sz="1050" dirty="0">
                <a:solidFill>
                  <a:srgbClr val="546E7A"/>
                </a:solidFill>
                <a:latin typeface="Arial"/>
                <a:ea typeface="Microsoft YaHei"/>
                <a:cs typeface="Arial"/>
              </a:rPr>
              <a:t>Certaines pistes testées n'ont pas été retenues, mais elles ont clarifié les choix techniques.</a:t>
            </a:r>
          </a:p>
        </p:txBody>
      </p:sp>
      <p:sp>
        <p:nvSpPr>
          <p:cNvPr id="13" name="Freeform 13"/>
          <p:cNvSpPr/>
          <p:nvPr/>
        </p:nvSpPr>
        <p:spPr>
          <a:xfrm>
            <a:off x="609600" y="1295400"/>
            <a:ext cx="3352800" cy="3810000"/>
          </a:xfrm>
          <a:custGeom>
            <a:avLst/>
            <a:gdLst/>
            <a:ahLst/>
            <a:cxnLst/>
            <a:rect l="l" t="t" r="r" b="b"/>
            <a:pathLst>
              <a:path w="3352800" h="3810000">
                <a:moveTo>
                  <a:pt x="76200" y="0"/>
                </a:moveTo>
                <a:lnTo>
                  <a:pt x="3276600" y="0"/>
                </a:lnTo>
                <a:cubicBezTo>
                  <a:pt x="3318684" y="0"/>
                  <a:pt x="3352800" y="34116"/>
                  <a:pt x="3352800" y="76200"/>
                </a:cubicBezTo>
                <a:lnTo>
                  <a:pt x="3352800" y="3733800"/>
                </a:lnTo>
                <a:cubicBezTo>
                  <a:pt x="3352800" y="3775884"/>
                  <a:pt x="3318684" y="3810000"/>
                  <a:pt x="3276600" y="3810000"/>
                </a:cubicBezTo>
                <a:lnTo>
                  <a:pt x="76200" y="3810000"/>
                </a:lnTo>
                <a:cubicBezTo>
                  <a:pt x="34116" y="3810000"/>
                  <a:pt x="0" y="3775884"/>
                  <a:pt x="0" y="3733800"/>
                </a:cubicBezTo>
                <a:lnTo>
                  <a:pt x="0" y="76200"/>
                </a:lnTo>
                <a:cubicBezTo>
                  <a:pt x="0" y="34116"/>
                  <a:pt x="34116" y="0"/>
                  <a:pt x="76200" y="0"/>
                </a:cubicBezTo>
                <a:close/>
              </a:path>
            </a:pathLst>
          </a:custGeom>
          <a:solidFill>
            <a:srgbClr val="FFFFFF"/>
          </a:solidFill>
          <a:ln w="9525">
            <a:solidFill>
              <a:srgbClr val="CFD8DC"/>
            </a:solidFill>
          </a:ln>
        </p:spPr>
      </p:sp>
      <p:sp>
        <p:nvSpPr>
          <p:cNvPr id="14" name="Freeform 14"/>
          <p:cNvSpPr/>
          <p:nvPr/>
        </p:nvSpPr>
        <p:spPr>
          <a:xfrm>
            <a:off x="609600" y="1295400"/>
            <a:ext cx="3352800" cy="38100"/>
          </a:xfrm>
          <a:custGeom>
            <a:avLst/>
            <a:gdLst/>
            <a:ahLst/>
            <a:cxnLst/>
            <a:rect l="l" t="t" r="r" b="b"/>
            <a:pathLst>
              <a:path w="3352800" h="38100">
                <a:moveTo>
                  <a:pt x="28575" y="0"/>
                </a:moveTo>
                <a:lnTo>
                  <a:pt x="3324225" y="0"/>
                </a:lnTo>
                <a:cubicBezTo>
                  <a:pt x="3340007" y="0"/>
                  <a:pt x="3352800" y="8529"/>
                  <a:pt x="3352800" y="19050"/>
                </a:cubicBezTo>
                <a:lnTo>
                  <a:pt x="3352800" y="19050"/>
                </a:lnTo>
                <a:cubicBezTo>
                  <a:pt x="3352800" y="29571"/>
                  <a:pt x="3340007" y="38100"/>
                  <a:pt x="3324225" y="38100"/>
                </a:cubicBezTo>
                <a:lnTo>
                  <a:pt x="28575" y="38100"/>
                </a:lnTo>
                <a:cubicBezTo>
                  <a:pt x="12793" y="38100"/>
                  <a:pt x="0" y="29571"/>
                  <a:pt x="0" y="19050"/>
                </a:cubicBezTo>
                <a:lnTo>
                  <a:pt x="0" y="19050"/>
                </a:lnTo>
                <a:cubicBezTo>
                  <a:pt x="0" y="8529"/>
                  <a:pt x="12793" y="0"/>
                  <a:pt x="28575" y="0"/>
                </a:cubicBezTo>
                <a:close/>
              </a:path>
            </a:pathLst>
          </a:custGeom>
          <a:solidFill>
            <a:srgbClr val="546E7A"/>
          </a:solidFill>
          <a:ln>
            <a:noFill/>
          </a:ln>
        </p:spPr>
      </p:sp>
      <p:sp>
        <p:nvSpPr>
          <p:cNvPr id="15" name="TextBox 15"/>
          <p:cNvSpPr txBox="1"/>
          <p:nvPr/>
        </p:nvSpPr>
        <p:spPr>
          <a:xfrm>
            <a:off x="1823156" y="1421606"/>
            <a:ext cx="925687" cy="228600"/>
          </a:xfrm>
          <a:prstGeom prst="rect">
            <a:avLst/>
          </a:prstGeom>
          <a:noFill/>
          <a:ln>
            <a:noFill/>
          </a:ln>
        </p:spPr>
        <p:txBody>
          <a:bodyPr wrap="none" lIns="0" tIns="0" rIns="0" bIns="0" anchor="t" anchorCtr="0">
            <a:spAutoFit/>
          </a:bodyPr>
          <a:lstStyle/>
          <a:p>
            <a:pPr algn="ctr"/>
            <a:r>
              <a:rPr lang="zh-CN" sz="1125" b="1" dirty="0">
                <a:solidFill>
                  <a:srgbClr val="546E7A"/>
                </a:solidFill>
                <a:latin typeface="Arial"/>
                <a:ea typeface="Microsoft YaHei"/>
                <a:cs typeface="Arial"/>
              </a:rPr>
              <a:t>SIMD testé</a:t>
            </a:r>
          </a:p>
        </p:txBody>
      </p:sp>
      <p:sp>
        <p:nvSpPr>
          <p:cNvPr id="16" name="Line 16"/>
          <p:cNvSpPr/>
          <p:nvPr/>
        </p:nvSpPr>
        <p:spPr>
          <a:xfrm>
            <a:off x="800100" y="1638300"/>
            <a:ext cx="2971800" cy="9525"/>
          </a:xfrm>
          <a:custGeom>
            <a:avLst/>
            <a:gdLst/>
            <a:ahLst/>
            <a:cxnLst/>
            <a:rect l="l" t="t" r="r" b="b"/>
            <a:pathLst>
              <a:path w="2971800" h="9525">
                <a:moveTo>
                  <a:pt x="0" y="0"/>
                </a:moveTo>
                <a:lnTo>
                  <a:pt x="2971800" y="0"/>
                </a:lnTo>
              </a:path>
            </a:pathLst>
          </a:custGeom>
          <a:noFill/>
          <a:ln w="9525">
            <a:solidFill>
              <a:srgbClr val="EAF0F6"/>
            </a:solidFill>
          </a:ln>
        </p:spPr>
      </p:sp>
      <p:sp>
        <p:nvSpPr>
          <p:cNvPr id="17" name="TextBox 17"/>
          <p:cNvSpPr txBox="1"/>
          <p:nvPr/>
        </p:nvSpPr>
        <p:spPr>
          <a:xfrm>
            <a:off x="825818" y="1799749"/>
            <a:ext cx="1035796" cy="198120"/>
          </a:xfrm>
          <a:prstGeom prst="rect">
            <a:avLst/>
          </a:prstGeom>
          <a:noFill/>
          <a:ln>
            <a:noFill/>
          </a:ln>
        </p:spPr>
        <p:txBody>
          <a:bodyPr wrap="none" lIns="0" tIns="0" rIns="0" bIns="0" anchor="t" anchorCtr="0">
            <a:spAutoFit/>
          </a:bodyPr>
          <a:lstStyle/>
          <a:p>
            <a:pPr algn="l"/>
            <a:r>
              <a:rPr lang="zh-CN" sz="975" dirty="0">
                <a:solidFill>
                  <a:srgbClr val="1A2332"/>
                </a:solidFill>
                <a:latin typeface="Consolas"/>
                <a:ea typeface="Microsoft YaHei"/>
                <a:cs typeface="Consolas"/>
              </a:rPr>
              <a:t>-march=native</a:t>
            </a:r>
          </a:p>
        </p:txBody>
      </p:sp>
      <p:sp>
        <p:nvSpPr>
          <p:cNvPr id="18" name="TextBox 18"/>
          <p:cNvSpPr txBox="1"/>
          <p:nvPr/>
        </p:nvSpPr>
        <p:spPr>
          <a:xfrm>
            <a:off x="825818" y="2028349"/>
            <a:ext cx="1256514" cy="198120"/>
          </a:xfrm>
          <a:prstGeom prst="rect">
            <a:avLst/>
          </a:prstGeom>
          <a:noFill/>
          <a:ln>
            <a:noFill/>
          </a:ln>
        </p:spPr>
        <p:txBody>
          <a:bodyPr wrap="none" lIns="0" tIns="0" rIns="0" bIns="0" anchor="t" anchorCtr="0">
            <a:spAutoFit/>
          </a:bodyPr>
          <a:lstStyle/>
          <a:p>
            <a:pPr algn="l"/>
            <a:r>
              <a:rPr lang="zh-CN" sz="975" dirty="0">
                <a:solidFill>
                  <a:srgbClr val="1A2332"/>
                </a:solidFill>
                <a:latin typeface="Consolas"/>
                <a:ea typeface="Microsoft YaHei"/>
                <a:cs typeface="Consolas"/>
              </a:rPr>
              <a:t>#pragma omp simd</a:t>
            </a:r>
          </a:p>
        </p:txBody>
      </p:sp>
      <p:sp>
        <p:nvSpPr>
          <p:cNvPr id="19" name="TextBox 19"/>
          <p:cNvSpPr txBox="1"/>
          <p:nvPr/>
        </p:nvSpPr>
        <p:spPr>
          <a:xfrm>
            <a:off x="825818" y="2428399"/>
            <a:ext cx="850678" cy="198120"/>
          </a:xfrm>
          <a:prstGeom prst="rect">
            <a:avLst/>
          </a:prstGeom>
          <a:noFill/>
          <a:ln>
            <a:noFill/>
          </a:ln>
        </p:spPr>
        <p:txBody>
          <a:bodyPr wrap="none" lIns="0" tIns="0" rIns="0" bIns="0" anchor="t" anchorCtr="0">
            <a:spAutoFit/>
          </a:bodyPr>
          <a:lstStyle/>
          <a:p>
            <a:pPr algn="l"/>
            <a:r>
              <a:rPr lang="zh-CN" sz="975" dirty="0">
                <a:solidFill>
                  <a:srgbClr val="546E7A"/>
                </a:solidFill>
                <a:latin typeface="Arial"/>
                <a:ea typeface="Microsoft YaHei"/>
                <a:cs typeface="Arial"/>
              </a:rPr>
              <a:t>Hypothèse :</a:t>
            </a:r>
          </a:p>
        </p:txBody>
      </p:sp>
      <p:sp>
        <p:nvSpPr>
          <p:cNvPr id="20" name="TextBox 20"/>
          <p:cNvSpPr txBox="1"/>
          <p:nvPr/>
        </p:nvSpPr>
        <p:spPr>
          <a:xfrm>
            <a:off x="825818" y="2618899"/>
            <a:ext cx="1769150" cy="198120"/>
          </a:xfrm>
          <a:prstGeom prst="rect">
            <a:avLst/>
          </a:prstGeom>
          <a:noFill/>
          <a:ln>
            <a:noFill/>
          </a:ln>
        </p:spPr>
        <p:txBody>
          <a:bodyPr wrap="none" lIns="0" tIns="0" rIns="0" bIns="0" anchor="t" anchorCtr="0">
            <a:spAutoFit/>
          </a:bodyPr>
          <a:lstStyle/>
          <a:p>
            <a:pPr algn="l"/>
            <a:r>
              <a:rPr lang="zh-CN" sz="975" dirty="0">
                <a:solidFill>
                  <a:srgbClr val="546E7A"/>
                </a:solidFill>
                <a:latin typeface="Arial"/>
                <a:ea typeface="Microsoft YaHei"/>
                <a:cs typeface="Arial"/>
              </a:rPr>
              <a:t>plus de SIMD → plus rapide</a:t>
            </a:r>
          </a:p>
        </p:txBody>
      </p:sp>
      <p:sp>
        <p:nvSpPr>
          <p:cNvPr id="21" name="TextBox 21"/>
          <p:cNvSpPr txBox="1"/>
          <p:nvPr/>
        </p:nvSpPr>
        <p:spPr>
          <a:xfrm>
            <a:off x="825818" y="3037999"/>
            <a:ext cx="1284994" cy="198120"/>
          </a:xfrm>
          <a:prstGeom prst="rect">
            <a:avLst/>
          </a:prstGeom>
          <a:noFill/>
          <a:ln>
            <a:noFill/>
          </a:ln>
        </p:spPr>
        <p:txBody>
          <a:bodyPr wrap="none" lIns="0" tIns="0" rIns="0" bIns="0" anchor="t" anchorCtr="0">
            <a:spAutoFit/>
          </a:bodyPr>
          <a:lstStyle/>
          <a:p>
            <a:pPr algn="l"/>
            <a:r>
              <a:rPr lang="zh-CN" sz="975" dirty="0">
                <a:solidFill>
                  <a:srgbClr val="546E7A"/>
                </a:solidFill>
                <a:latin typeface="Arial"/>
                <a:ea typeface="Microsoft YaHei"/>
                <a:cs typeface="Arial"/>
              </a:rPr>
              <a:t>Plateforme cible :</a:t>
            </a:r>
          </a:p>
        </p:txBody>
      </p:sp>
      <p:sp>
        <p:nvSpPr>
          <p:cNvPr id="22" name="TextBox 22"/>
          <p:cNvSpPr txBox="1"/>
          <p:nvPr/>
        </p:nvSpPr>
        <p:spPr>
          <a:xfrm>
            <a:off x="825818" y="3228499"/>
            <a:ext cx="1064276" cy="198120"/>
          </a:xfrm>
          <a:prstGeom prst="rect">
            <a:avLst/>
          </a:prstGeom>
          <a:noFill/>
          <a:ln>
            <a:noFill/>
          </a:ln>
        </p:spPr>
        <p:txBody>
          <a:bodyPr wrap="none" lIns="0" tIns="0" rIns="0" bIns="0" anchor="t" anchorCtr="0">
            <a:spAutoFit/>
          </a:bodyPr>
          <a:lstStyle/>
          <a:p>
            <a:pPr algn="l"/>
            <a:r>
              <a:rPr lang="zh-CN" sz="975" dirty="0">
                <a:solidFill>
                  <a:srgbClr val="1A2332"/>
                </a:solidFill>
                <a:latin typeface="Consolas"/>
                <a:ea typeface="Microsoft YaHei"/>
                <a:cs typeface="Consolas"/>
              </a:rPr>
              <a:t>macOS AArch64</a:t>
            </a:r>
          </a:p>
        </p:txBody>
      </p:sp>
      <p:sp>
        <p:nvSpPr>
          <p:cNvPr id="23" name="TextBox 23"/>
          <p:cNvSpPr txBox="1"/>
          <p:nvPr/>
        </p:nvSpPr>
        <p:spPr>
          <a:xfrm>
            <a:off x="825818" y="3418999"/>
            <a:ext cx="1477232" cy="198120"/>
          </a:xfrm>
          <a:prstGeom prst="rect">
            <a:avLst/>
          </a:prstGeom>
          <a:noFill/>
          <a:ln>
            <a:noFill/>
          </a:ln>
        </p:spPr>
        <p:txBody>
          <a:bodyPr wrap="none" lIns="0" tIns="0" rIns="0" bIns="0" anchor="t" anchorCtr="0">
            <a:spAutoFit/>
          </a:bodyPr>
          <a:lstStyle/>
          <a:p>
            <a:pPr algn="l"/>
            <a:r>
              <a:rPr lang="zh-CN" sz="975" dirty="0">
                <a:solidFill>
                  <a:srgbClr val="1A2332"/>
                </a:solidFill>
                <a:latin typeface="Consolas"/>
                <a:ea typeface="Microsoft YaHei"/>
                <a:cs typeface="Consolas"/>
              </a:rPr>
              <a:t>Apple M3 (P/E cores)</a:t>
            </a:r>
          </a:p>
        </p:txBody>
      </p:sp>
      <p:sp>
        <p:nvSpPr>
          <p:cNvPr id="24" name="TextBox 24"/>
          <p:cNvSpPr txBox="1"/>
          <p:nvPr/>
        </p:nvSpPr>
        <p:spPr>
          <a:xfrm>
            <a:off x="825818" y="3838099"/>
            <a:ext cx="2139386" cy="198120"/>
          </a:xfrm>
          <a:prstGeom prst="rect">
            <a:avLst/>
          </a:prstGeom>
          <a:noFill/>
          <a:ln>
            <a:noFill/>
          </a:ln>
        </p:spPr>
        <p:txBody>
          <a:bodyPr wrap="none" lIns="0" tIns="0" rIns="0" bIns="0" anchor="t" anchorCtr="0">
            <a:spAutoFit/>
          </a:bodyPr>
          <a:lstStyle/>
          <a:p>
            <a:pPr algn="l"/>
            <a:r>
              <a:rPr lang="zh-CN" sz="975" dirty="0">
                <a:solidFill>
                  <a:srgbClr val="546E7A"/>
                </a:solidFill>
                <a:latin typeface="Arial"/>
                <a:ea typeface="Microsoft YaHei"/>
                <a:cs typeface="Arial"/>
              </a:rPr>
              <a:t>-O3 génère déjà NEON 2×double</a:t>
            </a:r>
          </a:p>
        </p:txBody>
      </p:sp>
      <p:sp>
        <p:nvSpPr>
          <p:cNvPr id="25" name="TextBox 25"/>
          <p:cNvSpPr txBox="1"/>
          <p:nvPr/>
        </p:nvSpPr>
        <p:spPr>
          <a:xfrm>
            <a:off x="825818" y="4047649"/>
            <a:ext cx="2153626" cy="198120"/>
          </a:xfrm>
          <a:prstGeom prst="rect">
            <a:avLst/>
          </a:prstGeom>
          <a:noFill/>
          <a:ln>
            <a:noFill/>
          </a:ln>
        </p:spPr>
        <p:txBody>
          <a:bodyPr wrap="none" lIns="0" tIns="0" rIns="0" bIns="0" anchor="t" anchorCtr="0">
            <a:spAutoFit/>
          </a:bodyPr>
          <a:lstStyle/>
          <a:p>
            <a:pPr algn="l"/>
            <a:r>
              <a:rPr lang="zh-CN" sz="975" dirty="0">
                <a:solidFill>
                  <a:srgbClr val="546E7A"/>
                </a:solidFill>
                <a:latin typeface="Consolas"/>
                <a:ea typeface="Microsoft YaHei"/>
                <a:cs typeface="Consolas"/>
              </a:rPr>
              <a:t>(fmla.2d — visible à l'objdump)</a:t>
            </a:r>
          </a:p>
        </p:txBody>
      </p:sp>
      <p:sp>
        <p:nvSpPr>
          <p:cNvPr id="26" name="Freeform 26"/>
          <p:cNvSpPr/>
          <p:nvPr/>
        </p:nvSpPr>
        <p:spPr>
          <a:xfrm>
            <a:off x="4419600" y="1295400"/>
            <a:ext cx="3352800" cy="3810000"/>
          </a:xfrm>
          <a:custGeom>
            <a:avLst/>
            <a:gdLst/>
            <a:ahLst/>
            <a:cxnLst/>
            <a:rect l="l" t="t" r="r" b="b"/>
            <a:pathLst>
              <a:path w="3352800" h="3810000">
                <a:moveTo>
                  <a:pt x="76200" y="0"/>
                </a:moveTo>
                <a:lnTo>
                  <a:pt x="3276600" y="0"/>
                </a:lnTo>
                <a:cubicBezTo>
                  <a:pt x="3318684" y="0"/>
                  <a:pt x="3352800" y="34116"/>
                  <a:pt x="3352800" y="76200"/>
                </a:cubicBezTo>
                <a:lnTo>
                  <a:pt x="3352800" y="3733800"/>
                </a:lnTo>
                <a:cubicBezTo>
                  <a:pt x="3352800" y="3775884"/>
                  <a:pt x="3318684" y="3810000"/>
                  <a:pt x="3276600" y="3810000"/>
                </a:cubicBezTo>
                <a:lnTo>
                  <a:pt x="76200" y="3810000"/>
                </a:lnTo>
                <a:cubicBezTo>
                  <a:pt x="34116" y="3810000"/>
                  <a:pt x="0" y="3775884"/>
                  <a:pt x="0" y="3733800"/>
                </a:cubicBezTo>
                <a:lnTo>
                  <a:pt x="0" y="76200"/>
                </a:lnTo>
                <a:cubicBezTo>
                  <a:pt x="0" y="34116"/>
                  <a:pt x="34116" y="0"/>
                  <a:pt x="76200" y="0"/>
                </a:cubicBezTo>
                <a:close/>
              </a:path>
            </a:pathLst>
          </a:custGeom>
          <a:solidFill>
            <a:srgbClr val="FFFFFF"/>
          </a:solidFill>
          <a:ln w="14288">
            <a:solidFill>
              <a:srgbClr val="C62828"/>
            </a:solidFill>
          </a:ln>
        </p:spPr>
      </p:sp>
      <p:sp>
        <p:nvSpPr>
          <p:cNvPr id="27" name="Freeform 27"/>
          <p:cNvSpPr/>
          <p:nvPr/>
        </p:nvSpPr>
        <p:spPr>
          <a:xfrm>
            <a:off x="4419600" y="1295400"/>
            <a:ext cx="3352800" cy="38100"/>
          </a:xfrm>
          <a:custGeom>
            <a:avLst/>
            <a:gdLst/>
            <a:ahLst/>
            <a:cxnLst/>
            <a:rect l="l" t="t" r="r" b="b"/>
            <a:pathLst>
              <a:path w="3352800" h="38100">
                <a:moveTo>
                  <a:pt x="28575" y="0"/>
                </a:moveTo>
                <a:lnTo>
                  <a:pt x="3324225" y="0"/>
                </a:lnTo>
                <a:cubicBezTo>
                  <a:pt x="3340007" y="0"/>
                  <a:pt x="3352800" y="8529"/>
                  <a:pt x="3352800" y="19050"/>
                </a:cubicBezTo>
                <a:lnTo>
                  <a:pt x="3352800" y="19050"/>
                </a:lnTo>
                <a:cubicBezTo>
                  <a:pt x="3352800" y="29571"/>
                  <a:pt x="3340007" y="38100"/>
                  <a:pt x="3324225" y="38100"/>
                </a:cubicBezTo>
                <a:lnTo>
                  <a:pt x="28575" y="38100"/>
                </a:lnTo>
                <a:cubicBezTo>
                  <a:pt x="12793" y="38100"/>
                  <a:pt x="0" y="29571"/>
                  <a:pt x="0" y="19050"/>
                </a:cubicBezTo>
                <a:lnTo>
                  <a:pt x="0" y="19050"/>
                </a:lnTo>
                <a:cubicBezTo>
                  <a:pt x="0" y="8529"/>
                  <a:pt x="12793" y="0"/>
                  <a:pt x="28575" y="0"/>
                </a:cubicBezTo>
                <a:close/>
              </a:path>
            </a:pathLst>
          </a:custGeom>
          <a:solidFill>
            <a:srgbClr val="C62828"/>
          </a:solidFill>
          <a:ln>
            <a:noFill/>
          </a:ln>
        </p:spPr>
      </p:sp>
      <p:sp>
        <p:nvSpPr>
          <p:cNvPr id="28" name="TextBox 28"/>
          <p:cNvSpPr txBox="1"/>
          <p:nvPr/>
        </p:nvSpPr>
        <p:spPr>
          <a:xfrm>
            <a:off x="5426131" y="1421606"/>
            <a:ext cx="1339739" cy="228600"/>
          </a:xfrm>
          <a:prstGeom prst="rect">
            <a:avLst/>
          </a:prstGeom>
          <a:noFill/>
          <a:ln>
            <a:noFill/>
          </a:ln>
        </p:spPr>
        <p:txBody>
          <a:bodyPr wrap="none" lIns="0" tIns="0" rIns="0" bIns="0" anchor="t" anchorCtr="0">
            <a:spAutoFit/>
          </a:bodyPr>
          <a:lstStyle/>
          <a:p>
            <a:pPr algn="ctr"/>
            <a:r>
              <a:rPr lang="zh-CN" sz="1125" b="1" dirty="0">
                <a:solidFill>
                  <a:srgbClr val="C62828"/>
                </a:solidFill>
                <a:latin typeface="Arial"/>
                <a:ea typeface="Microsoft YaHei"/>
                <a:cs typeface="Arial"/>
              </a:rPr>
              <a:t>Résultat macOS</a:t>
            </a:r>
          </a:p>
        </p:txBody>
      </p:sp>
      <p:sp>
        <p:nvSpPr>
          <p:cNvPr id="29" name="Line 29"/>
          <p:cNvSpPr/>
          <p:nvPr/>
        </p:nvSpPr>
        <p:spPr>
          <a:xfrm>
            <a:off x="4610100" y="1638300"/>
            <a:ext cx="2971800" cy="9525"/>
          </a:xfrm>
          <a:custGeom>
            <a:avLst/>
            <a:gdLst/>
            <a:ahLst/>
            <a:cxnLst/>
            <a:rect l="l" t="t" r="r" b="b"/>
            <a:pathLst>
              <a:path w="2971800" h="9525">
                <a:moveTo>
                  <a:pt x="0" y="0"/>
                </a:moveTo>
                <a:lnTo>
                  <a:pt x="2971800" y="0"/>
                </a:lnTo>
              </a:path>
            </a:pathLst>
          </a:custGeom>
          <a:noFill/>
          <a:ln w="9525">
            <a:solidFill>
              <a:srgbClr val="EAF0F6"/>
            </a:solidFill>
          </a:ln>
        </p:spPr>
      </p:sp>
      <p:sp>
        <p:nvSpPr>
          <p:cNvPr id="30" name="TextBox 30"/>
          <p:cNvSpPr txBox="1"/>
          <p:nvPr/>
        </p:nvSpPr>
        <p:spPr>
          <a:xfrm>
            <a:off x="4777109" y="1799749"/>
            <a:ext cx="2637782"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-O3 seul vs -O3 -march=native + simd</a:t>
            </a:r>
          </a:p>
        </p:txBody>
      </p:sp>
      <p:sp>
        <p:nvSpPr>
          <p:cNvPr id="31" name="Freeform 31"/>
          <p:cNvSpPr/>
          <p:nvPr/>
        </p:nvSpPr>
        <p:spPr>
          <a:xfrm>
            <a:off x="4610100" y="2019300"/>
            <a:ext cx="2971800" cy="571500"/>
          </a:xfrm>
          <a:custGeom>
            <a:avLst/>
            <a:gdLst/>
            <a:ahLst/>
            <a:cxnLst/>
            <a:rect l="l" t="t" r="r" b="b"/>
            <a:pathLst>
              <a:path w="2971800" h="571500">
                <a:moveTo>
                  <a:pt x="57150" y="0"/>
                </a:moveTo>
                <a:lnTo>
                  <a:pt x="2914650" y="0"/>
                </a:lnTo>
                <a:cubicBezTo>
                  <a:pt x="2946213" y="0"/>
                  <a:pt x="2971800" y="25587"/>
                  <a:pt x="2971800" y="57150"/>
                </a:cubicBezTo>
                <a:lnTo>
                  <a:pt x="2971800" y="514350"/>
                </a:lnTo>
                <a:cubicBezTo>
                  <a:pt x="2971800" y="545913"/>
                  <a:pt x="2946213" y="571500"/>
                  <a:pt x="2914650" y="571500"/>
                </a:cubicBezTo>
                <a:lnTo>
                  <a:pt x="57150" y="571500"/>
                </a:lnTo>
                <a:cubicBezTo>
                  <a:pt x="25587" y="571500"/>
                  <a:pt x="0" y="545913"/>
                  <a:pt x="0" y="514350"/>
                </a:cubicBezTo>
                <a:lnTo>
                  <a:pt x="0" y="57150"/>
                </a:lnTo>
                <a:cubicBezTo>
                  <a:pt x="0" y="25587"/>
                  <a:pt x="25587" y="0"/>
                  <a:pt x="57150" y="0"/>
                </a:cubicBezTo>
                <a:close/>
              </a:path>
            </a:pathLst>
          </a:custGeom>
          <a:solidFill>
            <a:srgbClr val="FFF5F5"/>
          </a:solidFill>
          <a:ln w="9525">
            <a:solidFill>
              <a:srgbClr val="CFD8DC"/>
            </a:solidFill>
          </a:ln>
        </p:spPr>
      </p:sp>
      <p:sp>
        <p:nvSpPr>
          <p:cNvPr id="32" name="TextBox 32"/>
          <p:cNvSpPr txBox="1"/>
          <p:nvPr/>
        </p:nvSpPr>
        <p:spPr>
          <a:xfrm>
            <a:off x="5677781" y="2104549"/>
            <a:ext cx="836438"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Consolas"/>
                <a:ea typeface="Microsoft YaHei"/>
                <a:cs typeface="Consolas"/>
              </a:rPr>
              <a:t>np=1, OMP=1</a:t>
            </a:r>
          </a:p>
        </p:txBody>
      </p:sp>
      <p:sp>
        <p:nvSpPr>
          <p:cNvPr id="33" name="TextBox 33"/>
          <p:cNvSpPr txBox="1"/>
          <p:nvPr/>
        </p:nvSpPr>
        <p:spPr>
          <a:xfrm>
            <a:off x="5319736" y="2325052"/>
            <a:ext cx="1552527" cy="213360"/>
          </a:xfrm>
          <a:prstGeom prst="rect">
            <a:avLst/>
          </a:prstGeom>
          <a:noFill/>
          <a:ln>
            <a:noFill/>
          </a:ln>
        </p:spPr>
        <p:txBody>
          <a:bodyPr wrap="none" lIns="0" tIns="0" rIns="0" bIns="0" anchor="t" anchorCtr="0">
            <a:spAutoFit/>
          </a:bodyPr>
          <a:lstStyle/>
          <a:p>
            <a:pPr algn="ctr"/>
            <a:r>
              <a:rPr lang="zh-CN" sz="1050" dirty="0">
                <a:solidFill>
                  <a:srgbClr val="C62828"/>
                </a:solidFill>
                <a:latin typeface="Consolas"/>
                <a:ea typeface="Microsoft YaHei"/>
                <a:cs typeface="Consolas"/>
              </a:rPr>
              <a:t>62 → 54 MLUPS (−13%)</a:t>
            </a:r>
          </a:p>
        </p:txBody>
      </p:sp>
      <p:sp>
        <p:nvSpPr>
          <p:cNvPr id="34" name="Freeform 34"/>
          <p:cNvSpPr/>
          <p:nvPr/>
        </p:nvSpPr>
        <p:spPr>
          <a:xfrm>
            <a:off x="4610100" y="2705100"/>
            <a:ext cx="2971800" cy="571500"/>
          </a:xfrm>
          <a:custGeom>
            <a:avLst/>
            <a:gdLst/>
            <a:ahLst/>
            <a:cxnLst/>
            <a:rect l="l" t="t" r="r" b="b"/>
            <a:pathLst>
              <a:path w="2971800" h="571500">
                <a:moveTo>
                  <a:pt x="57150" y="0"/>
                </a:moveTo>
                <a:lnTo>
                  <a:pt x="2914650" y="0"/>
                </a:lnTo>
                <a:cubicBezTo>
                  <a:pt x="2946213" y="0"/>
                  <a:pt x="2971800" y="25587"/>
                  <a:pt x="2971800" y="57150"/>
                </a:cubicBezTo>
                <a:lnTo>
                  <a:pt x="2971800" y="514350"/>
                </a:lnTo>
                <a:cubicBezTo>
                  <a:pt x="2971800" y="545913"/>
                  <a:pt x="2946213" y="571500"/>
                  <a:pt x="2914650" y="571500"/>
                </a:cubicBezTo>
                <a:lnTo>
                  <a:pt x="57150" y="571500"/>
                </a:lnTo>
                <a:cubicBezTo>
                  <a:pt x="25587" y="571500"/>
                  <a:pt x="0" y="545913"/>
                  <a:pt x="0" y="514350"/>
                </a:cubicBezTo>
                <a:lnTo>
                  <a:pt x="0" y="57150"/>
                </a:lnTo>
                <a:cubicBezTo>
                  <a:pt x="0" y="25587"/>
                  <a:pt x="25587" y="0"/>
                  <a:pt x="57150" y="0"/>
                </a:cubicBezTo>
                <a:close/>
              </a:path>
            </a:pathLst>
          </a:custGeom>
          <a:solidFill>
            <a:srgbClr val="FFF5F5"/>
          </a:solidFill>
          <a:ln w="9525">
            <a:solidFill>
              <a:srgbClr val="CFD8DC"/>
            </a:solidFill>
          </a:ln>
        </p:spPr>
      </p:sp>
      <p:sp>
        <p:nvSpPr>
          <p:cNvPr id="35" name="TextBox 35"/>
          <p:cNvSpPr txBox="1"/>
          <p:nvPr/>
        </p:nvSpPr>
        <p:spPr>
          <a:xfrm>
            <a:off x="5659981" y="2790349"/>
            <a:ext cx="872038"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Consolas"/>
                <a:ea typeface="Microsoft YaHei"/>
                <a:cs typeface="Consolas"/>
              </a:rPr>
              <a:t>np=1, OMP=4</a:t>
            </a:r>
          </a:p>
        </p:txBody>
      </p:sp>
      <p:sp>
        <p:nvSpPr>
          <p:cNvPr id="36" name="TextBox 36"/>
          <p:cNvSpPr txBox="1"/>
          <p:nvPr/>
        </p:nvSpPr>
        <p:spPr>
          <a:xfrm>
            <a:off x="5292900" y="3010852"/>
            <a:ext cx="1606201" cy="213360"/>
          </a:xfrm>
          <a:prstGeom prst="rect">
            <a:avLst/>
          </a:prstGeom>
          <a:noFill/>
          <a:ln>
            <a:noFill/>
          </a:ln>
        </p:spPr>
        <p:txBody>
          <a:bodyPr wrap="none" lIns="0" tIns="0" rIns="0" bIns="0" anchor="t" anchorCtr="0">
            <a:spAutoFit/>
          </a:bodyPr>
          <a:lstStyle/>
          <a:p>
            <a:pPr algn="ctr"/>
            <a:r>
              <a:rPr lang="zh-CN" sz="1050" dirty="0">
                <a:solidFill>
                  <a:srgbClr val="C62828"/>
                </a:solidFill>
                <a:latin typeface="Consolas"/>
                <a:ea typeface="Microsoft YaHei"/>
                <a:cs typeface="Consolas"/>
              </a:rPr>
              <a:t>135 → 121 MLUPS (−10%)</a:t>
            </a:r>
          </a:p>
        </p:txBody>
      </p:sp>
      <p:sp>
        <p:nvSpPr>
          <p:cNvPr id="37" name="TextBox 37"/>
          <p:cNvSpPr txBox="1"/>
          <p:nvPr/>
        </p:nvSpPr>
        <p:spPr>
          <a:xfrm>
            <a:off x="4538591" y="3476149"/>
            <a:ext cx="3114818"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Diagnostic probable : lectures non contiguës</a:t>
            </a:r>
          </a:p>
        </p:txBody>
      </p:sp>
      <p:sp>
        <p:nvSpPr>
          <p:cNvPr id="38" name="TextBox 38"/>
          <p:cNvSpPr txBox="1"/>
          <p:nvPr/>
        </p:nvSpPr>
        <p:spPr>
          <a:xfrm>
            <a:off x="5158026" y="3666649"/>
            <a:ext cx="1875949"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 ordonnanceur P/E cores.</a:t>
            </a:r>
          </a:p>
        </p:txBody>
      </p:sp>
      <p:sp>
        <p:nvSpPr>
          <p:cNvPr id="39" name="Freeform 39"/>
          <p:cNvSpPr/>
          <p:nvPr/>
        </p:nvSpPr>
        <p:spPr>
          <a:xfrm>
            <a:off x="8229600" y="1295400"/>
            <a:ext cx="3352800" cy="3810000"/>
          </a:xfrm>
          <a:custGeom>
            <a:avLst/>
            <a:gdLst/>
            <a:ahLst/>
            <a:cxnLst/>
            <a:rect l="l" t="t" r="r" b="b"/>
            <a:pathLst>
              <a:path w="3352800" h="3810000">
                <a:moveTo>
                  <a:pt x="76200" y="0"/>
                </a:moveTo>
                <a:lnTo>
                  <a:pt x="3276600" y="0"/>
                </a:lnTo>
                <a:cubicBezTo>
                  <a:pt x="3318684" y="0"/>
                  <a:pt x="3352800" y="34116"/>
                  <a:pt x="3352800" y="76200"/>
                </a:cubicBezTo>
                <a:lnTo>
                  <a:pt x="3352800" y="3733800"/>
                </a:lnTo>
                <a:cubicBezTo>
                  <a:pt x="3352800" y="3775884"/>
                  <a:pt x="3318684" y="3810000"/>
                  <a:pt x="3276600" y="3810000"/>
                </a:cubicBezTo>
                <a:lnTo>
                  <a:pt x="76200" y="3810000"/>
                </a:lnTo>
                <a:cubicBezTo>
                  <a:pt x="34116" y="3810000"/>
                  <a:pt x="0" y="3775884"/>
                  <a:pt x="0" y="3733800"/>
                </a:cubicBezTo>
                <a:lnTo>
                  <a:pt x="0" y="76200"/>
                </a:lnTo>
                <a:cubicBezTo>
                  <a:pt x="0" y="34116"/>
                  <a:pt x="34116" y="0"/>
                  <a:pt x="76200" y="0"/>
                </a:cubicBezTo>
                <a:close/>
              </a:path>
            </a:pathLst>
          </a:custGeom>
          <a:solidFill>
            <a:srgbClr val="FFFFFF"/>
          </a:solidFill>
          <a:ln w="14288">
            <a:solidFill>
              <a:srgbClr val="2E7D32"/>
            </a:solidFill>
          </a:ln>
        </p:spPr>
      </p:sp>
      <p:sp>
        <p:nvSpPr>
          <p:cNvPr id="40" name="Freeform 40"/>
          <p:cNvSpPr/>
          <p:nvPr/>
        </p:nvSpPr>
        <p:spPr>
          <a:xfrm>
            <a:off x="8229600" y="1295400"/>
            <a:ext cx="3352800" cy="38100"/>
          </a:xfrm>
          <a:custGeom>
            <a:avLst/>
            <a:gdLst/>
            <a:ahLst/>
            <a:cxnLst/>
            <a:rect l="l" t="t" r="r" b="b"/>
            <a:pathLst>
              <a:path w="3352800" h="38100">
                <a:moveTo>
                  <a:pt x="28575" y="0"/>
                </a:moveTo>
                <a:lnTo>
                  <a:pt x="3324225" y="0"/>
                </a:lnTo>
                <a:cubicBezTo>
                  <a:pt x="3340007" y="0"/>
                  <a:pt x="3352800" y="8529"/>
                  <a:pt x="3352800" y="19050"/>
                </a:cubicBezTo>
                <a:lnTo>
                  <a:pt x="3352800" y="19050"/>
                </a:lnTo>
                <a:cubicBezTo>
                  <a:pt x="3352800" y="29571"/>
                  <a:pt x="3340007" y="38100"/>
                  <a:pt x="3324225" y="38100"/>
                </a:cubicBezTo>
                <a:lnTo>
                  <a:pt x="28575" y="38100"/>
                </a:lnTo>
                <a:cubicBezTo>
                  <a:pt x="12793" y="38100"/>
                  <a:pt x="0" y="29571"/>
                  <a:pt x="0" y="19050"/>
                </a:cubicBezTo>
                <a:lnTo>
                  <a:pt x="0" y="19050"/>
                </a:lnTo>
                <a:cubicBezTo>
                  <a:pt x="0" y="8529"/>
                  <a:pt x="12793" y="0"/>
                  <a:pt x="28575" y="0"/>
                </a:cubicBezTo>
                <a:close/>
              </a:path>
            </a:pathLst>
          </a:custGeom>
          <a:solidFill>
            <a:srgbClr val="2E7D32"/>
          </a:solidFill>
          <a:ln>
            <a:noFill/>
          </a:ln>
        </p:spPr>
      </p:sp>
      <p:sp>
        <p:nvSpPr>
          <p:cNvPr id="41" name="TextBox 41"/>
          <p:cNvSpPr txBox="1"/>
          <p:nvPr/>
        </p:nvSpPr>
        <p:spPr>
          <a:xfrm>
            <a:off x="9555295" y="1421606"/>
            <a:ext cx="701409" cy="228600"/>
          </a:xfrm>
          <a:prstGeom prst="rect">
            <a:avLst/>
          </a:prstGeom>
          <a:noFill/>
          <a:ln>
            <a:noFill/>
          </a:ln>
        </p:spPr>
        <p:txBody>
          <a:bodyPr wrap="none" lIns="0" tIns="0" rIns="0" bIns="0" anchor="t" anchorCtr="0">
            <a:spAutoFit/>
          </a:bodyPr>
          <a:lstStyle/>
          <a:p>
            <a:pPr algn="ctr"/>
            <a:r>
              <a:rPr lang="zh-CN" sz="1125" b="1" dirty="0">
                <a:solidFill>
                  <a:srgbClr val="2E7D32"/>
                </a:solidFill>
                <a:latin typeface="Arial"/>
                <a:ea typeface="Microsoft YaHei"/>
                <a:cs typeface="Arial"/>
              </a:rPr>
              <a:t>Décision</a:t>
            </a:r>
          </a:p>
        </p:txBody>
      </p:sp>
      <p:sp>
        <p:nvSpPr>
          <p:cNvPr id="42" name="Line 42"/>
          <p:cNvSpPr/>
          <p:nvPr/>
        </p:nvSpPr>
        <p:spPr>
          <a:xfrm>
            <a:off x="8420100" y="1638300"/>
            <a:ext cx="2971800" cy="9525"/>
          </a:xfrm>
          <a:custGeom>
            <a:avLst/>
            <a:gdLst/>
            <a:ahLst/>
            <a:cxnLst/>
            <a:rect l="l" t="t" r="r" b="b"/>
            <a:pathLst>
              <a:path w="2971800" h="9525">
                <a:moveTo>
                  <a:pt x="0" y="0"/>
                </a:moveTo>
                <a:lnTo>
                  <a:pt x="2971800" y="0"/>
                </a:lnTo>
              </a:path>
            </a:pathLst>
          </a:custGeom>
          <a:noFill/>
          <a:ln w="9525">
            <a:solidFill>
              <a:srgbClr val="EAF0F6"/>
            </a:solidFill>
          </a:ln>
        </p:spPr>
      </p:sp>
      <p:sp>
        <p:nvSpPr>
          <p:cNvPr id="43" name="Freeform 43"/>
          <p:cNvSpPr/>
          <p:nvPr/>
        </p:nvSpPr>
        <p:spPr>
          <a:xfrm>
            <a:off x="8458200" y="1857375"/>
            <a:ext cx="76200" cy="76200"/>
          </a:xfrm>
          <a:custGeom>
            <a:avLst/>
            <a:gdLst/>
            <a:ahLst/>
            <a:cxnLst/>
            <a:rect l="l" t="t" r="r" b="b"/>
            <a:pathLst>
              <a:path w="76200" h="76200">
                <a:moveTo>
                  <a:pt x="9525" y="0"/>
                </a:moveTo>
                <a:lnTo>
                  <a:pt x="66675" y="0"/>
                </a:lnTo>
                <a:cubicBezTo>
                  <a:pt x="71936" y="0"/>
                  <a:pt x="76200" y="4264"/>
                  <a:pt x="76200" y="9525"/>
                </a:cubicBezTo>
                <a:lnTo>
                  <a:pt x="76200" y="66675"/>
                </a:lnTo>
                <a:cubicBezTo>
                  <a:pt x="76200" y="71936"/>
                  <a:pt x="71936" y="76200"/>
                  <a:pt x="66675" y="76200"/>
                </a:cubicBezTo>
                <a:lnTo>
                  <a:pt x="9525" y="76200"/>
                </a:lnTo>
                <a:cubicBezTo>
                  <a:pt x="4264" y="76200"/>
                  <a:pt x="0" y="71936"/>
                  <a:pt x="0" y="66675"/>
                </a:cubicBezTo>
                <a:lnTo>
                  <a:pt x="0" y="9525"/>
                </a:lnTo>
                <a:cubicBezTo>
                  <a:pt x="0" y="4264"/>
                  <a:pt x="4264" y="0"/>
                  <a:pt x="9525" y="0"/>
                </a:cubicBezTo>
                <a:close/>
              </a:path>
            </a:pathLst>
          </a:custGeom>
          <a:solidFill>
            <a:srgbClr val="2E7D32"/>
          </a:solidFill>
          <a:ln>
            <a:noFill/>
          </a:ln>
        </p:spPr>
      </p:sp>
      <p:sp>
        <p:nvSpPr>
          <p:cNvPr id="44" name="TextBox 44"/>
          <p:cNvSpPr txBox="1"/>
          <p:nvPr/>
        </p:nvSpPr>
        <p:spPr>
          <a:xfrm>
            <a:off x="8598218" y="1837849"/>
            <a:ext cx="1804749" cy="198120"/>
          </a:xfrm>
          <a:prstGeom prst="rect">
            <a:avLst/>
          </a:prstGeom>
          <a:noFill/>
          <a:ln>
            <a:noFill/>
          </a:ln>
        </p:spPr>
        <p:txBody>
          <a:bodyPr wrap="none" lIns="0" tIns="0" rIns="0" bIns="0" anchor="t" anchorCtr="0">
            <a:spAutoFit/>
          </a:bodyPr>
          <a:lstStyle/>
          <a:p>
            <a:pPr algn="l"/>
            <a:r>
              <a:rPr lang="zh-CN" sz="975" dirty="0">
                <a:solidFill>
                  <a:srgbClr val="1A2332"/>
                </a:solidFill>
                <a:latin typeface="Arial"/>
                <a:ea typeface="Microsoft YaHei"/>
                <a:cs typeface="Arial"/>
              </a:rPr>
              <a:t>Conserver -O3 sur macOS</a:t>
            </a:r>
          </a:p>
        </p:txBody>
      </p:sp>
      <p:sp>
        <p:nvSpPr>
          <p:cNvPr id="45" name="Freeform 45"/>
          <p:cNvSpPr/>
          <p:nvPr/>
        </p:nvSpPr>
        <p:spPr>
          <a:xfrm>
            <a:off x="8458200" y="2143125"/>
            <a:ext cx="76200" cy="76200"/>
          </a:xfrm>
          <a:custGeom>
            <a:avLst/>
            <a:gdLst/>
            <a:ahLst/>
            <a:cxnLst/>
            <a:rect l="l" t="t" r="r" b="b"/>
            <a:pathLst>
              <a:path w="76200" h="76200">
                <a:moveTo>
                  <a:pt x="9525" y="0"/>
                </a:moveTo>
                <a:lnTo>
                  <a:pt x="66675" y="0"/>
                </a:lnTo>
                <a:cubicBezTo>
                  <a:pt x="71936" y="0"/>
                  <a:pt x="76200" y="4264"/>
                  <a:pt x="76200" y="9525"/>
                </a:cubicBezTo>
                <a:lnTo>
                  <a:pt x="76200" y="66675"/>
                </a:lnTo>
                <a:cubicBezTo>
                  <a:pt x="76200" y="71936"/>
                  <a:pt x="71936" y="76200"/>
                  <a:pt x="66675" y="76200"/>
                </a:cubicBezTo>
                <a:lnTo>
                  <a:pt x="9525" y="76200"/>
                </a:lnTo>
                <a:cubicBezTo>
                  <a:pt x="4264" y="76200"/>
                  <a:pt x="0" y="71936"/>
                  <a:pt x="0" y="66675"/>
                </a:cubicBezTo>
                <a:lnTo>
                  <a:pt x="0" y="9525"/>
                </a:lnTo>
                <a:cubicBezTo>
                  <a:pt x="0" y="4264"/>
                  <a:pt x="4264" y="0"/>
                  <a:pt x="9525" y="0"/>
                </a:cubicBezTo>
                <a:close/>
              </a:path>
            </a:pathLst>
          </a:custGeom>
          <a:solidFill>
            <a:srgbClr val="2E7D32"/>
          </a:solidFill>
          <a:ln>
            <a:noFill/>
          </a:ln>
        </p:spPr>
      </p:sp>
      <p:sp>
        <p:nvSpPr>
          <p:cNvPr id="46" name="TextBox 46"/>
          <p:cNvSpPr txBox="1"/>
          <p:nvPr/>
        </p:nvSpPr>
        <p:spPr>
          <a:xfrm>
            <a:off x="8598218" y="2123599"/>
            <a:ext cx="1292114" cy="198120"/>
          </a:xfrm>
          <a:prstGeom prst="rect">
            <a:avLst/>
          </a:prstGeom>
          <a:noFill/>
          <a:ln>
            <a:noFill/>
          </a:ln>
        </p:spPr>
        <p:txBody>
          <a:bodyPr wrap="none" lIns="0" tIns="0" rIns="0" bIns="0" anchor="t" anchorCtr="0">
            <a:spAutoFit/>
          </a:bodyPr>
          <a:lstStyle/>
          <a:p>
            <a:pPr algn="l"/>
            <a:r>
              <a:rPr lang="zh-CN" sz="975" dirty="0">
                <a:solidFill>
                  <a:srgbClr val="1A2332"/>
                </a:solidFill>
                <a:latin typeface="Arial"/>
                <a:ea typeface="Microsoft YaHei"/>
                <a:cs typeface="Arial"/>
              </a:rPr>
              <a:t>Ne pas généraliser</a:t>
            </a:r>
          </a:p>
        </p:txBody>
      </p:sp>
      <p:sp>
        <p:nvSpPr>
          <p:cNvPr id="47" name="TextBox 47"/>
          <p:cNvSpPr txBox="1"/>
          <p:nvPr/>
        </p:nvSpPr>
        <p:spPr>
          <a:xfrm>
            <a:off x="8598218" y="2295049"/>
            <a:ext cx="1035796" cy="198120"/>
          </a:xfrm>
          <a:prstGeom prst="rect">
            <a:avLst/>
          </a:prstGeom>
          <a:noFill/>
          <a:ln>
            <a:noFill/>
          </a:ln>
        </p:spPr>
        <p:txBody>
          <a:bodyPr wrap="none" lIns="0" tIns="0" rIns="0" bIns="0" anchor="t" anchorCtr="0">
            <a:spAutoFit/>
          </a:bodyPr>
          <a:lstStyle/>
          <a:p>
            <a:pPr algn="l"/>
            <a:r>
              <a:rPr lang="zh-CN" sz="975" dirty="0">
                <a:solidFill>
                  <a:srgbClr val="1A2332"/>
                </a:solidFill>
                <a:latin typeface="Consolas"/>
                <a:ea typeface="Microsoft YaHei"/>
                <a:cs typeface="Consolas"/>
              </a:rPr>
              <a:t>-march=native</a:t>
            </a:r>
          </a:p>
        </p:txBody>
      </p:sp>
      <p:sp>
        <p:nvSpPr>
          <p:cNvPr id="48" name="Freeform 48"/>
          <p:cNvSpPr/>
          <p:nvPr/>
        </p:nvSpPr>
        <p:spPr>
          <a:xfrm>
            <a:off x="8458200" y="2600325"/>
            <a:ext cx="76200" cy="76200"/>
          </a:xfrm>
          <a:custGeom>
            <a:avLst/>
            <a:gdLst/>
            <a:ahLst/>
            <a:cxnLst/>
            <a:rect l="l" t="t" r="r" b="b"/>
            <a:pathLst>
              <a:path w="76200" h="76200">
                <a:moveTo>
                  <a:pt x="9525" y="0"/>
                </a:moveTo>
                <a:lnTo>
                  <a:pt x="66675" y="0"/>
                </a:lnTo>
                <a:cubicBezTo>
                  <a:pt x="71936" y="0"/>
                  <a:pt x="76200" y="4264"/>
                  <a:pt x="76200" y="9525"/>
                </a:cubicBezTo>
                <a:lnTo>
                  <a:pt x="76200" y="66675"/>
                </a:lnTo>
                <a:cubicBezTo>
                  <a:pt x="76200" y="71936"/>
                  <a:pt x="71936" y="76200"/>
                  <a:pt x="66675" y="76200"/>
                </a:cubicBezTo>
                <a:lnTo>
                  <a:pt x="9525" y="76200"/>
                </a:lnTo>
                <a:cubicBezTo>
                  <a:pt x="4264" y="76200"/>
                  <a:pt x="0" y="71936"/>
                  <a:pt x="0" y="66675"/>
                </a:cubicBezTo>
                <a:lnTo>
                  <a:pt x="0" y="9525"/>
                </a:lnTo>
                <a:cubicBezTo>
                  <a:pt x="0" y="4264"/>
                  <a:pt x="4264" y="0"/>
                  <a:pt x="9525" y="0"/>
                </a:cubicBezTo>
                <a:close/>
              </a:path>
            </a:pathLst>
          </a:custGeom>
          <a:solidFill>
            <a:srgbClr val="2E7D32"/>
          </a:solidFill>
          <a:ln>
            <a:noFill/>
          </a:ln>
        </p:spPr>
      </p:sp>
      <p:sp>
        <p:nvSpPr>
          <p:cNvPr id="49" name="TextBox 49"/>
          <p:cNvSpPr txBox="1"/>
          <p:nvPr/>
        </p:nvSpPr>
        <p:spPr>
          <a:xfrm>
            <a:off x="8598218" y="2580799"/>
            <a:ext cx="1868829" cy="198120"/>
          </a:xfrm>
          <a:prstGeom prst="rect">
            <a:avLst/>
          </a:prstGeom>
          <a:noFill/>
          <a:ln>
            <a:noFill/>
          </a:ln>
        </p:spPr>
        <p:txBody>
          <a:bodyPr wrap="none" lIns="0" tIns="0" rIns="0" bIns="0" anchor="t" anchorCtr="0">
            <a:spAutoFit/>
          </a:bodyPr>
          <a:lstStyle/>
          <a:p>
            <a:pPr algn="l"/>
            <a:r>
              <a:rPr lang="zh-CN" sz="975" dirty="0">
                <a:solidFill>
                  <a:srgbClr val="1A2332"/>
                </a:solidFill>
                <a:latin typeface="Arial"/>
                <a:ea typeface="Microsoft YaHei"/>
                <a:cs typeface="Arial"/>
              </a:rPr>
              <a:t>AVX-512 traité séparément</a:t>
            </a:r>
          </a:p>
        </p:txBody>
      </p:sp>
      <p:sp>
        <p:nvSpPr>
          <p:cNvPr id="50" name="TextBox 50"/>
          <p:cNvSpPr txBox="1"/>
          <p:nvPr/>
        </p:nvSpPr>
        <p:spPr>
          <a:xfrm>
            <a:off x="8598218" y="2752249"/>
            <a:ext cx="1320594" cy="198120"/>
          </a:xfrm>
          <a:prstGeom prst="rect">
            <a:avLst/>
          </a:prstGeom>
          <a:noFill/>
          <a:ln>
            <a:noFill/>
          </a:ln>
        </p:spPr>
        <p:txBody>
          <a:bodyPr wrap="none" lIns="0" tIns="0" rIns="0" bIns="0" anchor="t" anchorCtr="0">
            <a:spAutoFit/>
          </a:bodyPr>
          <a:lstStyle/>
          <a:p>
            <a:pPr algn="l"/>
            <a:r>
              <a:rPr lang="zh-CN" sz="975" dirty="0">
                <a:solidFill>
                  <a:srgbClr val="1A2332"/>
                </a:solidFill>
                <a:latin typeface="Arial"/>
                <a:ea typeface="Microsoft YaHei"/>
                <a:cs typeface="Arial"/>
              </a:rPr>
              <a:t>sur AMD (Partie 2)</a:t>
            </a:r>
          </a:p>
        </p:txBody>
      </p:sp>
      <p:sp>
        <p:nvSpPr>
          <p:cNvPr id="51" name="Freeform 51"/>
          <p:cNvSpPr/>
          <p:nvPr/>
        </p:nvSpPr>
        <p:spPr>
          <a:xfrm>
            <a:off x="8458200" y="3152775"/>
            <a:ext cx="76200" cy="76200"/>
          </a:xfrm>
          <a:custGeom>
            <a:avLst/>
            <a:gdLst/>
            <a:ahLst/>
            <a:cxnLst/>
            <a:rect l="l" t="t" r="r" b="b"/>
            <a:pathLst>
              <a:path w="76200" h="76200">
                <a:moveTo>
                  <a:pt x="9525" y="0"/>
                </a:moveTo>
                <a:lnTo>
                  <a:pt x="66675" y="0"/>
                </a:lnTo>
                <a:cubicBezTo>
                  <a:pt x="71936" y="0"/>
                  <a:pt x="76200" y="4264"/>
                  <a:pt x="76200" y="9525"/>
                </a:cubicBezTo>
                <a:lnTo>
                  <a:pt x="76200" y="66675"/>
                </a:lnTo>
                <a:cubicBezTo>
                  <a:pt x="76200" y="71936"/>
                  <a:pt x="71936" y="76200"/>
                  <a:pt x="66675" y="76200"/>
                </a:cubicBezTo>
                <a:lnTo>
                  <a:pt x="9525" y="76200"/>
                </a:lnTo>
                <a:cubicBezTo>
                  <a:pt x="4264" y="76200"/>
                  <a:pt x="0" y="71936"/>
                  <a:pt x="0" y="66675"/>
                </a:cubicBezTo>
                <a:lnTo>
                  <a:pt x="0" y="9525"/>
                </a:lnTo>
                <a:cubicBezTo>
                  <a:pt x="0" y="4264"/>
                  <a:pt x="4264" y="0"/>
                  <a:pt x="9525" y="0"/>
                </a:cubicBezTo>
                <a:close/>
              </a:path>
            </a:pathLst>
          </a:custGeom>
          <a:solidFill>
            <a:srgbClr val="2E7D32"/>
          </a:solidFill>
          <a:ln>
            <a:noFill/>
          </a:ln>
        </p:spPr>
      </p:sp>
      <p:sp>
        <p:nvSpPr>
          <p:cNvPr id="52" name="TextBox 52"/>
          <p:cNvSpPr txBox="1"/>
          <p:nvPr/>
        </p:nvSpPr>
        <p:spPr>
          <a:xfrm>
            <a:off x="8598218" y="3133249"/>
            <a:ext cx="1826109" cy="198120"/>
          </a:xfrm>
          <a:prstGeom prst="rect">
            <a:avLst/>
          </a:prstGeom>
          <a:noFill/>
          <a:ln>
            <a:noFill/>
          </a:ln>
        </p:spPr>
        <p:txBody>
          <a:bodyPr wrap="none" lIns="0" tIns="0" rIns="0" bIns="0" anchor="t" anchorCtr="0">
            <a:spAutoFit/>
          </a:bodyPr>
          <a:lstStyle/>
          <a:p>
            <a:pPr algn="l"/>
            <a:r>
              <a:rPr lang="zh-CN" sz="975" dirty="0">
                <a:solidFill>
                  <a:srgbClr val="1A2332"/>
                </a:solidFill>
                <a:latin typeface="Arial"/>
                <a:ea typeface="Microsoft YaHei"/>
                <a:cs typeface="Arial"/>
              </a:rPr>
              <a:t>Aucun changement de code</a:t>
            </a:r>
          </a:p>
        </p:txBody>
      </p:sp>
      <p:sp>
        <p:nvSpPr>
          <p:cNvPr id="53" name="TextBox 53"/>
          <p:cNvSpPr txBox="1"/>
          <p:nvPr/>
        </p:nvSpPr>
        <p:spPr>
          <a:xfrm>
            <a:off x="8598218" y="3304699"/>
            <a:ext cx="1968508" cy="198120"/>
          </a:xfrm>
          <a:prstGeom prst="rect">
            <a:avLst/>
          </a:prstGeom>
          <a:noFill/>
          <a:ln>
            <a:noFill/>
          </a:ln>
        </p:spPr>
        <p:txBody>
          <a:bodyPr wrap="none" lIns="0" tIns="0" rIns="0" bIns="0" anchor="t" anchorCtr="0">
            <a:spAutoFit/>
          </a:bodyPr>
          <a:lstStyle/>
          <a:p>
            <a:pPr algn="l"/>
            <a:r>
              <a:rPr lang="zh-CN" sz="975" dirty="0">
                <a:solidFill>
                  <a:srgbClr val="546E7A"/>
                </a:solidFill>
                <a:latin typeface="Arial"/>
                <a:ea typeface="Microsoft YaHei"/>
                <a:cs typeface="Arial"/>
              </a:rPr>
              <a:t>(analyse et décision seules)</a:t>
            </a:r>
          </a:p>
        </p:txBody>
      </p:sp>
      <p:sp>
        <p:nvSpPr>
          <p:cNvPr id="54" name="Freeform 54"/>
          <p:cNvSpPr/>
          <p:nvPr/>
        </p:nvSpPr>
        <p:spPr>
          <a:xfrm>
            <a:off x="8420100" y="3657600"/>
            <a:ext cx="2971800" cy="495300"/>
          </a:xfrm>
          <a:custGeom>
            <a:avLst/>
            <a:gdLst/>
            <a:ahLst/>
            <a:cxnLst/>
            <a:rect l="l" t="t" r="r" b="b"/>
            <a:pathLst>
              <a:path w="2971800" h="495300">
                <a:moveTo>
                  <a:pt x="57150" y="0"/>
                </a:moveTo>
                <a:lnTo>
                  <a:pt x="2914650" y="0"/>
                </a:lnTo>
                <a:cubicBezTo>
                  <a:pt x="2946213" y="0"/>
                  <a:pt x="2971800" y="25587"/>
                  <a:pt x="2971800" y="57150"/>
                </a:cubicBezTo>
                <a:lnTo>
                  <a:pt x="2971800" y="438150"/>
                </a:lnTo>
                <a:cubicBezTo>
                  <a:pt x="2971800" y="469713"/>
                  <a:pt x="2946213" y="495300"/>
                  <a:pt x="2914650" y="495300"/>
                </a:cubicBezTo>
                <a:lnTo>
                  <a:pt x="57150" y="495300"/>
                </a:lnTo>
                <a:cubicBezTo>
                  <a:pt x="25587" y="495300"/>
                  <a:pt x="0" y="469713"/>
                  <a:pt x="0" y="438150"/>
                </a:cubicBezTo>
                <a:lnTo>
                  <a:pt x="0" y="57150"/>
                </a:lnTo>
                <a:cubicBezTo>
                  <a:pt x="0" y="25587"/>
                  <a:pt x="25587" y="0"/>
                  <a:pt x="57150" y="0"/>
                </a:cubicBezTo>
                <a:close/>
              </a:path>
            </a:pathLst>
          </a:custGeom>
          <a:solidFill>
            <a:srgbClr val="E8F5E9"/>
          </a:solidFill>
          <a:ln w="9525">
            <a:solidFill>
              <a:srgbClr val="2E7D32"/>
            </a:solidFill>
          </a:ln>
        </p:spPr>
      </p:sp>
      <p:sp>
        <p:nvSpPr>
          <p:cNvPr id="55" name="TextBox 55"/>
          <p:cNvSpPr txBox="1"/>
          <p:nvPr/>
        </p:nvSpPr>
        <p:spPr>
          <a:xfrm>
            <a:off x="9028545" y="3761899"/>
            <a:ext cx="1754910" cy="198120"/>
          </a:xfrm>
          <a:prstGeom prst="rect">
            <a:avLst/>
          </a:prstGeom>
          <a:noFill/>
          <a:ln>
            <a:noFill/>
          </a:ln>
        </p:spPr>
        <p:txBody>
          <a:bodyPr wrap="none" lIns="0" tIns="0" rIns="0" bIns="0" anchor="t" anchorCtr="0">
            <a:spAutoFit/>
          </a:bodyPr>
          <a:lstStyle/>
          <a:p>
            <a:pPr algn="ctr"/>
            <a:r>
              <a:rPr lang="zh-CN" sz="975" dirty="0">
                <a:solidFill>
                  <a:srgbClr val="2E7D32"/>
                </a:solidFill>
                <a:latin typeface="Arial"/>
                <a:ea typeface="Microsoft YaHei"/>
                <a:cs typeface="Arial"/>
              </a:rPr>
              <a:t>-O3 suffit sur AArch64 :</a:t>
            </a:r>
          </a:p>
        </p:txBody>
      </p:sp>
      <p:sp>
        <p:nvSpPr>
          <p:cNvPr id="56" name="TextBox 56"/>
          <p:cNvSpPr txBox="1"/>
          <p:nvPr/>
        </p:nvSpPr>
        <p:spPr>
          <a:xfrm>
            <a:off x="8921746" y="3952399"/>
            <a:ext cx="1968508" cy="198120"/>
          </a:xfrm>
          <a:prstGeom prst="rect">
            <a:avLst/>
          </a:prstGeom>
          <a:noFill/>
          <a:ln>
            <a:noFill/>
          </a:ln>
        </p:spPr>
        <p:txBody>
          <a:bodyPr wrap="none" lIns="0" tIns="0" rIns="0" bIns="0" anchor="t" anchorCtr="0">
            <a:spAutoFit/>
          </a:bodyPr>
          <a:lstStyle/>
          <a:p>
            <a:pPr algn="ctr"/>
            <a:r>
              <a:rPr lang="zh-CN" sz="975" dirty="0">
                <a:solidFill>
                  <a:srgbClr val="2E7D32"/>
                </a:solidFill>
                <a:latin typeface="Consolas"/>
                <a:ea typeface="Microsoft YaHei"/>
                <a:cs typeface="Consolas"/>
              </a:rPr>
              <a:t>fmla.2d confirmé (objdump)</a:t>
            </a:r>
          </a:p>
        </p:txBody>
      </p:sp>
      <p:sp>
        <p:nvSpPr>
          <p:cNvPr id="57" name="Freeform 57"/>
          <p:cNvSpPr/>
          <p:nvPr/>
        </p:nvSpPr>
        <p:spPr>
          <a:xfrm>
            <a:off x="609600" y="5295900"/>
            <a:ext cx="10972800" cy="1028700"/>
          </a:xfrm>
          <a:custGeom>
            <a:avLst/>
            <a:gdLst/>
            <a:ahLst/>
            <a:cxnLst/>
            <a:rect l="l" t="t" r="r" b="b"/>
            <a:pathLst>
              <a:path w="10972800" h="1028700">
                <a:moveTo>
                  <a:pt x="57150" y="0"/>
                </a:moveTo>
                <a:lnTo>
                  <a:pt x="10915650" y="0"/>
                </a:lnTo>
                <a:cubicBezTo>
                  <a:pt x="10947213" y="0"/>
                  <a:pt x="10972800" y="25587"/>
                  <a:pt x="10972800" y="57150"/>
                </a:cubicBezTo>
                <a:lnTo>
                  <a:pt x="10972800" y="971550"/>
                </a:lnTo>
                <a:cubicBezTo>
                  <a:pt x="10972800" y="1003113"/>
                  <a:pt x="10947213" y="1028700"/>
                  <a:pt x="10915650" y="1028700"/>
                </a:cubicBezTo>
                <a:lnTo>
                  <a:pt x="57150" y="1028700"/>
                </a:lnTo>
                <a:cubicBezTo>
                  <a:pt x="25587" y="1028700"/>
                  <a:pt x="0" y="1003113"/>
                  <a:pt x="0" y="971550"/>
                </a:cubicBezTo>
                <a:lnTo>
                  <a:pt x="0" y="57150"/>
                </a:lnTo>
                <a:cubicBezTo>
                  <a:pt x="0" y="25587"/>
                  <a:pt x="25587" y="0"/>
                  <a:pt x="57150" y="0"/>
                </a:cubicBezTo>
                <a:close/>
              </a:path>
            </a:pathLst>
          </a:custGeom>
          <a:solidFill>
            <a:srgbClr val="F4F7FA"/>
          </a:solidFill>
          <a:ln w="9525">
            <a:solidFill>
              <a:srgbClr val="CFD8DC"/>
            </a:solidFill>
          </a:ln>
        </p:spPr>
      </p:sp>
      <p:sp>
        <p:nvSpPr>
          <p:cNvPr id="58" name="TextBox 58"/>
          <p:cNvSpPr txBox="1"/>
          <p:nvPr/>
        </p:nvSpPr>
        <p:spPr>
          <a:xfrm>
            <a:off x="825818" y="5438299"/>
            <a:ext cx="1602187" cy="198120"/>
          </a:xfrm>
          <a:prstGeom prst="rect">
            <a:avLst/>
          </a:prstGeom>
          <a:noFill/>
          <a:ln>
            <a:noFill/>
          </a:ln>
        </p:spPr>
        <p:txBody>
          <a:bodyPr wrap="none" lIns="0" tIns="0" rIns="0" bIns="0" anchor="t" anchorCtr="0">
            <a:spAutoFit/>
          </a:bodyPr>
          <a:lstStyle/>
          <a:p>
            <a:pPr algn="l"/>
            <a:r>
              <a:rPr lang="zh-CN" sz="975" b="1" dirty="0">
                <a:solidFill>
                  <a:srgbClr val="546E7A"/>
                </a:solidFill>
                <a:latin typeface="Arial"/>
                <a:ea typeface="Microsoft YaHei"/>
                <a:cs typeface="Arial"/>
              </a:rPr>
              <a:t>Autres travaux P1-D :</a:t>
            </a:r>
          </a:p>
        </p:txBody>
      </p:sp>
      <p:sp>
        <p:nvSpPr>
          <p:cNvPr id="59" name="TextBox 59"/>
          <p:cNvSpPr txBox="1"/>
          <p:nvPr/>
        </p:nvSpPr>
        <p:spPr>
          <a:xfrm>
            <a:off x="825818" y="5647849"/>
            <a:ext cx="3079218" cy="198120"/>
          </a:xfrm>
          <a:prstGeom prst="rect">
            <a:avLst/>
          </a:prstGeom>
          <a:noFill/>
          <a:ln>
            <a:noFill/>
          </a:ln>
        </p:spPr>
        <p:txBody>
          <a:bodyPr wrap="none" lIns="0" tIns="0" rIns="0" bIns="0" anchor="t" anchorCtr="0">
            <a:spAutoFit/>
          </a:bodyPr>
          <a:lstStyle/>
          <a:p>
            <a:pPr algn="l"/>
            <a:r>
              <a:rPr lang="zh-CN" sz="975" dirty="0">
                <a:solidFill>
                  <a:srgbClr val="1A2332"/>
                </a:solidFill>
                <a:latin typeface="Arial"/>
                <a:ea typeface="Microsoft YaHei"/>
                <a:cs typeface="Arial"/>
              </a:rPr>
              <a:t>overlap MPI · fusion collision · I/O distribué</a:t>
            </a:r>
          </a:p>
        </p:txBody>
      </p:sp>
      <p:sp>
        <p:nvSpPr>
          <p:cNvPr id="60" name="TextBox 60"/>
          <p:cNvSpPr txBox="1"/>
          <p:nvPr/>
        </p:nvSpPr>
        <p:spPr>
          <a:xfrm>
            <a:off x="825818" y="5914549"/>
            <a:ext cx="443417" cy="198120"/>
          </a:xfrm>
          <a:prstGeom prst="rect">
            <a:avLst/>
          </a:prstGeom>
          <a:noFill/>
          <a:ln>
            <a:noFill/>
          </a:ln>
        </p:spPr>
        <p:txBody>
          <a:bodyPr wrap="none" lIns="0" tIns="0" rIns="0" bIns="0" anchor="t" anchorCtr="0">
            <a:spAutoFit/>
          </a:bodyPr>
          <a:lstStyle/>
          <a:p>
            <a:pPr algn="l"/>
            <a:r>
              <a:rPr lang="zh-CN" sz="975" b="1" dirty="0">
                <a:solidFill>
                  <a:srgbClr val="546E7A"/>
                </a:solidFill>
                <a:latin typeface="Arial"/>
                <a:ea typeface="Microsoft YaHei"/>
                <a:cs typeface="Arial"/>
              </a:rPr>
              <a:t>Rôle :</a:t>
            </a:r>
          </a:p>
        </p:txBody>
      </p:sp>
      <p:sp>
        <p:nvSpPr>
          <p:cNvPr id="61" name="TextBox 61"/>
          <p:cNvSpPr txBox="1"/>
          <p:nvPr/>
        </p:nvSpPr>
        <p:spPr>
          <a:xfrm>
            <a:off x="825818" y="6105049"/>
            <a:ext cx="3563374" cy="198120"/>
          </a:xfrm>
          <a:prstGeom prst="rect">
            <a:avLst/>
          </a:prstGeom>
          <a:noFill/>
          <a:ln>
            <a:noFill/>
          </a:ln>
        </p:spPr>
        <p:txBody>
          <a:bodyPr wrap="none" lIns="0" tIns="0" rIns="0" bIns="0" anchor="t" anchorCtr="0">
            <a:spAutoFit/>
          </a:bodyPr>
          <a:lstStyle/>
          <a:p>
            <a:pPr algn="l"/>
            <a:r>
              <a:rPr lang="zh-CN" sz="975" dirty="0">
                <a:solidFill>
                  <a:srgbClr val="1A2332"/>
                </a:solidFill>
                <a:latin typeface="Arial"/>
                <a:ea typeface="Microsoft YaHei"/>
                <a:cs typeface="Arial"/>
              </a:rPr>
              <a:t>diagnostic · portabilité · préparation pour la suite</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6200"/>
          </a:xfrm>
          <a:prstGeom prst="rect">
            <a:avLst/>
          </a:prstGeom>
          <a:solidFill>
            <a:srgbClr val="1565C0"/>
          </a:solidFill>
          <a:ln>
            <a:noFill/>
          </a:ln>
        </p:spPr>
      </p:sp>
      <p:sp>
        <p:nvSpPr>
          <p:cNvPr id="4" name="Rectangle 4"/>
          <p:cNvSpPr/>
          <p:nvPr/>
        </p:nvSpPr>
        <p:spPr>
          <a:xfrm>
            <a:off x="0" y="76200"/>
            <a:ext cx="12192000" cy="685800"/>
          </a:xfrm>
          <a:prstGeom prst="rect">
            <a:avLst/>
          </a:prstGeom>
          <a:solidFill>
            <a:srgbClr val="F4F7FA"/>
          </a:solidFill>
          <a:ln>
            <a:noFill/>
          </a:ln>
        </p:spPr>
      </p:sp>
      <p:sp>
        <p:nvSpPr>
          <p:cNvPr id="5" name="Line 5"/>
          <p:cNvSpPr/>
          <p:nvPr/>
        </p:nvSpPr>
        <p:spPr>
          <a:xfrm>
            <a:off x="0" y="762000"/>
            <a:ext cx="12192000" cy="9525"/>
          </a:xfrm>
          <a:custGeom>
            <a:avLst/>
            <a:gdLst/>
            <a:ahLst/>
            <a:cxnLst/>
            <a:rect l="l" t="t" r="r" b="b"/>
            <a:pathLst>
              <a:path w="12192000" h="9525">
                <a:moveTo>
                  <a:pt x="0" y="0"/>
                </a:moveTo>
                <a:lnTo>
                  <a:pt x="12192000" y="0"/>
                </a:lnTo>
              </a:path>
            </a:pathLst>
          </a:custGeom>
          <a:noFill/>
          <a:ln w="9525">
            <a:solidFill>
              <a:srgbClr val="CFD8DC"/>
            </a:solidFill>
          </a:ln>
        </p:spPr>
      </p:sp>
      <p:sp>
        <p:nvSpPr>
          <p:cNvPr id="6" name="Freeform 6"/>
          <p:cNvSpPr/>
          <p:nvPr/>
        </p:nvSpPr>
        <p:spPr>
          <a:xfrm>
            <a:off x="609600" y="228600"/>
            <a:ext cx="47625" cy="304800"/>
          </a:xfrm>
          <a:custGeom>
            <a:avLst/>
            <a:gdLst/>
            <a:ahLst/>
            <a:cxnLst/>
            <a:rect l="l" t="t" r="r" b="b"/>
            <a:pathLst>
              <a:path w="47625" h="304800">
                <a:moveTo>
                  <a:pt x="19050" y="0"/>
                </a:moveTo>
                <a:lnTo>
                  <a:pt x="28575" y="0"/>
                </a:lnTo>
                <a:cubicBezTo>
                  <a:pt x="39096" y="0"/>
                  <a:pt x="47625" y="8529"/>
                  <a:pt x="47625" y="19050"/>
                </a:cubicBezTo>
                <a:lnTo>
                  <a:pt x="47625" y="285750"/>
                </a:lnTo>
                <a:cubicBezTo>
                  <a:pt x="47625" y="296271"/>
                  <a:pt x="39096" y="304800"/>
                  <a:pt x="28575" y="304800"/>
                </a:cubicBezTo>
                <a:lnTo>
                  <a:pt x="19050" y="304800"/>
                </a:lnTo>
                <a:cubicBezTo>
                  <a:pt x="8529" y="304800"/>
                  <a:pt x="0" y="296271"/>
                  <a:pt x="0" y="285750"/>
                </a:cubicBezTo>
                <a:lnTo>
                  <a:pt x="0" y="19050"/>
                </a:lnTo>
                <a:cubicBezTo>
                  <a:pt x="0" y="8529"/>
                  <a:pt x="8529" y="0"/>
                  <a:pt x="19050" y="0"/>
                </a:cubicBezTo>
                <a:close/>
              </a:path>
            </a:pathLst>
          </a:custGeom>
          <a:solidFill>
            <a:srgbClr val="2E7D32"/>
          </a:solidFill>
          <a:ln>
            <a:noFill/>
          </a:ln>
        </p:spPr>
      </p:sp>
      <p:sp>
        <p:nvSpPr>
          <p:cNvPr id="7" name="TextBox 7"/>
          <p:cNvSpPr txBox="1"/>
          <p:nvPr/>
        </p:nvSpPr>
        <p:spPr>
          <a:xfrm>
            <a:off x="741045" y="183832"/>
            <a:ext cx="6304443" cy="335280"/>
          </a:xfrm>
          <a:prstGeom prst="rect">
            <a:avLst/>
          </a:prstGeom>
          <a:noFill/>
          <a:ln>
            <a:noFill/>
          </a:ln>
        </p:spPr>
        <p:txBody>
          <a:bodyPr wrap="none" lIns="0" tIns="0" rIns="0" bIns="0" anchor="t" anchorCtr="0">
            <a:spAutoFit/>
          </a:bodyPr>
          <a:lstStyle/>
          <a:p>
            <a:pPr algn="l"/>
            <a:r>
              <a:rPr lang="zh-CN" sz="1650" b="1" dirty="0">
                <a:solidFill>
                  <a:srgbClr val="2E7D32"/>
                </a:solidFill>
                <a:latin typeface="Arial"/>
                <a:ea typeface="Microsoft YaHei"/>
                <a:cs typeface="Arial"/>
              </a:rPr>
              <a:t>Transition · Nouvelle plateforme + Protocole unifié</a:t>
            </a:r>
          </a:p>
        </p:txBody>
      </p:sp>
      <p:sp>
        <p:nvSpPr>
          <p:cNvPr id="8" name="Freeform 8"/>
          <p:cNvSpPr/>
          <p:nvPr/>
        </p:nvSpPr>
        <p:spPr>
          <a:xfrm>
            <a:off x="11144250" y="228600"/>
            <a:ext cx="438150" cy="171450"/>
          </a:xfrm>
          <a:custGeom>
            <a:avLst/>
            <a:gdLst/>
            <a:ahLst/>
            <a:cxnLst/>
            <a:rect l="l" t="t" r="r" b="b"/>
            <a:pathLst>
              <a:path w="438150" h="171450">
                <a:moveTo>
                  <a:pt x="38100" y="0"/>
                </a:moveTo>
                <a:lnTo>
                  <a:pt x="400050" y="0"/>
                </a:lnTo>
                <a:cubicBezTo>
                  <a:pt x="421092" y="0"/>
                  <a:pt x="438150" y="17058"/>
                  <a:pt x="438150" y="38100"/>
                </a:cubicBezTo>
                <a:lnTo>
                  <a:pt x="438150" y="133350"/>
                </a:lnTo>
                <a:cubicBezTo>
                  <a:pt x="438150" y="154392"/>
                  <a:pt x="421092" y="171450"/>
                  <a:pt x="400050" y="171450"/>
                </a:cubicBezTo>
                <a:lnTo>
                  <a:pt x="38100" y="171450"/>
                </a:lnTo>
                <a:cubicBezTo>
                  <a:pt x="17058" y="171450"/>
                  <a:pt x="0" y="154392"/>
                  <a:pt x="0" y="133350"/>
                </a:cubicBezTo>
                <a:lnTo>
                  <a:pt x="0" y="38100"/>
                </a:lnTo>
                <a:cubicBezTo>
                  <a:pt x="0" y="17058"/>
                  <a:pt x="17058" y="0"/>
                  <a:pt x="38100" y="0"/>
                </a:cubicBezTo>
                <a:close/>
              </a:path>
            </a:pathLst>
          </a:custGeom>
          <a:solidFill>
            <a:srgbClr val="2E7D32"/>
          </a:solidFill>
          <a:ln>
            <a:noFill/>
          </a:ln>
        </p:spPr>
      </p:sp>
      <p:sp>
        <p:nvSpPr>
          <p:cNvPr id="9" name="TextBox 9"/>
          <p:cNvSpPr txBox="1"/>
          <p:nvPr/>
        </p:nvSpPr>
        <p:spPr>
          <a:xfrm>
            <a:off x="11283264" y="263366"/>
            <a:ext cx="160122"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P2</a:t>
            </a:r>
          </a:p>
        </p:txBody>
      </p:sp>
      <p:sp>
        <p:nvSpPr>
          <p:cNvPr id="10" name="TextBox 10"/>
          <p:cNvSpPr txBox="1"/>
          <p:nvPr/>
        </p:nvSpPr>
        <p:spPr>
          <a:xfrm>
            <a:off x="11206901" y="351949"/>
            <a:ext cx="387882" cy="198120"/>
          </a:xfrm>
          <a:prstGeom prst="rect">
            <a:avLst/>
          </a:prstGeom>
          <a:noFill/>
          <a:ln>
            <a:noFill/>
          </a:ln>
        </p:spPr>
        <p:txBody>
          <a:bodyPr wrap="none" lIns="0" tIns="0" rIns="0" bIns="0" anchor="t" anchorCtr="0">
            <a:spAutoFit/>
          </a:bodyPr>
          <a:lstStyle/>
          <a:p>
            <a:pPr algn="r"/>
            <a:r>
              <a:rPr lang="zh-CN" sz="975" dirty="0">
                <a:solidFill>
                  <a:srgbClr val="90A4AE"/>
                </a:solidFill>
                <a:latin typeface="Arial"/>
                <a:ea typeface="Microsoft YaHei"/>
                <a:cs typeface="Arial"/>
              </a:rPr>
              <a:t>8 / 13</a:t>
            </a:r>
          </a:p>
        </p:txBody>
      </p:sp>
      <p:sp>
        <p:nvSpPr>
          <p:cNvPr id="11" name="Freeform 11"/>
          <p:cNvSpPr/>
          <p:nvPr/>
        </p:nvSpPr>
        <p:spPr>
          <a:xfrm>
            <a:off x="800100" y="1123950"/>
            <a:ext cx="5086350" cy="4248150"/>
          </a:xfrm>
          <a:custGeom>
            <a:avLst/>
            <a:gdLst/>
            <a:ahLst/>
            <a:cxnLst/>
            <a:rect l="l" t="t" r="r" b="b"/>
            <a:pathLst>
              <a:path w="5086350" h="4248150">
                <a:moveTo>
                  <a:pt x="76200" y="0"/>
                </a:moveTo>
                <a:lnTo>
                  <a:pt x="5010150" y="0"/>
                </a:lnTo>
                <a:cubicBezTo>
                  <a:pt x="5052234" y="0"/>
                  <a:pt x="5086350" y="34116"/>
                  <a:pt x="5086350" y="76200"/>
                </a:cubicBezTo>
                <a:lnTo>
                  <a:pt x="5086350" y="4171950"/>
                </a:lnTo>
                <a:cubicBezTo>
                  <a:pt x="5086350" y="4214034"/>
                  <a:pt x="5052234" y="4248150"/>
                  <a:pt x="5010150" y="4248150"/>
                </a:cubicBezTo>
                <a:lnTo>
                  <a:pt x="76200" y="4248150"/>
                </a:lnTo>
                <a:cubicBezTo>
                  <a:pt x="34116" y="4248150"/>
                  <a:pt x="0" y="4214034"/>
                  <a:pt x="0" y="4171950"/>
                </a:cubicBezTo>
                <a:lnTo>
                  <a:pt x="0" y="76200"/>
                </a:lnTo>
                <a:cubicBezTo>
                  <a:pt x="0" y="34116"/>
                  <a:pt x="34116" y="0"/>
                  <a:pt x="76200" y="0"/>
                </a:cubicBezTo>
                <a:close/>
              </a:path>
            </a:pathLst>
          </a:custGeom>
          <a:solidFill>
            <a:srgbClr val="FBF6FD"/>
          </a:solidFill>
          <a:ln w="11430">
            <a:solidFill>
              <a:srgbClr val="AB47BC"/>
            </a:solidFill>
          </a:ln>
        </p:spPr>
      </p:sp>
      <p:sp>
        <p:nvSpPr>
          <p:cNvPr id="12" name="TextBox 12"/>
          <p:cNvSpPr txBox="1"/>
          <p:nvPr/>
        </p:nvSpPr>
        <p:spPr>
          <a:xfrm>
            <a:off x="2923454" y="1323499"/>
            <a:ext cx="839642" cy="198120"/>
          </a:xfrm>
          <a:prstGeom prst="rect">
            <a:avLst/>
          </a:prstGeom>
          <a:noFill/>
          <a:ln>
            <a:noFill/>
          </a:ln>
        </p:spPr>
        <p:txBody>
          <a:bodyPr wrap="none" lIns="0" tIns="0" rIns="0" bIns="0" anchor="t" anchorCtr="0">
            <a:spAutoFit/>
          </a:bodyPr>
          <a:lstStyle/>
          <a:p>
            <a:pPr algn="ctr"/>
            <a:r>
              <a:rPr lang="zh-CN" sz="975" b="1" dirty="0">
                <a:solidFill>
                  <a:srgbClr val="AB47BC"/>
                </a:solidFill>
                <a:latin typeface="Arial"/>
                <a:ea typeface="Microsoft YaHei"/>
                <a:cs typeface="Arial"/>
              </a:rPr>
              <a:t>Plateforme</a:t>
            </a:r>
          </a:p>
        </p:txBody>
      </p:sp>
      <p:sp>
        <p:nvSpPr>
          <p:cNvPr id="13" name="TextBox 13"/>
          <p:cNvSpPr txBox="1"/>
          <p:nvPr/>
        </p:nvSpPr>
        <p:spPr>
          <a:xfrm>
            <a:off x="2248841" y="1704975"/>
            <a:ext cx="2188869" cy="304800"/>
          </a:xfrm>
          <a:prstGeom prst="rect">
            <a:avLst/>
          </a:prstGeom>
          <a:noFill/>
          <a:ln>
            <a:noFill/>
          </a:ln>
        </p:spPr>
        <p:txBody>
          <a:bodyPr wrap="none" lIns="0" tIns="0" rIns="0" bIns="0" anchor="t" anchorCtr="0">
            <a:spAutoFit/>
          </a:bodyPr>
          <a:lstStyle/>
          <a:p>
            <a:pPr algn="ctr"/>
            <a:r>
              <a:rPr lang="zh-CN" sz="1500" b="1" dirty="0">
                <a:solidFill>
                  <a:srgbClr val="1A2332"/>
                </a:solidFill>
                <a:latin typeface="Arial"/>
                <a:ea typeface="Microsoft YaHei"/>
                <a:cs typeface="Arial"/>
              </a:rPr>
              <a:t>AMD Ryzen 9 8940HX</a:t>
            </a:r>
          </a:p>
        </p:txBody>
      </p:sp>
      <p:sp>
        <p:nvSpPr>
          <p:cNvPr id="14" name="TextBox 14"/>
          <p:cNvSpPr txBox="1"/>
          <p:nvPr/>
        </p:nvSpPr>
        <p:spPr>
          <a:xfrm>
            <a:off x="2497860" y="2047399"/>
            <a:ext cx="1690830"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Zen4 · 16c/32t · AVX-512</a:t>
            </a:r>
          </a:p>
        </p:txBody>
      </p:sp>
      <p:sp>
        <p:nvSpPr>
          <p:cNvPr id="15" name="TextBox 15"/>
          <p:cNvSpPr txBox="1"/>
          <p:nvPr/>
        </p:nvSpPr>
        <p:spPr>
          <a:xfrm>
            <a:off x="2579739" y="2256949"/>
            <a:ext cx="1527072"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GCC 15.2.1 · MPICH 4.3</a:t>
            </a:r>
          </a:p>
        </p:txBody>
      </p:sp>
      <p:sp>
        <p:nvSpPr>
          <p:cNvPr id="16" name="TextBox 16"/>
          <p:cNvSpPr txBox="1"/>
          <p:nvPr/>
        </p:nvSpPr>
        <p:spPr>
          <a:xfrm>
            <a:off x="2896576" y="2466499"/>
            <a:ext cx="893397"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Linux x86-64</a:t>
            </a:r>
          </a:p>
        </p:txBody>
      </p:sp>
      <p:sp>
        <p:nvSpPr>
          <p:cNvPr id="17" name="TextBox 17"/>
          <p:cNvSpPr txBox="1"/>
          <p:nvPr/>
        </p:nvSpPr>
        <p:spPr>
          <a:xfrm>
            <a:off x="1988962" y="2999899"/>
            <a:ext cx="2708625" cy="198120"/>
          </a:xfrm>
          <a:prstGeom prst="rect">
            <a:avLst/>
          </a:prstGeom>
          <a:noFill/>
          <a:ln>
            <a:noFill/>
          </a:ln>
        </p:spPr>
        <p:txBody>
          <a:bodyPr wrap="none" lIns="0" tIns="0" rIns="0" bIns="0" anchor="t" anchorCtr="0">
            <a:spAutoFit/>
          </a:bodyPr>
          <a:lstStyle/>
          <a:p>
            <a:pPr algn="ctr"/>
            <a:r>
              <a:rPr lang="zh-CN" sz="975" b="1" dirty="0">
                <a:solidFill>
                  <a:srgbClr val="AB47BC"/>
                </a:solidFill>
                <a:latin typeface="Arial"/>
                <a:ea typeface="Microsoft YaHei"/>
                <a:cs typeface="Arial"/>
              </a:rPr>
              <a:t>AVX-512 : 8 doubles par registre zmm</a:t>
            </a:r>
          </a:p>
        </p:txBody>
      </p:sp>
      <p:sp>
        <p:nvSpPr>
          <p:cNvPr id="18" name="TextBox 18"/>
          <p:cNvSpPr txBox="1"/>
          <p:nvPr/>
        </p:nvSpPr>
        <p:spPr>
          <a:xfrm>
            <a:off x="2220182" y="3228499"/>
            <a:ext cx="2246186"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Potentiel SIMD maximal pour LBM</a:t>
            </a:r>
          </a:p>
        </p:txBody>
      </p:sp>
      <p:sp>
        <p:nvSpPr>
          <p:cNvPr id="19" name="TextBox 19"/>
          <p:cNvSpPr txBox="1"/>
          <p:nvPr/>
        </p:nvSpPr>
        <p:spPr>
          <a:xfrm>
            <a:off x="2288000" y="3799999"/>
            <a:ext cx="2110551" cy="198120"/>
          </a:xfrm>
          <a:prstGeom prst="rect">
            <a:avLst/>
          </a:prstGeom>
          <a:noFill/>
          <a:ln>
            <a:noFill/>
          </a:ln>
        </p:spPr>
        <p:txBody>
          <a:bodyPr wrap="none" lIns="0" tIns="0" rIns="0" bIns="0" anchor="t" anchorCtr="0">
            <a:spAutoFit/>
          </a:bodyPr>
          <a:lstStyle/>
          <a:p>
            <a:pPr algn="ctr"/>
            <a:r>
              <a:rPr lang="zh-CN" sz="975" b="1" dirty="0">
                <a:solidFill>
                  <a:srgbClr val="E65100"/>
                </a:solidFill>
                <a:latin typeface="Arial"/>
                <a:ea typeface="Microsoft YaHei"/>
                <a:cs typeface="Arial"/>
              </a:rPr>
              <a:t>Précédente : macOS AArch64</a:t>
            </a:r>
          </a:p>
        </p:txBody>
      </p:sp>
      <p:sp>
        <p:nvSpPr>
          <p:cNvPr id="20" name="TextBox 20"/>
          <p:cNvSpPr txBox="1"/>
          <p:nvPr/>
        </p:nvSpPr>
        <p:spPr>
          <a:xfrm>
            <a:off x="2391061" y="4028599"/>
            <a:ext cx="1904429"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Apple M · NEON SIMD · Clang</a:t>
            </a:r>
          </a:p>
        </p:txBody>
      </p:sp>
      <p:sp>
        <p:nvSpPr>
          <p:cNvPr id="21" name="TextBox 21"/>
          <p:cNvSpPr txBox="1"/>
          <p:nvPr/>
        </p:nvSpPr>
        <p:spPr>
          <a:xfrm>
            <a:off x="1981664" y="4428649"/>
            <a:ext cx="2723221" cy="198120"/>
          </a:xfrm>
          <a:prstGeom prst="rect">
            <a:avLst/>
          </a:prstGeom>
          <a:noFill/>
          <a:ln>
            <a:noFill/>
          </a:ln>
        </p:spPr>
        <p:txBody>
          <a:bodyPr wrap="none" lIns="0" tIns="0" rIns="0" bIns="0" anchor="t" anchorCtr="0">
            <a:spAutoFit/>
          </a:bodyPr>
          <a:lstStyle/>
          <a:p>
            <a:pPr algn="ctr"/>
            <a:r>
              <a:rPr lang="zh-CN" sz="975" dirty="0">
                <a:solidFill>
                  <a:srgbClr val="90A4AE"/>
                </a:solidFill>
                <a:latin typeface="Arial"/>
                <a:ea typeface="Microsoft YaHei"/>
                <a:cs typeface="Arial"/>
              </a:rPr>
              <a:t>P1 : opt01–17 validées jusqu'à 194 MLUPS</a:t>
            </a:r>
          </a:p>
        </p:txBody>
      </p:sp>
      <p:sp>
        <p:nvSpPr>
          <p:cNvPr id="22" name="TextBox 22"/>
          <p:cNvSpPr txBox="1"/>
          <p:nvPr/>
        </p:nvSpPr>
        <p:spPr>
          <a:xfrm>
            <a:off x="1867745" y="4638199"/>
            <a:ext cx="2951059" cy="198120"/>
          </a:xfrm>
          <a:prstGeom prst="rect">
            <a:avLst/>
          </a:prstGeom>
          <a:noFill/>
          <a:ln>
            <a:noFill/>
          </a:ln>
        </p:spPr>
        <p:txBody>
          <a:bodyPr wrap="none" lIns="0" tIns="0" rIns="0" bIns="0" anchor="t" anchorCtr="0">
            <a:spAutoFit/>
          </a:bodyPr>
          <a:lstStyle/>
          <a:p>
            <a:pPr algn="ctr"/>
            <a:r>
              <a:rPr lang="zh-CN" sz="975" dirty="0">
                <a:solidFill>
                  <a:srgbClr val="90A4AE"/>
                </a:solidFill>
                <a:latin typeface="Arial"/>
                <a:ea typeface="Microsoft YaHei"/>
                <a:cs typeface="Arial"/>
              </a:rPr>
              <a:t>Plateformes non comparables directement</a:t>
            </a:r>
          </a:p>
        </p:txBody>
      </p:sp>
      <p:sp>
        <p:nvSpPr>
          <p:cNvPr id="23" name="TextBox 23"/>
          <p:cNvSpPr txBox="1"/>
          <p:nvPr/>
        </p:nvSpPr>
        <p:spPr>
          <a:xfrm>
            <a:off x="1924705" y="4847749"/>
            <a:ext cx="2837140" cy="198120"/>
          </a:xfrm>
          <a:prstGeom prst="rect">
            <a:avLst/>
          </a:prstGeom>
          <a:noFill/>
          <a:ln>
            <a:noFill/>
          </a:ln>
        </p:spPr>
        <p:txBody>
          <a:bodyPr wrap="none" lIns="0" tIns="0" rIns="0" bIns="0" anchor="t" anchorCtr="0">
            <a:spAutoFit/>
          </a:bodyPr>
          <a:lstStyle/>
          <a:p>
            <a:pPr algn="ctr"/>
            <a:r>
              <a:rPr lang="zh-CN" sz="975" dirty="0">
                <a:solidFill>
                  <a:srgbClr val="90A4AE"/>
                </a:solidFill>
                <a:latin typeface="Arial"/>
                <a:ea typeface="Microsoft YaHei"/>
                <a:cs typeface="Arial"/>
              </a:rPr>
              <a:t>Gain global indicatif, non iso-plateforme</a:t>
            </a:r>
          </a:p>
        </p:txBody>
      </p:sp>
      <p:sp>
        <p:nvSpPr>
          <p:cNvPr id="24" name="Freeform 24"/>
          <p:cNvSpPr/>
          <p:nvPr/>
        </p:nvSpPr>
        <p:spPr>
          <a:xfrm>
            <a:off x="6324600" y="1123950"/>
            <a:ext cx="5067300" cy="4248150"/>
          </a:xfrm>
          <a:custGeom>
            <a:avLst/>
            <a:gdLst/>
            <a:ahLst/>
            <a:cxnLst/>
            <a:rect l="l" t="t" r="r" b="b"/>
            <a:pathLst>
              <a:path w="5067300" h="4248150">
                <a:moveTo>
                  <a:pt x="76200" y="0"/>
                </a:moveTo>
                <a:lnTo>
                  <a:pt x="4991100" y="0"/>
                </a:lnTo>
                <a:cubicBezTo>
                  <a:pt x="5033184" y="0"/>
                  <a:pt x="5067300" y="34116"/>
                  <a:pt x="5067300" y="76200"/>
                </a:cubicBezTo>
                <a:lnTo>
                  <a:pt x="5067300" y="4171950"/>
                </a:lnTo>
                <a:cubicBezTo>
                  <a:pt x="5067300" y="4214034"/>
                  <a:pt x="5033184" y="4248150"/>
                  <a:pt x="4991100" y="4248150"/>
                </a:cubicBezTo>
                <a:lnTo>
                  <a:pt x="76200" y="4248150"/>
                </a:lnTo>
                <a:cubicBezTo>
                  <a:pt x="34116" y="4248150"/>
                  <a:pt x="0" y="4214034"/>
                  <a:pt x="0" y="4171950"/>
                </a:cubicBezTo>
                <a:lnTo>
                  <a:pt x="0" y="76200"/>
                </a:lnTo>
                <a:cubicBezTo>
                  <a:pt x="0" y="34116"/>
                  <a:pt x="34116" y="0"/>
                  <a:pt x="76200" y="0"/>
                </a:cubicBezTo>
                <a:close/>
              </a:path>
            </a:pathLst>
          </a:custGeom>
          <a:solidFill>
            <a:srgbClr val="F5FBF6"/>
          </a:solidFill>
          <a:ln w="11430">
            <a:solidFill>
              <a:srgbClr val="43A047"/>
            </a:solidFill>
          </a:ln>
        </p:spPr>
      </p:sp>
      <p:sp>
        <p:nvSpPr>
          <p:cNvPr id="25" name="TextBox 25"/>
          <p:cNvSpPr txBox="1"/>
          <p:nvPr/>
        </p:nvSpPr>
        <p:spPr>
          <a:xfrm>
            <a:off x="8262745" y="1323499"/>
            <a:ext cx="1191011" cy="198120"/>
          </a:xfrm>
          <a:prstGeom prst="rect">
            <a:avLst/>
          </a:prstGeom>
          <a:noFill/>
          <a:ln>
            <a:noFill/>
          </a:ln>
        </p:spPr>
        <p:txBody>
          <a:bodyPr wrap="none" lIns="0" tIns="0" rIns="0" bIns="0" anchor="t" anchorCtr="0">
            <a:spAutoFit/>
          </a:bodyPr>
          <a:lstStyle/>
          <a:p>
            <a:pPr algn="ctr"/>
            <a:r>
              <a:rPr lang="zh-CN" sz="975" b="1" dirty="0">
                <a:solidFill>
                  <a:srgbClr val="43A047"/>
                </a:solidFill>
                <a:latin typeface="Arial"/>
                <a:ea typeface="Microsoft YaHei"/>
                <a:cs typeface="Arial"/>
              </a:rPr>
              <a:t>Protocole unifié</a:t>
            </a:r>
          </a:p>
        </p:txBody>
      </p:sp>
      <p:sp>
        <p:nvSpPr>
          <p:cNvPr id="26" name="TextBox 26"/>
          <p:cNvSpPr txBox="1"/>
          <p:nvPr/>
        </p:nvSpPr>
        <p:spPr>
          <a:xfrm>
            <a:off x="6655118" y="1856899"/>
            <a:ext cx="2694742" cy="198120"/>
          </a:xfrm>
          <a:prstGeom prst="rect">
            <a:avLst/>
          </a:prstGeom>
          <a:noFill/>
          <a:ln>
            <a:noFill/>
          </a:ln>
        </p:spPr>
        <p:txBody>
          <a:bodyPr wrap="none" lIns="0" tIns="0" rIns="0" bIns="0" anchor="t" anchorCtr="0">
            <a:spAutoFit/>
          </a:bodyPr>
          <a:lstStyle/>
          <a:p>
            <a:pPr algn="l"/>
            <a:r>
              <a:rPr lang="zh-CN" sz="975" dirty="0">
                <a:solidFill>
                  <a:srgbClr val="546E7A"/>
                </a:solidFill>
                <a:latin typeface="Arial"/>
                <a:ea typeface="Microsoft YaHei"/>
                <a:cs typeface="Arial"/>
              </a:rPr>
              <a:t>✓ 1 warm-up + 20 répétitions · médiane</a:t>
            </a:r>
          </a:p>
        </p:txBody>
      </p:sp>
      <p:sp>
        <p:nvSpPr>
          <p:cNvPr id="27" name="TextBox 27"/>
          <p:cNvSpPr txBox="1"/>
          <p:nvPr/>
        </p:nvSpPr>
        <p:spPr>
          <a:xfrm>
            <a:off x="6655118" y="2123599"/>
            <a:ext cx="2466904" cy="198120"/>
          </a:xfrm>
          <a:prstGeom prst="rect">
            <a:avLst/>
          </a:prstGeom>
          <a:noFill/>
          <a:ln>
            <a:noFill/>
          </a:ln>
        </p:spPr>
        <p:txBody>
          <a:bodyPr wrap="none" lIns="0" tIns="0" rIns="0" bIns="0" anchor="t" anchorCtr="0">
            <a:spAutoFit/>
          </a:bodyPr>
          <a:lstStyle/>
          <a:p>
            <a:pPr algn="l"/>
            <a:r>
              <a:rPr lang="zh-CN" sz="975" dirty="0">
                <a:solidFill>
                  <a:srgbClr val="546E7A"/>
                </a:solidFill>
                <a:latin typeface="Arial"/>
                <a:ea typeface="Microsoft YaHei"/>
                <a:cs typeface="Arial"/>
              </a:rPr>
              <a:t>✓ CPU fréq. verrouillée (cpupower)</a:t>
            </a:r>
          </a:p>
        </p:txBody>
      </p:sp>
      <p:sp>
        <p:nvSpPr>
          <p:cNvPr id="28" name="TextBox 28"/>
          <p:cNvSpPr txBox="1"/>
          <p:nvPr/>
        </p:nvSpPr>
        <p:spPr>
          <a:xfrm>
            <a:off x="6655118" y="2390299"/>
            <a:ext cx="2495383" cy="198120"/>
          </a:xfrm>
          <a:prstGeom prst="rect">
            <a:avLst/>
          </a:prstGeom>
          <a:noFill/>
          <a:ln>
            <a:noFill/>
          </a:ln>
        </p:spPr>
        <p:txBody>
          <a:bodyPr wrap="none" lIns="0" tIns="0" rIns="0" bIns="0" anchor="t" anchorCtr="0">
            <a:spAutoFit/>
          </a:bodyPr>
          <a:lstStyle/>
          <a:p>
            <a:pPr algn="l"/>
            <a:r>
              <a:rPr lang="zh-CN" sz="975" dirty="0">
                <a:solidFill>
                  <a:srgbClr val="546E7A"/>
                </a:solidFill>
                <a:latin typeface="Arial"/>
                <a:ea typeface="Microsoft YaHei"/>
                <a:cs typeface="Arial"/>
              </a:rPr>
              <a:t>✓ drop_caches avant chaque mesure</a:t>
            </a:r>
          </a:p>
        </p:txBody>
      </p:sp>
      <p:sp>
        <p:nvSpPr>
          <p:cNvPr id="29" name="TextBox 29"/>
          <p:cNvSpPr txBox="1"/>
          <p:nvPr/>
        </p:nvSpPr>
        <p:spPr>
          <a:xfrm>
            <a:off x="6655118" y="2656999"/>
            <a:ext cx="1149715" cy="198120"/>
          </a:xfrm>
          <a:prstGeom prst="rect">
            <a:avLst/>
          </a:prstGeom>
          <a:noFill/>
          <a:ln>
            <a:noFill/>
          </a:ln>
        </p:spPr>
        <p:txBody>
          <a:bodyPr wrap="none" lIns="0" tIns="0" rIns="0" bIns="0" anchor="t" anchorCtr="0">
            <a:spAutoFit/>
          </a:bodyPr>
          <a:lstStyle/>
          <a:p>
            <a:pPr algn="l"/>
            <a:r>
              <a:rPr lang="zh-CN" sz="975" dirty="0">
                <a:solidFill>
                  <a:srgbClr val="546E7A"/>
                </a:solidFill>
                <a:latin typeface="Arial"/>
                <a:ea typeface="Microsoft YaHei"/>
                <a:cs typeface="Arial"/>
              </a:rPr>
              <a:t>✓ PROFILING=OFF</a:t>
            </a:r>
          </a:p>
        </p:txBody>
      </p:sp>
      <p:sp>
        <p:nvSpPr>
          <p:cNvPr id="30" name="TextBox 30"/>
          <p:cNvSpPr txBox="1"/>
          <p:nvPr/>
        </p:nvSpPr>
        <p:spPr>
          <a:xfrm>
            <a:off x="6655118" y="2923699"/>
            <a:ext cx="2652022" cy="198120"/>
          </a:xfrm>
          <a:prstGeom prst="rect">
            <a:avLst/>
          </a:prstGeom>
          <a:noFill/>
          <a:ln>
            <a:noFill/>
          </a:ln>
        </p:spPr>
        <p:txBody>
          <a:bodyPr wrap="none" lIns="0" tIns="0" rIns="0" bIns="0" anchor="t" anchorCtr="0">
            <a:spAutoFit/>
          </a:bodyPr>
          <a:lstStyle/>
          <a:p>
            <a:pPr algn="l"/>
            <a:r>
              <a:rPr lang="zh-CN" sz="975" dirty="0">
                <a:solidFill>
                  <a:srgbClr val="546E7A"/>
                </a:solidFill>
                <a:latin typeface="Arial"/>
                <a:ea typeface="Microsoft YaHei"/>
                <a:cs typeface="Arial"/>
              </a:rPr>
              <a:t>✓ Répétitions médianes (non moyenne)</a:t>
            </a:r>
          </a:p>
        </p:txBody>
      </p:sp>
      <p:sp>
        <p:nvSpPr>
          <p:cNvPr id="31" name="Freeform 31"/>
          <p:cNvSpPr/>
          <p:nvPr/>
        </p:nvSpPr>
        <p:spPr>
          <a:xfrm>
            <a:off x="7086600" y="4057650"/>
            <a:ext cx="3524250" cy="457200"/>
          </a:xfrm>
          <a:custGeom>
            <a:avLst/>
            <a:gdLst/>
            <a:ahLst/>
            <a:cxnLst/>
            <a:rect l="l" t="t" r="r" b="b"/>
            <a:pathLst>
              <a:path w="3524250" h="457200">
                <a:moveTo>
                  <a:pt x="57150" y="0"/>
                </a:moveTo>
                <a:lnTo>
                  <a:pt x="3467100" y="0"/>
                </a:lnTo>
                <a:cubicBezTo>
                  <a:pt x="3498663" y="0"/>
                  <a:pt x="3524250" y="25587"/>
                  <a:pt x="3524250" y="57150"/>
                </a:cubicBezTo>
                <a:lnTo>
                  <a:pt x="3524250" y="400050"/>
                </a:lnTo>
                <a:cubicBezTo>
                  <a:pt x="3524250" y="431613"/>
                  <a:pt x="3498663" y="457200"/>
                  <a:pt x="3467100" y="457200"/>
                </a:cubicBezTo>
                <a:lnTo>
                  <a:pt x="57150" y="457200"/>
                </a:lnTo>
                <a:cubicBezTo>
                  <a:pt x="25587" y="457200"/>
                  <a:pt x="0" y="431613"/>
                  <a:pt x="0" y="400050"/>
                </a:cubicBezTo>
                <a:lnTo>
                  <a:pt x="0" y="57150"/>
                </a:lnTo>
                <a:cubicBezTo>
                  <a:pt x="0" y="25587"/>
                  <a:pt x="25587" y="0"/>
                  <a:pt x="57150" y="0"/>
                </a:cubicBezTo>
                <a:close/>
              </a:path>
            </a:pathLst>
          </a:custGeom>
          <a:solidFill>
            <a:srgbClr val="2E7D32"/>
          </a:solidFill>
          <a:ln>
            <a:noFill/>
          </a:ln>
        </p:spPr>
      </p:sp>
      <p:sp>
        <p:nvSpPr>
          <p:cNvPr id="32" name="TextBox 32"/>
          <p:cNvSpPr txBox="1"/>
          <p:nvPr/>
        </p:nvSpPr>
        <p:spPr>
          <a:xfrm>
            <a:off x="7782236" y="4142899"/>
            <a:ext cx="2132978"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Référence P2 dev : 216 MLUPS</a:t>
            </a:r>
          </a:p>
        </p:txBody>
      </p:sp>
      <p:sp>
        <p:nvSpPr>
          <p:cNvPr id="33" name="TextBox 33"/>
          <p:cNvSpPr txBox="1"/>
          <p:nvPr/>
        </p:nvSpPr>
        <p:spPr>
          <a:xfrm>
            <a:off x="7992630" y="4333399"/>
            <a:ext cx="1712190" cy="198120"/>
          </a:xfrm>
          <a:prstGeom prst="rect">
            <a:avLst/>
          </a:prstGeom>
          <a:noFill/>
          <a:ln>
            <a:noFill/>
          </a:ln>
        </p:spPr>
        <p:txBody>
          <a:bodyPr wrap="none" lIns="0" tIns="0" rIns="0" bIns="0" anchor="t" anchorCtr="0">
            <a:spAutoFit/>
          </a:bodyPr>
          <a:lstStyle/>
          <a:p>
            <a:pPr algn="ctr"/>
            <a:r>
              <a:rPr lang="zh-CN" sz="975" dirty="0">
                <a:solidFill>
                  <a:srgbClr val="E8F5E9"/>
                </a:solidFill>
                <a:latin typeface="Arial"/>
                <a:ea typeface="Microsoft YaHei"/>
                <a:cs typeface="Arial"/>
              </a:rPr>
              <a:t>valeur de développement</a:t>
            </a:r>
          </a:p>
        </p:txBody>
      </p:sp>
      <p:sp>
        <p:nvSpPr>
          <p:cNvPr id="34" name="TextBox 34"/>
          <p:cNvSpPr txBox="1"/>
          <p:nvPr/>
        </p:nvSpPr>
        <p:spPr>
          <a:xfrm>
            <a:off x="8394906" y="4866799"/>
            <a:ext cx="907637"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np=2, OMP=4</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6200"/>
          </a:xfrm>
          <a:prstGeom prst="rect">
            <a:avLst/>
          </a:prstGeom>
          <a:solidFill>
            <a:srgbClr val="1565C0"/>
          </a:solidFill>
          <a:ln>
            <a:noFill/>
          </a:ln>
        </p:spPr>
      </p:sp>
      <p:sp>
        <p:nvSpPr>
          <p:cNvPr id="4" name="Rectangle 4"/>
          <p:cNvSpPr/>
          <p:nvPr/>
        </p:nvSpPr>
        <p:spPr>
          <a:xfrm>
            <a:off x="0" y="76200"/>
            <a:ext cx="12192000" cy="685800"/>
          </a:xfrm>
          <a:prstGeom prst="rect">
            <a:avLst/>
          </a:prstGeom>
          <a:solidFill>
            <a:srgbClr val="F4F7FA"/>
          </a:solidFill>
          <a:ln>
            <a:noFill/>
          </a:ln>
        </p:spPr>
      </p:sp>
      <p:sp>
        <p:nvSpPr>
          <p:cNvPr id="5" name="Line 5"/>
          <p:cNvSpPr/>
          <p:nvPr/>
        </p:nvSpPr>
        <p:spPr>
          <a:xfrm>
            <a:off x="0" y="762000"/>
            <a:ext cx="12192000" cy="9525"/>
          </a:xfrm>
          <a:custGeom>
            <a:avLst/>
            <a:gdLst/>
            <a:ahLst/>
            <a:cxnLst/>
            <a:rect l="l" t="t" r="r" b="b"/>
            <a:pathLst>
              <a:path w="12192000" h="9525">
                <a:moveTo>
                  <a:pt x="0" y="0"/>
                </a:moveTo>
                <a:lnTo>
                  <a:pt x="12192000" y="0"/>
                </a:lnTo>
              </a:path>
            </a:pathLst>
          </a:custGeom>
          <a:noFill/>
          <a:ln w="9525">
            <a:solidFill>
              <a:srgbClr val="CFD8DC"/>
            </a:solidFill>
          </a:ln>
        </p:spPr>
      </p:sp>
      <p:sp>
        <p:nvSpPr>
          <p:cNvPr id="6" name="Freeform 6"/>
          <p:cNvSpPr/>
          <p:nvPr/>
        </p:nvSpPr>
        <p:spPr>
          <a:xfrm>
            <a:off x="609600" y="228600"/>
            <a:ext cx="47625" cy="304800"/>
          </a:xfrm>
          <a:custGeom>
            <a:avLst/>
            <a:gdLst/>
            <a:ahLst/>
            <a:cxnLst/>
            <a:rect l="l" t="t" r="r" b="b"/>
            <a:pathLst>
              <a:path w="47625" h="304800">
                <a:moveTo>
                  <a:pt x="19050" y="0"/>
                </a:moveTo>
                <a:lnTo>
                  <a:pt x="28575" y="0"/>
                </a:lnTo>
                <a:cubicBezTo>
                  <a:pt x="39096" y="0"/>
                  <a:pt x="47625" y="8529"/>
                  <a:pt x="47625" y="19050"/>
                </a:cubicBezTo>
                <a:lnTo>
                  <a:pt x="47625" y="285750"/>
                </a:lnTo>
                <a:cubicBezTo>
                  <a:pt x="47625" y="296271"/>
                  <a:pt x="39096" y="304800"/>
                  <a:pt x="28575" y="304800"/>
                </a:cubicBezTo>
                <a:lnTo>
                  <a:pt x="19050" y="304800"/>
                </a:lnTo>
                <a:cubicBezTo>
                  <a:pt x="8529" y="304800"/>
                  <a:pt x="0" y="296271"/>
                  <a:pt x="0" y="285750"/>
                </a:cubicBezTo>
                <a:lnTo>
                  <a:pt x="0" y="19050"/>
                </a:lnTo>
                <a:cubicBezTo>
                  <a:pt x="0" y="8529"/>
                  <a:pt x="8529" y="0"/>
                  <a:pt x="19050" y="0"/>
                </a:cubicBezTo>
                <a:close/>
              </a:path>
            </a:pathLst>
          </a:custGeom>
          <a:solidFill>
            <a:srgbClr val="2E7D32"/>
          </a:solidFill>
          <a:ln>
            <a:noFill/>
          </a:ln>
        </p:spPr>
      </p:sp>
      <p:sp>
        <p:nvSpPr>
          <p:cNvPr id="7" name="TextBox 7"/>
          <p:cNvSpPr txBox="1"/>
          <p:nvPr/>
        </p:nvSpPr>
        <p:spPr>
          <a:xfrm>
            <a:off x="741045" y="183832"/>
            <a:ext cx="4330796" cy="335280"/>
          </a:xfrm>
          <a:prstGeom prst="rect">
            <a:avLst/>
          </a:prstGeom>
          <a:noFill/>
          <a:ln>
            <a:noFill/>
          </a:ln>
        </p:spPr>
        <p:txBody>
          <a:bodyPr wrap="none" lIns="0" tIns="0" rIns="0" bIns="0" anchor="t" anchorCtr="0">
            <a:spAutoFit/>
          </a:bodyPr>
          <a:lstStyle/>
          <a:p>
            <a:pPr algn="l"/>
            <a:r>
              <a:rPr lang="zh-CN" sz="1650" b="1" dirty="0">
                <a:solidFill>
                  <a:srgbClr val="2E7D32"/>
                </a:solidFill>
                <a:latin typeface="Arial"/>
                <a:ea typeface="Microsoft YaHei"/>
                <a:cs typeface="Arial"/>
              </a:rPr>
              <a:t>P2-A · AoS → SoA : préparer le SIMD</a:t>
            </a:r>
          </a:p>
        </p:txBody>
      </p:sp>
      <p:sp>
        <p:nvSpPr>
          <p:cNvPr id="8" name="TextBox 8"/>
          <p:cNvSpPr txBox="1"/>
          <p:nvPr/>
        </p:nvSpPr>
        <p:spPr>
          <a:xfrm>
            <a:off x="747712" y="469106"/>
            <a:ext cx="3183255"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Arial"/>
                <a:ea typeface="Microsoft YaHei"/>
                <a:cs typeface="Arial"/>
              </a:rPr>
              <a:t>opt18–19 · Refactorisation structurelle</a:t>
            </a:r>
          </a:p>
        </p:txBody>
      </p:sp>
      <p:sp>
        <p:nvSpPr>
          <p:cNvPr id="9" name="Freeform 9"/>
          <p:cNvSpPr/>
          <p:nvPr/>
        </p:nvSpPr>
        <p:spPr>
          <a:xfrm>
            <a:off x="11144250" y="228600"/>
            <a:ext cx="438150" cy="171450"/>
          </a:xfrm>
          <a:custGeom>
            <a:avLst/>
            <a:gdLst/>
            <a:ahLst/>
            <a:cxnLst/>
            <a:rect l="l" t="t" r="r" b="b"/>
            <a:pathLst>
              <a:path w="438150" h="171450">
                <a:moveTo>
                  <a:pt x="38100" y="0"/>
                </a:moveTo>
                <a:lnTo>
                  <a:pt x="400050" y="0"/>
                </a:lnTo>
                <a:cubicBezTo>
                  <a:pt x="421092" y="0"/>
                  <a:pt x="438150" y="17058"/>
                  <a:pt x="438150" y="38100"/>
                </a:cubicBezTo>
                <a:lnTo>
                  <a:pt x="438150" y="133350"/>
                </a:lnTo>
                <a:cubicBezTo>
                  <a:pt x="438150" y="154392"/>
                  <a:pt x="421092" y="171450"/>
                  <a:pt x="400050" y="171450"/>
                </a:cubicBezTo>
                <a:lnTo>
                  <a:pt x="38100" y="171450"/>
                </a:lnTo>
                <a:cubicBezTo>
                  <a:pt x="17058" y="171450"/>
                  <a:pt x="0" y="154392"/>
                  <a:pt x="0" y="133350"/>
                </a:cubicBezTo>
                <a:lnTo>
                  <a:pt x="0" y="38100"/>
                </a:lnTo>
                <a:cubicBezTo>
                  <a:pt x="0" y="17058"/>
                  <a:pt x="17058" y="0"/>
                  <a:pt x="38100" y="0"/>
                </a:cubicBezTo>
                <a:close/>
              </a:path>
            </a:pathLst>
          </a:custGeom>
          <a:solidFill>
            <a:srgbClr val="2E7D32"/>
          </a:solidFill>
          <a:ln>
            <a:noFill/>
          </a:ln>
        </p:spPr>
      </p:sp>
      <p:sp>
        <p:nvSpPr>
          <p:cNvPr id="10" name="TextBox 10"/>
          <p:cNvSpPr txBox="1"/>
          <p:nvPr/>
        </p:nvSpPr>
        <p:spPr>
          <a:xfrm>
            <a:off x="11283264" y="263366"/>
            <a:ext cx="160122"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P2</a:t>
            </a:r>
          </a:p>
        </p:txBody>
      </p:sp>
      <p:sp>
        <p:nvSpPr>
          <p:cNvPr id="11" name="TextBox 11"/>
          <p:cNvSpPr txBox="1"/>
          <p:nvPr/>
        </p:nvSpPr>
        <p:spPr>
          <a:xfrm>
            <a:off x="11206901" y="351949"/>
            <a:ext cx="387882" cy="198120"/>
          </a:xfrm>
          <a:prstGeom prst="rect">
            <a:avLst/>
          </a:prstGeom>
          <a:noFill/>
          <a:ln>
            <a:noFill/>
          </a:ln>
        </p:spPr>
        <p:txBody>
          <a:bodyPr wrap="none" lIns="0" tIns="0" rIns="0" bIns="0" anchor="t" anchorCtr="0">
            <a:spAutoFit/>
          </a:bodyPr>
          <a:lstStyle/>
          <a:p>
            <a:pPr algn="r"/>
            <a:r>
              <a:rPr lang="zh-CN" sz="975" dirty="0">
                <a:solidFill>
                  <a:srgbClr val="90A4AE"/>
                </a:solidFill>
                <a:latin typeface="Arial"/>
                <a:ea typeface="Microsoft YaHei"/>
                <a:cs typeface="Arial"/>
              </a:rPr>
              <a:t>9 / 13</a:t>
            </a:r>
          </a:p>
        </p:txBody>
      </p:sp>
      <p:sp>
        <p:nvSpPr>
          <p:cNvPr id="12" name="Freeform 12"/>
          <p:cNvSpPr/>
          <p:nvPr/>
        </p:nvSpPr>
        <p:spPr>
          <a:xfrm>
            <a:off x="819150" y="1200150"/>
            <a:ext cx="4762500" cy="3657600"/>
          </a:xfrm>
          <a:custGeom>
            <a:avLst/>
            <a:gdLst/>
            <a:ahLst/>
            <a:cxnLst/>
            <a:rect l="l" t="t" r="r" b="b"/>
            <a:pathLst>
              <a:path w="4762500" h="3657600">
                <a:moveTo>
                  <a:pt x="76200" y="0"/>
                </a:moveTo>
                <a:lnTo>
                  <a:pt x="4686300" y="0"/>
                </a:lnTo>
                <a:cubicBezTo>
                  <a:pt x="4728384" y="0"/>
                  <a:pt x="4762500" y="34116"/>
                  <a:pt x="4762500" y="76200"/>
                </a:cubicBezTo>
                <a:lnTo>
                  <a:pt x="4762500" y="3581400"/>
                </a:lnTo>
                <a:cubicBezTo>
                  <a:pt x="4762500" y="3623484"/>
                  <a:pt x="4728384" y="3657600"/>
                  <a:pt x="4686300" y="3657600"/>
                </a:cubicBezTo>
                <a:lnTo>
                  <a:pt x="76200" y="3657600"/>
                </a:lnTo>
                <a:cubicBezTo>
                  <a:pt x="34116" y="3657600"/>
                  <a:pt x="0" y="3623484"/>
                  <a:pt x="0" y="3581400"/>
                </a:cubicBezTo>
                <a:lnTo>
                  <a:pt x="0" y="76200"/>
                </a:lnTo>
                <a:cubicBezTo>
                  <a:pt x="0" y="34116"/>
                  <a:pt x="34116" y="0"/>
                  <a:pt x="76200" y="0"/>
                </a:cubicBezTo>
                <a:close/>
              </a:path>
            </a:pathLst>
          </a:custGeom>
          <a:solidFill>
            <a:srgbClr val="FFF8F7"/>
          </a:solidFill>
          <a:ln w="11430">
            <a:solidFill>
              <a:srgbClr val="EF5350"/>
            </a:solidFill>
          </a:ln>
        </p:spPr>
      </p:sp>
      <p:sp>
        <p:nvSpPr>
          <p:cNvPr id="13" name="TextBox 13"/>
          <p:cNvSpPr txBox="1"/>
          <p:nvPr/>
        </p:nvSpPr>
        <p:spPr>
          <a:xfrm>
            <a:off x="2160562" y="1372552"/>
            <a:ext cx="2079677" cy="213360"/>
          </a:xfrm>
          <a:prstGeom prst="rect">
            <a:avLst/>
          </a:prstGeom>
          <a:noFill/>
          <a:ln>
            <a:noFill/>
          </a:ln>
        </p:spPr>
        <p:txBody>
          <a:bodyPr wrap="none" lIns="0" tIns="0" rIns="0" bIns="0" anchor="t" anchorCtr="0">
            <a:spAutoFit/>
          </a:bodyPr>
          <a:lstStyle/>
          <a:p>
            <a:pPr algn="ctr"/>
            <a:r>
              <a:rPr lang="zh-CN" sz="1050" b="1" dirty="0">
                <a:solidFill>
                  <a:srgbClr val="EF5350"/>
                </a:solidFill>
                <a:latin typeface="Arial"/>
                <a:ea typeface="Microsoft YaHei"/>
                <a:cs typeface="Arial"/>
              </a:rPr>
              <a:t>AoS — Array of Structures</a:t>
            </a:r>
          </a:p>
        </p:txBody>
      </p:sp>
      <p:sp>
        <p:nvSpPr>
          <p:cNvPr id="14" name="Freeform 14"/>
          <p:cNvSpPr/>
          <p:nvPr/>
        </p:nvSpPr>
        <p:spPr>
          <a:xfrm>
            <a:off x="1123950" y="1828800"/>
            <a:ext cx="4152900" cy="323850"/>
          </a:xfrm>
          <a:custGeom>
            <a:avLst/>
            <a:gdLst/>
            <a:ahLst/>
            <a:cxnLst/>
            <a:rect l="l" t="t" r="r" b="b"/>
            <a:pathLst>
              <a:path w="4152900" h="323850">
                <a:moveTo>
                  <a:pt x="38100" y="0"/>
                </a:moveTo>
                <a:lnTo>
                  <a:pt x="4114800" y="0"/>
                </a:lnTo>
                <a:cubicBezTo>
                  <a:pt x="4135842" y="0"/>
                  <a:pt x="4152900" y="17058"/>
                  <a:pt x="4152900" y="38100"/>
                </a:cubicBezTo>
                <a:lnTo>
                  <a:pt x="4152900" y="285750"/>
                </a:lnTo>
                <a:cubicBezTo>
                  <a:pt x="4152900" y="306792"/>
                  <a:pt x="4135842" y="323850"/>
                  <a:pt x="4114800" y="323850"/>
                </a:cubicBezTo>
                <a:lnTo>
                  <a:pt x="38100" y="323850"/>
                </a:lnTo>
                <a:cubicBezTo>
                  <a:pt x="17058" y="323850"/>
                  <a:pt x="0" y="306792"/>
                  <a:pt x="0" y="285750"/>
                </a:cubicBezTo>
                <a:lnTo>
                  <a:pt x="0" y="38100"/>
                </a:lnTo>
                <a:cubicBezTo>
                  <a:pt x="0" y="17058"/>
                  <a:pt x="17058" y="0"/>
                  <a:pt x="38100" y="0"/>
                </a:cubicBezTo>
                <a:close/>
              </a:path>
            </a:pathLst>
          </a:custGeom>
          <a:solidFill>
            <a:srgbClr val="1E2E3D"/>
          </a:solidFill>
          <a:ln>
            <a:noFill/>
          </a:ln>
        </p:spPr>
      </p:sp>
      <p:sp>
        <p:nvSpPr>
          <p:cNvPr id="15" name="TextBox 15"/>
          <p:cNvSpPr txBox="1"/>
          <p:nvPr/>
        </p:nvSpPr>
        <p:spPr>
          <a:xfrm>
            <a:off x="2671822" y="1933099"/>
            <a:ext cx="1057156"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Consolas"/>
                <a:ea typeface="Microsoft YaHei"/>
                <a:cs typeface="Consolas"/>
              </a:rPr>
              <a:t>cell[i][j].f[k]</a:t>
            </a:r>
          </a:p>
        </p:txBody>
      </p:sp>
      <p:sp>
        <p:nvSpPr>
          <p:cNvPr id="16" name="TextBox 16"/>
          <p:cNvSpPr txBox="1"/>
          <p:nvPr/>
        </p:nvSpPr>
        <p:spPr>
          <a:xfrm>
            <a:off x="1230035" y="2371249"/>
            <a:ext cx="3940731"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Consolas"/>
                <a:ea typeface="Microsoft YaHei"/>
                <a:cs typeface="Consolas"/>
              </a:rPr>
              <a:t>stride 72 oct pour le même k entre deux cellules voisines</a:t>
            </a:r>
          </a:p>
        </p:txBody>
      </p:sp>
      <p:sp>
        <p:nvSpPr>
          <p:cNvPr id="17" name="Freeform 17"/>
          <p:cNvSpPr/>
          <p:nvPr/>
        </p:nvSpPr>
        <p:spPr>
          <a:xfrm>
            <a:off x="1238250" y="2781300"/>
            <a:ext cx="685800" cy="190500"/>
          </a:xfrm>
          <a:custGeom>
            <a:avLst/>
            <a:gdLst/>
            <a:ahLst/>
            <a:cxnLst/>
            <a:rect l="l" t="t" r="r" b="b"/>
            <a:pathLst>
              <a:path w="685800" h="190500">
                <a:moveTo>
                  <a:pt x="28575" y="0"/>
                </a:moveTo>
                <a:lnTo>
                  <a:pt x="657225" y="0"/>
                </a:lnTo>
                <a:cubicBezTo>
                  <a:pt x="673007" y="0"/>
                  <a:pt x="685800" y="12793"/>
                  <a:pt x="685800" y="28575"/>
                </a:cubicBezTo>
                <a:lnTo>
                  <a:pt x="685800" y="161925"/>
                </a:lnTo>
                <a:cubicBezTo>
                  <a:pt x="685800" y="177707"/>
                  <a:pt x="673007" y="190500"/>
                  <a:pt x="657225" y="190500"/>
                </a:cubicBezTo>
                <a:lnTo>
                  <a:pt x="28575" y="190500"/>
                </a:lnTo>
                <a:cubicBezTo>
                  <a:pt x="12793" y="190500"/>
                  <a:pt x="0" y="177707"/>
                  <a:pt x="0" y="161925"/>
                </a:cubicBezTo>
                <a:lnTo>
                  <a:pt x="0" y="28575"/>
                </a:lnTo>
                <a:cubicBezTo>
                  <a:pt x="0" y="12793"/>
                  <a:pt x="12793" y="0"/>
                  <a:pt x="28575" y="0"/>
                </a:cubicBezTo>
                <a:close/>
              </a:path>
            </a:pathLst>
          </a:custGeom>
          <a:solidFill>
            <a:srgbClr val="FF8A65"/>
          </a:solidFill>
          <a:ln>
            <a:noFill/>
          </a:ln>
        </p:spPr>
      </p:sp>
      <p:sp>
        <p:nvSpPr>
          <p:cNvPr id="18" name="Freeform 18"/>
          <p:cNvSpPr/>
          <p:nvPr/>
        </p:nvSpPr>
        <p:spPr>
          <a:xfrm>
            <a:off x="2019300" y="2781300"/>
            <a:ext cx="1143000" cy="190500"/>
          </a:xfrm>
          <a:custGeom>
            <a:avLst/>
            <a:gdLst/>
            <a:ahLst/>
            <a:cxnLst/>
            <a:rect l="l" t="t" r="r" b="b"/>
            <a:pathLst>
              <a:path w="1143000" h="190500">
                <a:moveTo>
                  <a:pt x="28575" y="0"/>
                </a:moveTo>
                <a:lnTo>
                  <a:pt x="1114425" y="0"/>
                </a:lnTo>
                <a:cubicBezTo>
                  <a:pt x="1130207" y="0"/>
                  <a:pt x="1143000" y="12793"/>
                  <a:pt x="1143000" y="28575"/>
                </a:cubicBezTo>
                <a:lnTo>
                  <a:pt x="1143000" y="161925"/>
                </a:lnTo>
                <a:cubicBezTo>
                  <a:pt x="1143000" y="177707"/>
                  <a:pt x="1130207" y="190500"/>
                  <a:pt x="1114425" y="190500"/>
                </a:cubicBezTo>
                <a:lnTo>
                  <a:pt x="28575" y="190500"/>
                </a:lnTo>
                <a:cubicBezTo>
                  <a:pt x="12793" y="190500"/>
                  <a:pt x="0" y="177707"/>
                  <a:pt x="0" y="161925"/>
                </a:cubicBezTo>
                <a:lnTo>
                  <a:pt x="0" y="28575"/>
                </a:lnTo>
                <a:cubicBezTo>
                  <a:pt x="0" y="12793"/>
                  <a:pt x="12793" y="0"/>
                  <a:pt x="28575" y="0"/>
                </a:cubicBezTo>
                <a:close/>
              </a:path>
            </a:pathLst>
          </a:custGeom>
          <a:solidFill>
            <a:srgbClr val="F6B4A2"/>
          </a:solidFill>
          <a:ln>
            <a:noFill/>
          </a:ln>
        </p:spPr>
      </p:sp>
      <p:sp>
        <p:nvSpPr>
          <p:cNvPr id="19" name="Freeform 19"/>
          <p:cNvSpPr/>
          <p:nvPr/>
        </p:nvSpPr>
        <p:spPr>
          <a:xfrm>
            <a:off x="3486150" y="2781300"/>
            <a:ext cx="685800" cy="190500"/>
          </a:xfrm>
          <a:custGeom>
            <a:avLst/>
            <a:gdLst/>
            <a:ahLst/>
            <a:cxnLst/>
            <a:rect l="l" t="t" r="r" b="b"/>
            <a:pathLst>
              <a:path w="685800" h="190500">
                <a:moveTo>
                  <a:pt x="28575" y="0"/>
                </a:moveTo>
                <a:lnTo>
                  <a:pt x="657225" y="0"/>
                </a:lnTo>
                <a:cubicBezTo>
                  <a:pt x="673007" y="0"/>
                  <a:pt x="685800" y="12793"/>
                  <a:pt x="685800" y="28575"/>
                </a:cubicBezTo>
                <a:lnTo>
                  <a:pt x="685800" y="161925"/>
                </a:lnTo>
                <a:cubicBezTo>
                  <a:pt x="685800" y="177707"/>
                  <a:pt x="673007" y="190500"/>
                  <a:pt x="657225" y="190500"/>
                </a:cubicBezTo>
                <a:lnTo>
                  <a:pt x="28575" y="190500"/>
                </a:lnTo>
                <a:cubicBezTo>
                  <a:pt x="12793" y="190500"/>
                  <a:pt x="0" y="177707"/>
                  <a:pt x="0" y="161925"/>
                </a:cubicBezTo>
                <a:lnTo>
                  <a:pt x="0" y="28575"/>
                </a:lnTo>
                <a:cubicBezTo>
                  <a:pt x="0" y="12793"/>
                  <a:pt x="12793" y="0"/>
                  <a:pt x="28575" y="0"/>
                </a:cubicBezTo>
                <a:close/>
              </a:path>
            </a:pathLst>
          </a:custGeom>
          <a:solidFill>
            <a:srgbClr val="FF8A65"/>
          </a:solidFill>
          <a:ln>
            <a:noFill/>
          </a:ln>
        </p:spPr>
      </p:sp>
      <p:sp>
        <p:nvSpPr>
          <p:cNvPr id="20" name="Freeform 20"/>
          <p:cNvSpPr/>
          <p:nvPr/>
        </p:nvSpPr>
        <p:spPr>
          <a:xfrm>
            <a:off x="4267200" y="2781300"/>
            <a:ext cx="1143000" cy="190500"/>
          </a:xfrm>
          <a:custGeom>
            <a:avLst/>
            <a:gdLst/>
            <a:ahLst/>
            <a:cxnLst/>
            <a:rect l="l" t="t" r="r" b="b"/>
            <a:pathLst>
              <a:path w="1143000" h="190500">
                <a:moveTo>
                  <a:pt x="28575" y="0"/>
                </a:moveTo>
                <a:lnTo>
                  <a:pt x="1114425" y="0"/>
                </a:lnTo>
                <a:cubicBezTo>
                  <a:pt x="1130207" y="0"/>
                  <a:pt x="1143000" y="12793"/>
                  <a:pt x="1143000" y="28575"/>
                </a:cubicBezTo>
                <a:lnTo>
                  <a:pt x="1143000" y="161925"/>
                </a:lnTo>
                <a:cubicBezTo>
                  <a:pt x="1143000" y="177707"/>
                  <a:pt x="1130207" y="190500"/>
                  <a:pt x="1114425" y="190500"/>
                </a:cubicBezTo>
                <a:lnTo>
                  <a:pt x="28575" y="190500"/>
                </a:lnTo>
                <a:cubicBezTo>
                  <a:pt x="12793" y="190500"/>
                  <a:pt x="0" y="177707"/>
                  <a:pt x="0" y="161925"/>
                </a:cubicBezTo>
                <a:lnTo>
                  <a:pt x="0" y="28575"/>
                </a:lnTo>
                <a:cubicBezTo>
                  <a:pt x="0" y="12793"/>
                  <a:pt x="12793" y="0"/>
                  <a:pt x="28575" y="0"/>
                </a:cubicBezTo>
                <a:close/>
              </a:path>
            </a:pathLst>
          </a:custGeom>
          <a:solidFill>
            <a:srgbClr val="F6B4A2"/>
          </a:solidFill>
          <a:ln>
            <a:noFill/>
          </a:ln>
        </p:spPr>
      </p:sp>
      <p:sp>
        <p:nvSpPr>
          <p:cNvPr id="21" name="TextBox 21"/>
          <p:cNvSpPr txBox="1"/>
          <p:nvPr/>
        </p:nvSpPr>
        <p:spPr>
          <a:xfrm>
            <a:off x="1240715" y="3133249"/>
            <a:ext cx="3919371"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Saut de 72 oct pour atteindre f[k] de la cellule suivante</a:t>
            </a:r>
          </a:p>
        </p:txBody>
      </p:sp>
      <p:sp>
        <p:nvSpPr>
          <p:cNvPr id="22" name="TextBox 22"/>
          <p:cNvSpPr txBox="1"/>
          <p:nvPr/>
        </p:nvSpPr>
        <p:spPr>
          <a:xfrm>
            <a:off x="2212586" y="3399949"/>
            <a:ext cx="1975628" cy="198120"/>
          </a:xfrm>
          <a:prstGeom prst="rect">
            <a:avLst/>
          </a:prstGeom>
          <a:noFill/>
          <a:ln>
            <a:noFill/>
          </a:ln>
        </p:spPr>
        <p:txBody>
          <a:bodyPr wrap="none" lIns="0" tIns="0" rIns="0" bIns="0" anchor="t" anchorCtr="0">
            <a:spAutoFit/>
          </a:bodyPr>
          <a:lstStyle/>
          <a:p>
            <a:pPr algn="ctr"/>
            <a:r>
              <a:rPr lang="zh-CN" sz="975" dirty="0">
                <a:solidFill>
                  <a:srgbClr val="C62828"/>
                </a:solidFill>
                <a:latin typeface="Arial"/>
                <a:ea typeface="Microsoft YaHei"/>
                <a:cs typeface="Arial"/>
              </a:rPr>
              <a:t>Non vectorisable : stride &gt; 1</a:t>
            </a:r>
          </a:p>
        </p:txBody>
      </p:sp>
      <p:sp>
        <p:nvSpPr>
          <p:cNvPr id="23" name="TextBox 23"/>
          <p:cNvSpPr txBox="1"/>
          <p:nvPr/>
        </p:nvSpPr>
        <p:spPr>
          <a:xfrm>
            <a:off x="1404473" y="3628549"/>
            <a:ext cx="3591854" cy="198120"/>
          </a:xfrm>
          <a:prstGeom prst="rect">
            <a:avLst/>
          </a:prstGeom>
          <a:noFill/>
          <a:ln>
            <a:noFill/>
          </a:ln>
        </p:spPr>
        <p:txBody>
          <a:bodyPr wrap="none" lIns="0" tIns="0" rIns="0" bIns="0" anchor="t" anchorCtr="0">
            <a:spAutoFit/>
          </a:bodyPr>
          <a:lstStyle/>
          <a:p>
            <a:pPr algn="ctr"/>
            <a:r>
              <a:rPr lang="zh-CN" sz="975" dirty="0">
                <a:solidFill>
                  <a:srgbClr val="90A4AE"/>
                </a:solidFill>
                <a:latin typeface="Arial"/>
                <a:ea typeface="Microsoft YaHei"/>
                <a:cs typeface="Arial"/>
              </a:rPr>
              <a:t>Le compilateur ne peut pas charger un vecteur zmm</a:t>
            </a:r>
          </a:p>
        </p:txBody>
      </p:sp>
      <p:sp>
        <p:nvSpPr>
          <p:cNvPr id="24" name="TextBox 24"/>
          <p:cNvSpPr txBox="1"/>
          <p:nvPr/>
        </p:nvSpPr>
        <p:spPr>
          <a:xfrm>
            <a:off x="1963388" y="3799999"/>
            <a:ext cx="2474024" cy="198120"/>
          </a:xfrm>
          <a:prstGeom prst="rect">
            <a:avLst/>
          </a:prstGeom>
          <a:noFill/>
          <a:ln>
            <a:noFill/>
          </a:ln>
        </p:spPr>
        <p:txBody>
          <a:bodyPr wrap="none" lIns="0" tIns="0" rIns="0" bIns="0" anchor="t" anchorCtr="0">
            <a:spAutoFit/>
          </a:bodyPr>
          <a:lstStyle/>
          <a:p>
            <a:pPr algn="ctr"/>
            <a:r>
              <a:rPr lang="zh-CN" sz="975" dirty="0">
                <a:solidFill>
                  <a:srgbClr val="90A4AE"/>
                </a:solidFill>
                <a:latin typeface="Arial"/>
                <a:ea typeface="Microsoft YaHei"/>
                <a:cs typeface="Arial"/>
              </a:rPr>
              <a:t>depuis des adresses non contiguous</a:t>
            </a:r>
          </a:p>
        </p:txBody>
      </p:sp>
      <p:sp>
        <p:nvSpPr>
          <p:cNvPr id="25" name="TextBox 25"/>
          <p:cNvSpPr txBox="1"/>
          <p:nvPr/>
        </p:nvSpPr>
        <p:spPr>
          <a:xfrm>
            <a:off x="6008775" y="2984182"/>
            <a:ext cx="174450" cy="335280"/>
          </a:xfrm>
          <a:prstGeom prst="rect">
            <a:avLst/>
          </a:prstGeom>
          <a:noFill/>
          <a:ln>
            <a:noFill/>
          </a:ln>
        </p:spPr>
        <p:txBody>
          <a:bodyPr wrap="none" lIns="0" tIns="0" rIns="0" bIns="0" anchor="t" anchorCtr="0">
            <a:spAutoFit/>
          </a:bodyPr>
          <a:lstStyle/>
          <a:p>
            <a:pPr algn="ctr"/>
            <a:r>
              <a:rPr lang="zh-CN" sz="1650" dirty="0">
                <a:solidFill>
                  <a:srgbClr val="1565C0"/>
                </a:solidFill>
                <a:latin typeface="Consolas"/>
                <a:ea typeface="Microsoft YaHei"/>
                <a:cs typeface="Consolas"/>
              </a:rPr>
              <a:t>→</a:t>
            </a:r>
          </a:p>
        </p:txBody>
      </p:sp>
      <p:sp>
        <p:nvSpPr>
          <p:cNvPr id="26" name="Freeform 26"/>
          <p:cNvSpPr/>
          <p:nvPr/>
        </p:nvSpPr>
        <p:spPr>
          <a:xfrm>
            <a:off x="6610350" y="1200150"/>
            <a:ext cx="4762500" cy="3657600"/>
          </a:xfrm>
          <a:custGeom>
            <a:avLst/>
            <a:gdLst/>
            <a:ahLst/>
            <a:cxnLst/>
            <a:rect l="l" t="t" r="r" b="b"/>
            <a:pathLst>
              <a:path w="4762500" h="3657600">
                <a:moveTo>
                  <a:pt x="76200" y="0"/>
                </a:moveTo>
                <a:lnTo>
                  <a:pt x="4686300" y="0"/>
                </a:lnTo>
                <a:cubicBezTo>
                  <a:pt x="4728384" y="0"/>
                  <a:pt x="4762500" y="34116"/>
                  <a:pt x="4762500" y="76200"/>
                </a:cubicBezTo>
                <a:lnTo>
                  <a:pt x="4762500" y="3581400"/>
                </a:lnTo>
                <a:cubicBezTo>
                  <a:pt x="4762500" y="3623484"/>
                  <a:pt x="4728384" y="3657600"/>
                  <a:pt x="4686300" y="3657600"/>
                </a:cubicBezTo>
                <a:lnTo>
                  <a:pt x="76200" y="3657600"/>
                </a:lnTo>
                <a:cubicBezTo>
                  <a:pt x="34116" y="3657600"/>
                  <a:pt x="0" y="3623484"/>
                  <a:pt x="0" y="3581400"/>
                </a:cubicBezTo>
                <a:lnTo>
                  <a:pt x="0" y="76200"/>
                </a:lnTo>
                <a:cubicBezTo>
                  <a:pt x="0" y="34116"/>
                  <a:pt x="34116" y="0"/>
                  <a:pt x="76200" y="0"/>
                </a:cubicBezTo>
                <a:close/>
              </a:path>
            </a:pathLst>
          </a:custGeom>
          <a:solidFill>
            <a:srgbClr val="F5FBF6"/>
          </a:solidFill>
          <a:ln w="11430">
            <a:solidFill>
              <a:srgbClr val="43A047"/>
            </a:solidFill>
          </a:ln>
        </p:spPr>
      </p:sp>
      <p:sp>
        <p:nvSpPr>
          <p:cNvPr id="27" name="TextBox 27"/>
          <p:cNvSpPr txBox="1"/>
          <p:nvPr/>
        </p:nvSpPr>
        <p:spPr>
          <a:xfrm>
            <a:off x="7951762" y="1372552"/>
            <a:ext cx="2079677" cy="213360"/>
          </a:xfrm>
          <a:prstGeom prst="rect">
            <a:avLst/>
          </a:prstGeom>
          <a:noFill/>
          <a:ln>
            <a:noFill/>
          </a:ln>
        </p:spPr>
        <p:txBody>
          <a:bodyPr wrap="none" lIns="0" tIns="0" rIns="0" bIns="0" anchor="t" anchorCtr="0">
            <a:spAutoFit/>
          </a:bodyPr>
          <a:lstStyle/>
          <a:p>
            <a:pPr algn="ctr"/>
            <a:r>
              <a:rPr lang="zh-CN" sz="1050" b="1" dirty="0">
                <a:solidFill>
                  <a:srgbClr val="43A047"/>
                </a:solidFill>
                <a:latin typeface="Arial"/>
                <a:ea typeface="Microsoft YaHei"/>
                <a:cs typeface="Arial"/>
              </a:rPr>
              <a:t>SoA — Structure of Arrays</a:t>
            </a:r>
          </a:p>
        </p:txBody>
      </p:sp>
      <p:sp>
        <p:nvSpPr>
          <p:cNvPr id="28" name="Freeform 28"/>
          <p:cNvSpPr/>
          <p:nvPr/>
        </p:nvSpPr>
        <p:spPr>
          <a:xfrm>
            <a:off x="6915150" y="1828800"/>
            <a:ext cx="4152900" cy="323850"/>
          </a:xfrm>
          <a:custGeom>
            <a:avLst/>
            <a:gdLst/>
            <a:ahLst/>
            <a:cxnLst/>
            <a:rect l="l" t="t" r="r" b="b"/>
            <a:pathLst>
              <a:path w="4152900" h="323850">
                <a:moveTo>
                  <a:pt x="38100" y="0"/>
                </a:moveTo>
                <a:lnTo>
                  <a:pt x="4114800" y="0"/>
                </a:lnTo>
                <a:cubicBezTo>
                  <a:pt x="4135842" y="0"/>
                  <a:pt x="4152900" y="17058"/>
                  <a:pt x="4152900" y="38100"/>
                </a:cubicBezTo>
                <a:lnTo>
                  <a:pt x="4152900" y="285750"/>
                </a:lnTo>
                <a:cubicBezTo>
                  <a:pt x="4152900" y="306792"/>
                  <a:pt x="4135842" y="323850"/>
                  <a:pt x="4114800" y="323850"/>
                </a:cubicBezTo>
                <a:lnTo>
                  <a:pt x="38100" y="323850"/>
                </a:lnTo>
                <a:cubicBezTo>
                  <a:pt x="17058" y="323850"/>
                  <a:pt x="0" y="306792"/>
                  <a:pt x="0" y="285750"/>
                </a:cubicBezTo>
                <a:lnTo>
                  <a:pt x="0" y="38100"/>
                </a:lnTo>
                <a:cubicBezTo>
                  <a:pt x="0" y="17058"/>
                  <a:pt x="17058" y="0"/>
                  <a:pt x="38100" y="0"/>
                </a:cubicBezTo>
                <a:close/>
              </a:path>
            </a:pathLst>
          </a:custGeom>
          <a:solidFill>
            <a:srgbClr val="1E2E3D"/>
          </a:solidFill>
          <a:ln>
            <a:noFill/>
          </a:ln>
        </p:spPr>
      </p:sp>
      <p:sp>
        <p:nvSpPr>
          <p:cNvPr id="29" name="TextBox 29"/>
          <p:cNvSpPr txBox="1"/>
          <p:nvPr/>
        </p:nvSpPr>
        <p:spPr>
          <a:xfrm>
            <a:off x="8427422" y="1933099"/>
            <a:ext cx="1128355"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Consolas"/>
                <a:ea typeface="Microsoft YaHei"/>
                <a:cs typeface="Consolas"/>
              </a:rPr>
              <a:t>cells[k][x*H+y]</a:t>
            </a:r>
          </a:p>
        </p:txBody>
      </p:sp>
      <p:sp>
        <p:nvSpPr>
          <p:cNvPr id="30" name="TextBox 30"/>
          <p:cNvSpPr txBox="1"/>
          <p:nvPr/>
        </p:nvSpPr>
        <p:spPr>
          <a:xfrm>
            <a:off x="7679829" y="2371249"/>
            <a:ext cx="2623542"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Consolas"/>
                <a:ea typeface="Microsoft YaHei"/>
                <a:cs typeface="Consolas"/>
              </a:rPr>
              <a:t>cellules adj. en j, à k fixé : contiguës</a:t>
            </a:r>
          </a:p>
        </p:txBody>
      </p:sp>
      <p:sp>
        <p:nvSpPr>
          <p:cNvPr id="31" name="Freeform 31"/>
          <p:cNvSpPr/>
          <p:nvPr/>
        </p:nvSpPr>
        <p:spPr>
          <a:xfrm>
            <a:off x="7029450" y="2781300"/>
            <a:ext cx="685800" cy="190500"/>
          </a:xfrm>
          <a:custGeom>
            <a:avLst/>
            <a:gdLst/>
            <a:ahLst/>
            <a:cxnLst/>
            <a:rect l="l" t="t" r="r" b="b"/>
            <a:pathLst>
              <a:path w="685800" h="190500">
                <a:moveTo>
                  <a:pt x="28575" y="0"/>
                </a:moveTo>
                <a:lnTo>
                  <a:pt x="657225" y="0"/>
                </a:lnTo>
                <a:cubicBezTo>
                  <a:pt x="673007" y="0"/>
                  <a:pt x="685800" y="12793"/>
                  <a:pt x="685800" y="28575"/>
                </a:cubicBezTo>
                <a:lnTo>
                  <a:pt x="685800" y="161925"/>
                </a:lnTo>
                <a:cubicBezTo>
                  <a:pt x="685800" y="177707"/>
                  <a:pt x="673007" y="190500"/>
                  <a:pt x="657225" y="190500"/>
                </a:cubicBezTo>
                <a:lnTo>
                  <a:pt x="28575" y="190500"/>
                </a:lnTo>
                <a:cubicBezTo>
                  <a:pt x="12793" y="190500"/>
                  <a:pt x="0" y="177707"/>
                  <a:pt x="0" y="161925"/>
                </a:cubicBezTo>
                <a:lnTo>
                  <a:pt x="0" y="28575"/>
                </a:lnTo>
                <a:cubicBezTo>
                  <a:pt x="0" y="12793"/>
                  <a:pt x="12793" y="0"/>
                  <a:pt x="28575" y="0"/>
                </a:cubicBezTo>
                <a:close/>
              </a:path>
            </a:pathLst>
          </a:custGeom>
          <a:solidFill>
            <a:srgbClr val="66BB6A"/>
          </a:solidFill>
          <a:ln>
            <a:noFill/>
          </a:ln>
        </p:spPr>
      </p:sp>
      <p:sp>
        <p:nvSpPr>
          <p:cNvPr id="32" name="Freeform 32"/>
          <p:cNvSpPr/>
          <p:nvPr/>
        </p:nvSpPr>
        <p:spPr>
          <a:xfrm>
            <a:off x="7810500" y="2781300"/>
            <a:ext cx="685800" cy="190500"/>
          </a:xfrm>
          <a:custGeom>
            <a:avLst/>
            <a:gdLst/>
            <a:ahLst/>
            <a:cxnLst/>
            <a:rect l="l" t="t" r="r" b="b"/>
            <a:pathLst>
              <a:path w="685800" h="190500">
                <a:moveTo>
                  <a:pt x="28575" y="0"/>
                </a:moveTo>
                <a:lnTo>
                  <a:pt x="657225" y="0"/>
                </a:lnTo>
                <a:cubicBezTo>
                  <a:pt x="673007" y="0"/>
                  <a:pt x="685800" y="12793"/>
                  <a:pt x="685800" y="28575"/>
                </a:cubicBezTo>
                <a:lnTo>
                  <a:pt x="685800" y="161925"/>
                </a:lnTo>
                <a:cubicBezTo>
                  <a:pt x="685800" y="177707"/>
                  <a:pt x="673007" y="190500"/>
                  <a:pt x="657225" y="190500"/>
                </a:cubicBezTo>
                <a:lnTo>
                  <a:pt x="28575" y="190500"/>
                </a:lnTo>
                <a:cubicBezTo>
                  <a:pt x="12793" y="190500"/>
                  <a:pt x="0" y="177707"/>
                  <a:pt x="0" y="161925"/>
                </a:cubicBezTo>
                <a:lnTo>
                  <a:pt x="0" y="28575"/>
                </a:lnTo>
                <a:cubicBezTo>
                  <a:pt x="0" y="12793"/>
                  <a:pt x="12793" y="0"/>
                  <a:pt x="28575" y="0"/>
                </a:cubicBezTo>
                <a:close/>
              </a:path>
            </a:pathLst>
          </a:custGeom>
          <a:solidFill>
            <a:srgbClr val="66BB6A"/>
          </a:solidFill>
          <a:ln>
            <a:noFill/>
          </a:ln>
        </p:spPr>
      </p:sp>
      <p:sp>
        <p:nvSpPr>
          <p:cNvPr id="33" name="Freeform 33"/>
          <p:cNvSpPr/>
          <p:nvPr/>
        </p:nvSpPr>
        <p:spPr>
          <a:xfrm>
            <a:off x="8591550" y="2781300"/>
            <a:ext cx="685800" cy="190500"/>
          </a:xfrm>
          <a:custGeom>
            <a:avLst/>
            <a:gdLst/>
            <a:ahLst/>
            <a:cxnLst/>
            <a:rect l="l" t="t" r="r" b="b"/>
            <a:pathLst>
              <a:path w="685800" h="190500">
                <a:moveTo>
                  <a:pt x="28575" y="0"/>
                </a:moveTo>
                <a:lnTo>
                  <a:pt x="657225" y="0"/>
                </a:lnTo>
                <a:cubicBezTo>
                  <a:pt x="673007" y="0"/>
                  <a:pt x="685800" y="12793"/>
                  <a:pt x="685800" y="28575"/>
                </a:cubicBezTo>
                <a:lnTo>
                  <a:pt x="685800" y="161925"/>
                </a:lnTo>
                <a:cubicBezTo>
                  <a:pt x="685800" y="177707"/>
                  <a:pt x="673007" y="190500"/>
                  <a:pt x="657225" y="190500"/>
                </a:cubicBezTo>
                <a:lnTo>
                  <a:pt x="28575" y="190500"/>
                </a:lnTo>
                <a:cubicBezTo>
                  <a:pt x="12793" y="190500"/>
                  <a:pt x="0" y="177707"/>
                  <a:pt x="0" y="161925"/>
                </a:cubicBezTo>
                <a:lnTo>
                  <a:pt x="0" y="28575"/>
                </a:lnTo>
                <a:cubicBezTo>
                  <a:pt x="0" y="12793"/>
                  <a:pt x="12793" y="0"/>
                  <a:pt x="28575" y="0"/>
                </a:cubicBezTo>
                <a:close/>
              </a:path>
            </a:pathLst>
          </a:custGeom>
          <a:solidFill>
            <a:srgbClr val="A5D6A7"/>
          </a:solidFill>
          <a:ln>
            <a:noFill/>
          </a:ln>
        </p:spPr>
      </p:sp>
      <p:sp>
        <p:nvSpPr>
          <p:cNvPr id="34" name="Freeform 34"/>
          <p:cNvSpPr/>
          <p:nvPr/>
        </p:nvSpPr>
        <p:spPr>
          <a:xfrm>
            <a:off x="9372600" y="2781300"/>
            <a:ext cx="685800" cy="190500"/>
          </a:xfrm>
          <a:custGeom>
            <a:avLst/>
            <a:gdLst/>
            <a:ahLst/>
            <a:cxnLst/>
            <a:rect l="l" t="t" r="r" b="b"/>
            <a:pathLst>
              <a:path w="685800" h="190500">
                <a:moveTo>
                  <a:pt x="28575" y="0"/>
                </a:moveTo>
                <a:lnTo>
                  <a:pt x="657225" y="0"/>
                </a:lnTo>
                <a:cubicBezTo>
                  <a:pt x="673007" y="0"/>
                  <a:pt x="685800" y="12793"/>
                  <a:pt x="685800" y="28575"/>
                </a:cubicBezTo>
                <a:lnTo>
                  <a:pt x="685800" y="161925"/>
                </a:lnTo>
                <a:cubicBezTo>
                  <a:pt x="685800" y="177707"/>
                  <a:pt x="673007" y="190500"/>
                  <a:pt x="657225" y="190500"/>
                </a:cubicBezTo>
                <a:lnTo>
                  <a:pt x="28575" y="190500"/>
                </a:lnTo>
                <a:cubicBezTo>
                  <a:pt x="12793" y="190500"/>
                  <a:pt x="0" y="177707"/>
                  <a:pt x="0" y="161925"/>
                </a:cubicBezTo>
                <a:lnTo>
                  <a:pt x="0" y="28575"/>
                </a:lnTo>
                <a:cubicBezTo>
                  <a:pt x="0" y="12793"/>
                  <a:pt x="12793" y="0"/>
                  <a:pt x="28575" y="0"/>
                </a:cubicBezTo>
                <a:close/>
              </a:path>
            </a:pathLst>
          </a:custGeom>
          <a:solidFill>
            <a:srgbClr val="A5D6A7"/>
          </a:solidFill>
          <a:ln>
            <a:noFill/>
          </a:ln>
        </p:spPr>
      </p:sp>
      <p:sp>
        <p:nvSpPr>
          <p:cNvPr id="35" name="TextBox 35"/>
          <p:cNvSpPr txBox="1"/>
          <p:nvPr/>
        </p:nvSpPr>
        <p:spPr>
          <a:xfrm>
            <a:off x="7647789" y="3133249"/>
            <a:ext cx="2687622"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8 doubles contigus → 1 chargement zmm</a:t>
            </a:r>
          </a:p>
        </p:txBody>
      </p:sp>
      <p:sp>
        <p:nvSpPr>
          <p:cNvPr id="36" name="TextBox 36"/>
          <p:cNvSpPr txBox="1"/>
          <p:nvPr/>
        </p:nvSpPr>
        <p:spPr>
          <a:xfrm>
            <a:off x="8060746" y="3399949"/>
            <a:ext cx="1861709" cy="198120"/>
          </a:xfrm>
          <a:prstGeom prst="rect">
            <a:avLst/>
          </a:prstGeom>
          <a:noFill/>
          <a:ln>
            <a:noFill/>
          </a:ln>
        </p:spPr>
        <p:txBody>
          <a:bodyPr wrap="none" lIns="0" tIns="0" rIns="0" bIns="0" anchor="t" anchorCtr="0">
            <a:spAutoFit/>
          </a:bodyPr>
          <a:lstStyle/>
          <a:p>
            <a:pPr algn="ctr"/>
            <a:r>
              <a:rPr lang="zh-CN" sz="975" dirty="0">
                <a:solidFill>
                  <a:srgbClr val="2E7D32"/>
                </a:solidFill>
                <a:latin typeface="Arial"/>
                <a:ea typeface="Microsoft YaHei"/>
                <a:cs typeface="Arial"/>
              </a:rPr>
              <a:t>Vectorisable : stride 1 en j</a:t>
            </a:r>
          </a:p>
        </p:txBody>
      </p:sp>
      <p:sp>
        <p:nvSpPr>
          <p:cNvPr id="37" name="TextBox 37"/>
          <p:cNvSpPr txBox="1"/>
          <p:nvPr/>
        </p:nvSpPr>
        <p:spPr>
          <a:xfrm>
            <a:off x="7793748" y="3628549"/>
            <a:ext cx="2395704" cy="198120"/>
          </a:xfrm>
          <a:prstGeom prst="rect">
            <a:avLst/>
          </a:prstGeom>
          <a:noFill/>
          <a:ln>
            <a:noFill/>
          </a:ln>
        </p:spPr>
        <p:txBody>
          <a:bodyPr wrap="none" lIns="0" tIns="0" rIns="0" bIns="0" anchor="t" anchorCtr="0">
            <a:spAutoFit/>
          </a:bodyPr>
          <a:lstStyle/>
          <a:p>
            <a:pPr algn="ctr"/>
            <a:r>
              <a:rPr lang="zh-CN" sz="975" dirty="0">
                <a:solidFill>
                  <a:srgbClr val="90A4AE"/>
                </a:solidFill>
                <a:latin typeface="Arial"/>
                <a:ea typeface="Microsoft YaHei"/>
                <a:cs typeface="Arial"/>
              </a:rPr>
              <a:t>prérequis structurel pour AVX-512</a:t>
            </a:r>
          </a:p>
        </p:txBody>
      </p:sp>
      <p:sp>
        <p:nvSpPr>
          <p:cNvPr id="38" name="Freeform 38"/>
          <p:cNvSpPr/>
          <p:nvPr/>
        </p:nvSpPr>
        <p:spPr>
          <a:xfrm>
            <a:off x="800100" y="5162550"/>
            <a:ext cx="10591800" cy="285750"/>
          </a:xfrm>
          <a:custGeom>
            <a:avLst/>
            <a:gdLst/>
            <a:ahLst/>
            <a:cxnLst/>
            <a:rect l="l" t="t" r="r" b="b"/>
            <a:pathLst>
              <a:path w="10591800" h="285750">
                <a:moveTo>
                  <a:pt x="57150" y="0"/>
                </a:moveTo>
                <a:lnTo>
                  <a:pt x="10534650" y="0"/>
                </a:lnTo>
                <a:cubicBezTo>
                  <a:pt x="10566213" y="0"/>
                  <a:pt x="10591800" y="25587"/>
                  <a:pt x="10591800" y="57150"/>
                </a:cubicBezTo>
                <a:lnTo>
                  <a:pt x="10591800" y="228600"/>
                </a:lnTo>
                <a:cubicBezTo>
                  <a:pt x="10591800" y="260163"/>
                  <a:pt x="10566213" y="285750"/>
                  <a:pt x="10534650" y="285750"/>
                </a:cubicBezTo>
                <a:lnTo>
                  <a:pt x="57150" y="285750"/>
                </a:lnTo>
                <a:cubicBezTo>
                  <a:pt x="25587" y="285750"/>
                  <a:pt x="0" y="260163"/>
                  <a:pt x="0" y="228600"/>
                </a:cubicBezTo>
                <a:lnTo>
                  <a:pt x="0" y="57150"/>
                </a:lnTo>
                <a:cubicBezTo>
                  <a:pt x="0" y="25587"/>
                  <a:pt x="25587" y="0"/>
                  <a:pt x="57150" y="0"/>
                </a:cubicBezTo>
                <a:close/>
              </a:path>
            </a:pathLst>
          </a:custGeom>
          <a:solidFill>
            <a:srgbClr val="1565C0"/>
          </a:solidFill>
          <a:ln>
            <a:noFill/>
          </a:ln>
        </p:spPr>
      </p:sp>
      <p:sp>
        <p:nvSpPr>
          <p:cNvPr id="39" name="TextBox 39"/>
          <p:cNvSpPr txBox="1"/>
          <p:nvPr/>
        </p:nvSpPr>
        <p:spPr>
          <a:xfrm>
            <a:off x="4086475" y="5238274"/>
            <a:ext cx="4019050"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Microsoft YaHei"/>
                <a:cs typeface="Arial"/>
              </a:rPr>
              <a:t>La contiguïté en j par plan k permet la vectorisation SIMD</a:t>
            </a:r>
          </a:p>
        </p:txBody>
      </p:sp>
      <p:sp>
        <p:nvSpPr>
          <p:cNvPr id="40" name="TextBox 40"/>
          <p:cNvSpPr txBox="1"/>
          <p:nvPr/>
        </p:nvSpPr>
        <p:spPr>
          <a:xfrm>
            <a:off x="3869317" y="5590699"/>
            <a:ext cx="4453366" cy="198120"/>
          </a:xfrm>
          <a:prstGeom prst="rect">
            <a:avLst/>
          </a:prstGeom>
          <a:noFill/>
          <a:ln>
            <a:noFill/>
          </a:ln>
        </p:spPr>
        <p:txBody>
          <a:bodyPr wrap="none" lIns="0" tIns="0" rIns="0" bIns="0" anchor="t" anchorCtr="0">
            <a:spAutoFit/>
          </a:bodyPr>
          <a:lstStyle/>
          <a:p>
            <a:pPr algn="ctr"/>
            <a:r>
              <a:rPr lang="zh-CN" sz="975" dirty="0">
                <a:solidFill>
                  <a:srgbClr val="90A4AE"/>
                </a:solidFill>
                <a:latin typeface="Arial"/>
                <a:ea typeface="Microsoft YaHei"/>
                <a:cs typeface="Arial"/>
              </a:rPr>
              <a:t>Régression initiale −22% — investissement nécessaire pour +285%</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6200"/>
          </a:xfrm>
          <a:prstGeom prst="rect">
            <a:avLst/>
          </a:prstGeom>
          <a:solidFill>
            <a:srgbClr val="1565C0"/>
          </a:solidFill>
          <a:ln>
            <a:noFill/>
          </a:ln>
        </p:spPr>
      </p:sp>
      <p:sp>
        <p:nvSpPr>
          <p:cNvPr id="4" name="Rectangle 4"/>
          <p:cNvSpPr/>
          <p:nvPr/>
        </p:nvSpPr>
        <p:spPr>
          <a:xfrm>
            <a:off x="0" y="76200"/>
            <a:ext cx="12192000" cy="685800"/>
          </a:xfrm>
          <a:prstGeom prst="rect">
            <a:avLst/>
          </a:prstGeom>
          <a:solidFill>
            <a:srgbClr val="F4F7FA"/>
          </a:solidFill>
          <a:ln>
            <a:noFill/>
          </a:ln>
        </p:spPr>
      </p:sp>
      <p:sp>
        <p:nvSpPr>
          <p:cNvPr id="5" name="Line 5"/>
          <p:cNvSpPr/>
          <p:nvPr/>
        </p:nvSpPr>
        <p:spPr>
          <a:xfrm>
            <a:off x="0" y="762000"/>
            <a:ext cx="12192000" cy="9525"/>
          </a:xfrm>
          <a:custGeom>
            <a:avLst/>
            <a:gdLst/>
            <a:ahLst/>
            <a:cxnLst/>
            <a:rect l="l" t="t" r="r" b="b"/>
            <a:pathLst>
              <a:path w="12192000" h="9525">
                <a:moveTo>
                  <a:pt x="0" y="0"/>
                </a:moveTo>
                <a:lnTo>
                  <a:pt x="12192000" y="0"/>
                </a:lnTo>
              </a:path>
            </a:pathLst>
          </a:custGeom>
          <a:noFill/>
          <a:ln w="9525">
            <a:solidFill>
              <a:srgbClr val="CFD8DC"/>
            </a:solidFill>
          </a:ln>
        </p:spPr>
      </p:sp>
      <p:sp>
        <p:nvSpPr>
          <p:cNvPr id="6" name="Freeform 6"/>
          <p:cNvSpPr/>
          <p:nvPr/>
        </p:nvSpPr>
        <p:spPr>
          <a:xfrm>
            <a:off x="609600" y="228600"/>
            <a:ext cx="47625" cy="304800"/>
          </a:xfrm>
          <a:custGeom>
            <a:avLst/>
            <a:gdLst/>
            <a:ahLst/>
            <a:cxnLst/>
            <a:rect l="l" t="t" r="r" b="b"/>
            <a:pathLst>
              <a:path w="47625" h="304800">
                <a:moveTo>
                  <a:pt x="19050" y="0"/>
                </a:moveTo>
                <a:lnTo>
                  <a:pt x="28575" y="0"/>
                </a:lnTo>
                <a:cubicBezTo>
                  <a:pt x="39096" y="0"/>
                  <a:pt x="47625" y="8529"/>
                  <a:pt x="47625" y="19050"/>
                </a:cubicBezTo>
                <a:lnTo>
                  <a:pt x="47625" y="285750"/>
                </a:lnTo>
                <a:cubicBezTo>
                  <a:pt x="47625" y="296271"/>
                  <a:pt x="39096" y="304800"/>
                  <a:pt x="28575" y="304800"/>
                </a:cubicBezTo>
                <a:lnTo>
                  <a:pt x="19050" y="304800"/>
                </a:lnTo>
                <a:cubicBezTo>
                  <a:pt x="8529" y="304800"/>
                  <a:pt x="0" y="296271"/>
                  <a:pt x="0" y="285750"/>
                </a:cubicBezTo>
                <a:lnTo>
                  <a:pt x="0" y="19050"/>
                </a:lnTo>
                <a:cubicBezTo>
                  <a:pt x="0" y="8529"/>
                  <a:pt x="8529" y="0"/>
                  <a:pt x="19050" y="0"/>
                </a:cubicBezTo>
                <a:close/>
              </a:path>
            </a:pathLst>
          </a:custGeom>
          <a:solidFill>
            <a:srgbClr val="2E7D32"/>
          </a:solidFill>
          <a:ln>
            <a:noFill/>
          </a:ln>
        </p:spPr>
      </p:sp>
      <p:sp>
        <p:nvSpPr>
          <p:cNvPr id="7" name="TextBox 7"/>
          <p:cNvSpPr txBox="1"/>
          <p:nvPr/>
        </p:nvSpPr>
        <p:spPr>
          <a:xfrm>
            <a:off x="741045" y="183832"/>
            <a:ext cx="3559050" cy="335280"/>
          </a:xfrm>
          <a:prstGeom prst="rect">
            <a:avLst/>
          </a:prstGeom>
          <a:noFill/>
          <a:ln>
            <a:noFill/>
          </a:ln>
        </p:spPr>
        <p:txBody>
          <a:bodyPr wrap="none" lIns="0" tIns="0" rIns="0" bIns="0" anchor="t" anchorCtr="0">
            <a:spAutoFit/>
          </a:bodyPr>
          <a:lstStyle/>
          <a:p>
            <a:pPr algn="l"/>
            <a:r>
              <a:rPr lang="zh-CN" sz="1650" b="1" dirty="0">
                <a:solidFill>
                  <a:srgbClr val="2E7D32"/>
                </a:solidFill>
                <a:latin typeface="Arial"/>
                <a:ea typeface="Microsoft YaHei"/>
                <a:cs typeface="Arial"/>
              </a:rPr>
              <a:t>P2-B · Vectorisation AVX-512</a:t>
            </a:r>
          </a:p>
        </p:txBody>
      </p:sp>
      <p:sp>
        <p:nvSpPr>
          <p:cNvPr id="8" name="TextBox 8"/>
          <p:cNvSpPr txBox="1"/>
          <p:nvPr/>
        </p:nvSpPr>
        <p:spPr>
          <a:xfrm>
            <a:off x="747712" y="469106"/>
            <a:ext cx="3709035"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Arial"/>
                <a:ea typeface="Microsoft YaHei"/>
                <a:cs typeface="Arial"/>
              </a:rPr>
              <a:t>opt20–22 · k-outer → multicell → zmm explicite</a:t>
            </a:r>
          </a:p>
        </p:txBody>
      </p:sp>
      <p:sp>
        <p:nvSpPr>
          <p:cNvPr id="9" name="Freeform 9"/>
          <p:cNvSpPr/>
          <p:nvPr/>
        </p:nvSpPr>
        <p:spPr>
          <a:xfrm>
            <a:off x="11144250" y="228600"/>
            <a:ext cx="438150" cy="171450"/>
          </a:xfrm>
          <a:custGeom>
            <a:avLst/>
            <a:gdLst/>
            <a:ahLst/>
            <a:cxnLst/>
            <a:rect l="l" t="t" r="r" b="b"/>
            <a:pathLst>
              <a:path w="438150" h="171450">
                <a:moveTo>
                  <a:pt x="38100" y="0"/>
                </a:moveTo>
                <a:lnTo>
                  <a:pt x="400050" y="0"/>
                </a:lnTo>
                <a:cubicBezTo>
                  <a:pt x="421092" y="0"/>
                  <a:pt x="438150" y="17058"/>
                  <a:pt x="438150" y="38100"/>
                </a:cubicBezTo>
                <a:lnTo>
                  <a:pt x="438150" y="133350"/>
                </a:lnTo>
                <a:cubicBezTo>
                  <a:pt x="438150" y="154392"/>
                  <a:pt x="421092" y="171450"/>
                  <a:pt x="400050" y="171450"/>
                </a:cubicBezTo>
                <a:lnTo>
                  <a:pt x="38100" y="171450"/>
                </a:lnTo>
                <a:cubicBezTo>
                  <a:pt x="17058" y="171450"/>
                  <a:pt x="0" y="154392"/>
                  <a:pt x="0" y="133350"/>
                </a:cubicBezTo>
                <a:lnTo>
                  <a:pt x="0" y="38100"/>
                </a:lnTo>
                <a:cubicBezTo>
                  <a:pt x="0" y="17058"/>
                  <a:pt x="17058" y="0"/>
                  <a:pt x="38100" y="0"/>
                </a:cubicBezTo>
                <a:close/>
              </a:path>
            </a:pathLst>
          </a:custGeom>
          <a:solidFill>
            <a:srgbClr val="2E7D32"/>
          </a:solidFill>
          <a:ln>
            <a:noFill/>
          </a:ln>
        </p:spPr>
      </p:sp>
      <p:sp>
        <p:nvSpPr>
          <p:cNvPr id="10" name="TextBox 10"/>
          <p:cNvSpPr txBox="1"/>
          <p:nvPr/>
        </p:nvSpPr>
        <p:spPr>
          <a:xfrm>
            <a:off x="11283264" y="263366"/>
            <a:ext cx="160122"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P2</a:t>
            </a:r>
          </a:p>
        </p:txBody>
      </p:sp>
      <p:sp>
        <p:nvSpPr>
          <p:cNvPr id="11" name="TextBox 11"/>
          <p:cNvSpPr txBox="1"/>
          <p:nvPr/>
        </p:nvSpPr>
        <p:spPr>
          <a:xfrm>
            <a:off x="11164181" y="351949"/>
            <a:ext cx="430601" cy="198120"/>
          </a:xfrm>
          <a:prstGeom prst="rect">
            <a:avLst/>
          </a:prstGeom>
          <a:noFill/>
          <a:ln>
            <a:noFill/>
          </a:ln>
        </p:spPr>
        <p:txBody>
          <a:bodyPr wrap="none" lIns="0" tIns="0" rIns="0" bIns="0" anchor="t" anchorCtr="0">
            <a:spAutoFit/>
          </a:bodyPr>
          <a:lstStyle/>
          <a:p>
            <a:pPr algn="r"/>
            <a:r>
              <a:rPr lang="zh-CN" sz="975" dirty="0">
                <a:solidFill>
                  <a:srgbClr val="90A4AE"/>
                </a:solidFill>
                <a:latin typeface="Arial"/>
                <a:ea typeface="Microsoft YaHei"/>
                <a:cs typeface="Arial"/>
              </a:rPr>
              <a:t>10 / 13</a:t>
            </a:r>
          </a:p>
        </p:txBody>
      </p:sp>
      <p:sp>
        <p:nvSpPr>
          <p:cNvPr id="12" name="Freeform 12"/>
          <p:cNvSpPr/>
          <p:nvPr/>
        </p:nvSpPr>
        <p:spPr>
          <a:xfrm>
            <a:off x="914400" y="1181100"/>
            <a:ext cx="2857500" cy="2343150"/>
          </a:xfrm>
          <a:custGeom>
            <a:avLst/>
            <a:gdLst/>
            <a:ahLst/>
            <a:cxnLst/>
            <a:rect l="l" t="t" r="r" b="b"/>
            <a:pathLst>
              <a:path w="2857500" h="2343150">
                <a:moveTo>
                  <a:pt x="76200" y="0"/>
                </a:moveTo>
                <a:lnTo>
                  <a:pt x="2781300" y="0"/>
                </a:lnTo>
                <a:cubicBezTo>
                  <a:pt x="2823384" y="0"/>
                  <a:pt x="2857500" y="34116"/>
                  <a:pt x="2857500" y="76200"/>
                </a:cubicBezTo>
                <a:lnTo>
                  <a:pt x="2857500" y="2266950"/>
                </a:lnTo>
                <a:cubicBezTo>
                  <a:pt x="2857500" y="2309034"/>
                  <a:pt x="2823384" y="2343150"/>
                  <a:pt x="2781300" y="2343150"/>
                </a:cubicBezTo>
                <a:lnTo>
                  <a:pt x="76200" y="2343150"/>
                </a:lnTo>
                <a:cubicBezTo>
                  <a:pt x="34116" y="2343150"/>
                  <a:pt x="0" y="2309034"/>
                  <a:pt x="0" y="2266950"/>
                </a:cubicBezTo>
                <a:lnTo>
                  <a:pt x="0" y="76200"/>
                </a:lnTo>
                <a:cubicBezTo>
                  <a:pt x="0" y="34116"/>
                  <a:pt x="34116" y="0"/>
                  <a:pt x="76200" y="0"/>
                </a:cubicBezTo>
                <a:close/>
              </a:path>
            </a:pathLst>
          </a:custGeom>
          <a:solidFill>
            <a:srgbClr val="F5FBF6"/>
          </a:solidFill>
          <a:ln w="11430">
            <a:solidFill>
              <a:srgbClr val="43A047"/>
            </a:solidFill>
          </a:ln>
        </p:spPr>
      </p:sp>
      <p:sp>
        <p:nvSpPr>
          <p:cNvPr id="13" name="TextBox 13"/>
          <p:cNvSpPr txBox="1"/>
          <p:nvPr/>
        </p:nvSpPr>
        <p:spPr>
          <a:xfrm>
            <a:off x="1705862" y="1353502"/>
            <a:ext cx="1274576" cy="213360"/>
          </a:xfrm>
          <a:prstGeom prst="rect">
            <a:avLst/>
          </a:prstGeom>
          <a:noFill/>
          <a:ln>
            <a:noFill/>
          </a:ln>
        </p:spPr>
        <p:txBody>
          <a:bodyPr wrap="none" lIns="0" tIns="0" rIns="0" bIns="0" anchor="t" anchorCtr="0">
            <a:spAutoFit/>
          </a:bodyPr>
          <a:lstStyle/>
          <a:p>
            <a:pPr algn="ctr"/>
            <a:r>
              <a:rPr lang="zh-CN" sz="1050" b="1" dirty="0">
                <a:solidFill>
                  <a:srgbClr val="43A047"/>
                </a:solidFill>
                <a:latin typeface="Arial"/>
                <a:ea typeface="Microsoft YaHei"/>
                <a:cs typeface="Arial"/>
              </a:rPr>
              <a:t>opt20 — k-outer</a:t>
            </a:r>
          </a:p>
        </p:txBody>
      </p:sp>
      <p:sp>
        <p:nvSpPr>
          <p:cNvPr id="14" name="TextBox 14"/>
          <p:cNvSpPr txBox="1"/>
          <p:nvPr/>
        </p:nvSpPr>
        <p:spPr>
          <a:xfrm>
            <a:off x="1422975" y="1647349"/>
            <a:ext cx="1840349" cy="198120"/>
          </a:xfrm>
          <a:prstGeom prst="rect">
            <a:avLst/>
          </a:prstGeom>
          <a:noFill/>
          <a:ln>
            <a:noFill/>
          </a:ln>
        </p:spPr>
        <p:txBody>
          <a:bodyPr wrap="none" lIns="0" tIns="0" rIns="0" bIns="0" anchor="t" anchorCtr="0">
            <a:spAutoFit/>
          </a:bodyPr>
          <a:lstStyle/>
          <a:p>
            <a:pPr algn="ctr"/>
            <a:r>
              <a:rPr lang="zh-CN" sz="975" dirty="0">
                <a:solidFill>
                  <a:srgbClr val="1A2332"/>
                </a:solidFill>
                <a:latin typeface="Arial"/>
                <a:ea typeface="Microsoft YaHei"/>
                <a:cs typeface="Arial"/>
              </a:rPr>
              <a:t>Boucle k mise en extérieur</a:t>
            </a:r>
          </a:p>
        </p:txBody>
      </p:sp>
      <p:sp>
        <p:nvSpPr>
          <p:cNvPr id="15" name="TextBox 15"/>
          <p:cNvSpPr txBox="1"/>
          <p:nvPr/>
        </p:nvSpPr>
        <p:spPr>
          <a:xfrm>
            <a:off x="1298377" y="1856899"/>
            <a:ext cx="2089547"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Accès par plans plus réguliers</a:t>
            </a:r>
          </a:p>
        </p:txBody>
      </p:sp>
      <p:sp>
        <p:nvSpPr>
          <p:cNvPr id="16" name="TextBox 16"/>
          <p:cNvSpPr txBox="1"/>
          <p:nvPr/>
        </p:nvSpPr>
        <p:spPr>
          <a:xfrm>
            <a:off x="1430095" y="2066449"/>
            <a:ext cx="1826109"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Meilleure localité mémoire</a:t>
            </a:r>
          </a:p>
        </p:txBody>
      </p:sp>
      <p:sp>
        <p:nvSpPr>
          <p:cNvPr id="17" name="Freeform 17"/>
          <p:cNvSpPr/>
          <p:nvPr/>
        </p:nvSpPr>
        <p:spPr>
          <a:xfrm>
            <a:off x="1543050" y="2514600"/>
            <a:ext cx="1600200" cy="304800"/>
          </a:xfrm>
          <a:custGeom>
            <a:avLst/>
            <a:gdLst/>
            <a:ahLst/>
            <a:cxnLst/>
            <a:rect l="l" t="t" r="r" b="b"/>
            <a:pathLst>
              <a:path w="1600200" h="304800">
                <a:moveTo>
                  <a:pt x="38100" y="0"/>
                </a:moveTo>
                <a:lnTo>
                  <a:pt x="1562100" y="0"/>
                </a:lnTo>
                <a:cubicBezTo>
                  <a:pt x="1583142" y="0"/>
                  <a:pt x="1600200" y="17058"/>
                  <a:pt x="1600200" y="38100"/>
                </a:cubicBezTo>
                <a:lnTo>
                  <a:pt x="1600200" y="266700"/>
                </a:lnTo>
                <a:cubicBezTo>
                  <a:pt x="1600200" y="287742"/>
                  <a:pt x="1583142" y="304800"/>
                  <a:pt x="1562100" y="304800"/>
                </a:cubicBezTo>
                <a:lnTo>
                  <a:pt x="38100" y="304800"/>
                </a:lnTo>
                <a:cubicBezTo>
                  <a:pt x="17058" y="304800"/>
                  <a:pt x="0" y="287742"/>
                  <a:pt x="0" y="266700"/>
                </a:cubicBezTo>
                <a:lnTo>
                  <a:pt x="0" y="38100"/>
                </a:lnTo>
                <a:cubicBezTo>
                  <a:pt x="0" y="17058"/>
                  <a:pt x="17058" y="0"/>
                  <a:pt x="38100" y="0"/>
                </a:cubicBezTo>
                <a:close/>
              </a:path>
            </a:pathLst>
          </a:custGeom>
          <a:solidFill>
            <a:srgbClr val="66BB6A"/>
          </a:solidFill>
          <a:ln>
            <a:noFill/>
          </a:ln>
        </p:spPr>
      </p:sp>
      <p:sp>
        <p:nvSpPr>
          <p:cNvPr id="18" name="TextBox 18"/>
          <p:cNvSpPr txBox="1"/>
          <p:nvPr/>
        </p:nvSpPr>
        <p:spPr>
          <a:xfrm>
            <a:off x="1818132" y="2609374"/>
            <a:ext cx="1050036"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Consolas"/>
                <a:ea typeface="Microsoft YaHei"/>
                <a:cs typeface="Consolas"/>
              </a:rPr>
              <a:t>216 → 319 MLUPS</a:t>
            </a:r>
          </a:p>
        </p:txBody>
      </p:sp>
      <p:sp>
        <p:nvSpPr>
          <p:cNvPr id="19" name="TextBox 19"/>
          <p:cNvSpPr txBox="1"/>
          <p:nvPr/>
        </p:nvSpPr>
        <p:spPr>
          <a:xfrm>
            <a:off x="1508415" y="2942749"/>
            <a:ext cx="1669471" cy="198120"/>
          </a:xfrm>
          <a:prstGeom prst="rect">
            <a:avLst/>
          </a:prstGeom>
          <a:noFill/>
          <a:ln>
            <a:noFill/>
          </a:ln>
        </p:spPr>
        <p:txBody>
          <a:bodyPr wrap="none" lIns="0" tIns="0" rIns="0" bIns="0" anchor="t" anchorCtr="0">
            <a:spAutoFit/>
          </a:bodyPr>
          <a:lstStyle/>
          <a:p>
            <a:pPr algn="ctr"/>
            <a:r>
              <a:rPr lang="zh-CN" sz="975" dirty="0">
                <a:solidFill>
                  <a:srgbClr val="90A4AE"/>
                </a:solidFill>
                <a:latin typeface="Arial"/>
                <a:ea typeface="Microsoft YaHei"/>
                <a:cs typeface="Arial"/>
              </a:rPr>
              <a:t>Étape de développement</a:t>
            </a:r>
          </a:p>
        </p:txBody>
      </p:sp>
      <p:sp>
        <p:nvSpPr>
          <p:cNvPr id="20" name="Freeform 20"/>
          <p:cNvSpPr/>
          <p:nvPr/>
        </p:nvSpPr>
        <p:spPr>
          <a:xfrm>
            <a:off x="4667250" y="1181100"/>
            <a:ext cx="2857500" cy="2343150"/>
          </a:xfrm>
          <a:custGeom>
            <a:avLst/>
            <a:gdLst/>
            <a:ahLst/>
            <a:cxnLst/>
            <a:rect l="l" t="t" r="r" b="b"/>
            <a:pathLst>
              <a:path w="2857500" h="2343150">
                <a:moveTo>
                  <a:pt x="76200" y="0"/>
                </a:moveTo>
                <a:lnTo>
                  <a:pt x="2781300" y="0"/>
                </a:lnTo>
                <a:cubicBezTo>
                  <a:pt x="2823384" y="0"/>
                  <a:pt x="2857500" y="34116"/>
                  <a:pt x="2857500" y="76200"/>
                </a:cubicBezTo>
                <a:lnTo>
                  <a:pt x="2857500" y="2266950"/>
                </a:lnTo>
                <a:cubicBezTo>
                  <a:pt x="2857500" y="2309034"/>
                  <a:pt x="2823384" y="2343150"/>
                  <a:pt x="2781300" y="2343150"/>
                </a:cubicBezTo>
                <a:lnTo>
                  <a:pt x="76200" y="2343150"/>
                </a:lnTo>
                <a:cubicBezTo>
                  <a:pt x="34116" y="2343150"/>
                  <a:pt x="0" y="2309034"/>
                  <a:pt x="0" y="2266950"/>
                </a:cubicBezTo>
                <a:lnTo>
                  <a:pt x="0" y="76200"/>
                </a:lnTo>
                <a:cubicBezTo>
                  <a:pt x="0" y="34116"/>
                  <a:pt x="34116" y="0"/>
                  <a:pt x="76200" y="0"/>
                </a:cubicBezTo>
                <a:close/>
              </a:path>
            </a:pathLst>
          </a:custGeom>
          <a:solidFill>
            <a:srgbClr val="F5FBF6"/>
          </a:solidFill>
          <a:ln w="11430">
            <a:solidFill>
              <a:srgbClr val="43A047"/>
            </a:solidFill>
          </a:ln>
        </p:spPr>
      </p:sp>
      <p:sp>
        <p:nvSpPr>
          <p:cNvPr id="21" name="TextBox 21"/>
          <p:cNvSpPr txBox="1"/>
          <p:nvPr/>
        </p:nvSpPr>
        <p:spPr>
          <a:xfrm>
            <a:off x="5454687" y="1353502"/>
            <a:ext cx="1282627" cy="213360"/>
          </a:xfrm>
          <a:prstGeom prst="rect">
            <a:avLst/>
          </a:prstGeom>
          <a:noFill/>
          <a:ln>
            <a:noFill/>
          </a:ln>
        </p:spPr>
        <p:txBody>
          <a:bodyPr wrap="none" lIns="0" tIns="0" rIns="0" bIns="0" anchor="t" anchorCtr="0">
            <a:spAutoFit/>
          </a:bodyPr>
          <a:lstStyle/>
          <a:p>
            <a:pPr algn="ctr"/>
            <a:r>
              <a:rPr lang="zh-CN" sz="1050" b="1" dirty="0">
                <a:solidFill>
                  <a:srgbClr val="43A047"/>
                </a:solidFill>
                <a:latin typeface="Arial"/>
                <a:ea typeface="Microsoft YaHei"/>
                <a:cs typeface="Arial"/>
              </a:rPr>
              <a:t>opt21 — multicell</a:t>
            </a:r>
          </a:p>
        </p:txBody>
      </p:sp>
      <p:sp>
        <p:nvSpPr>
          <p:cNvPr id="22" name="TextBox 22"/>
          <p:cNvSpPr txBox="1"/>
          <p:nvPr/>
        </p:nvSpPr>
        <p:spPr>
          <a:xfrm>
            <a:off x="5549622" y="1647349"/>
            <a:ext cx="1092756" cy="198120"/>
          </a:xfrm>
          <a:prstGeom prst="rect">
            <a:avLst/>
          </a:prstGeom>
          <a:noFill/>
          <a:ln>
            <a:noFill/>
          </a:ln>
        </p:spPr>
        <p:txBody>
          <a:bodyPr wrap="none" lIns="0" tIns="0" rIns="0" bIns="0" anchor="t" anchorCtr="0">
            <a:spAutoFit/>
          </a:bodyPr>
          <a:lstStyle/>
          <a:p>
            <a:pPr algn="ctr"/>
            <a:r>
              <a:rPr lang="zh-CN" sz="975" dirty="0">
                <a:solidFill>
                  <a:srgbClr val="1A2332"/>
                </a:solidFill>
                <a:latin typeface="Arial"/>
                <a:ea typeface="Microsoft YaHei"/>
                <a:cs typeface="Arial"/>
              </a:rPr>
              <a:t>Kernel multicell</a:t>
            </a:r>
          </a:p>
        </p:txBody>
      </p:sp>
      <p:sp>
        <p:nvSpPr>
          <p:cNvPr id="23" name="TextBox 23"/>
          <p:cNvSpPr txBox="1"/>
          <p:nvPr/>
        </p:nvSpPr>
        <p:spPr>
          <a:xfrm>
            <a:off x="4958667" y="1856899"/>
            <a:ext cx="2274665"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Structure de boucle réorganisée</a:t>
            </a:r>
          </a:p>
        </p:txBody>
      </p:sp>
      <p:sp>
        <p:nvSpPr>
          <p:cNvPr id="24" name="TextBox 24"/>
          <p:cNvSpPr txBox="1"/>
          <p:nvPr/>
        </p:nvSpPr>
        <p:spPr>
          <a:xfrm>
            <a:off x="4912388" y="2066449"/>
            <a:ext cx="2367224"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Prépare la vectorisation explicite</a:t>
            </a:r>
          </a:p>
        </p:txBody>
      </p:sp>
      <p:sp>
        <p:nvSpPr>
          <p:cNvPr id="25" name="Freeform 25"/>
          <p:cNvSpPr/>
          <p:nvPr/>
        </p:nvSpPr>
        <p:spPr>
          <a:xfrm>
            <a:off x="5295900" y="2514600"/>
            <a:ext cx="1600200" cy="304800"/>
          </a:xfrm>
          <a:custGeom>
            <a:avLst/>
            <a:gdLst/>
            <a:ahLst/>
            <a:cxnLst/>
            <a:rect l="l" t="t" r="r" b="b"/>
            <a:pathLst>
              <a:path w="1600200" h="304800">
                <a:moveTo>
                  <a:pt x="38100" y="0"/>
                </a:moveTo>
                <a:lnTo>
                  <a:pt x="1562100" y="0"/>
                </a:lnTo>
                <a:cubicBezTo>
                  <a:pt x="1583142" y="0"/>
                  <a:pt x="1600200" y="17058"/>
                  <a:pt x="1600200" y="38100"/>
                </a:cubicBezTo>
                <a:lnTo>
                  <a:pt x="1600200" y="266700"/>
                </a:lnTo>
                <a:cubicBezTo>
                  <a:pt x="1600200" y="287742"/>
                  <a:pt x="1583142" y="304800"/>
                  <a:pt x="1562100" y="304800"/>
                </a:cubicBezTo>
                <a:lnTo>
                  <a:pt x="38100" y="304800"/>
                </a:lnTo>
                <a:cubicBezTo>
                  <a:pt x="17058" y="304800"/>
                  <a:pt x="0" y="287742"/>
                  <a:pt x="0" y="266700"/>
                </a:cubicBezTo>
                <a:lnTo>
                  <a:pt x="0" y="38100"/>
                </a:lnTo>
                <a:cubicBezTo>
                  <a:pt x="0" y="17058"/>
                  <a:pt x="17058" y="0"/>
                  <a:pt x="38100" y="0"/>
                </a:cubicBezTo>
                <a:close/>
              </a:path>
            </a:pathLst>
          </a:custGeom>
          <a:solidFill>
            <a:srgbClr val="66BB6A"/>
          </a:solidFill>
          <a:ln>
            <a:noFill/>
          </a:ln>
        </p:spPr>
      </p:sp>
      <p:sp>
        <p:nvSpPr>
          <p:cNvPr id="26" name="TextBox 26"/>
          <p:cNvSpPr txBox="1"/>
          <p:nvPr/>
        </p:nvSpPr>
        <p:spPr>
          <a:xfrm>
            <a:off x="5553182" y="2609374"/>
            <a:ext cx="1085636"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Consolas"/>
                <a:ea typeface="Microsoft YaHei"/>
                <a:cs typeface="Consolas"/>
              </a:rPr>
              <a:t>319 → 423 MLUPS</a:t>
            </a:r>
          </a:p>
        </p:txBody>
      </p:sp>
      <p:sp>
        <p:nvSpPr>
          <p:cNvPr id="27" name="TextBox 27"/>
          <p:cNvSpPr txBox="1"/>
          <p:nvPr/>
        </p:nvSpPr>
        <p:spPr>
          <a:xfrm>
            <a:off x="5396544" y="2942749"/>
            <a:ext cx="1398913" cy="198120"/>
          </a:xfrm>
          <a:prstGeom prst="rect">
            <a:avLst/>
          </a:prstGeom>
          <a:noFill/>
          <a:ln>
            <a:noFill/>
          </a:ln>
        </p:spPr>
        <p:txBody>
          <a:bodyPr wrap="none" lIns="0" tIns="0" rIns="0" bIns="0" anchor="t" anchorCtr="0">
            <a:spAutoFit/>
          </a:bodyPr>
          <a:lstStyle/>
          <a:p>
            <a:pPr algn="ctr"/>
            <a:r>
              <a:rPr lang="zh-CN" sz="975" dirty="0">
                <a:solidFill>
                  <a:srgbClr val="90A4AE"/>
                </a:solidFill>
                <a:latin typeface="Arial"/>
                <a:ea typeface="Microsoft YaHei"/>
                <a:cs typeface="Arial"/>
              </a:rPr>
              <a:t>Étape intermédiaire</a:t>
            </a:r>
          </a:p>
        </p:txBody>
      </p:sp>
      <p:sp>
        <p:nvSpPr>
          <p:cNvPr id="28" name="Freeform 28"/>
          <p:cNvSpPr/>
          <p:nvPr/>
        </p:nvSpPr>
        <p:spPr>
          <a:xfrm>
            <a:off x="8420100" y="1181100"/>
            <a:ext cx="2971800" cy="2343150"/>
          </a:xfrm>
          <a:custGeom>
            <a:avLst/>
            <a:gdLst/>
            <a:ahLst/>
            <a:cxnLst/>
            <a:rect l="l" t="t" r="r" b="b"/>
            <a:pathLst>
              <a:path w="2971800" h="2343150">
                <a:moveTo>
                  <a:pt x="76200" y="0"/>
                </a:moveTo>
                <a:lnTo>
                  <a:pt x="2895600" y="0"/>
                </a:lnTo>
                <a:cubicBezTo>
                  <a:pt x="2937684" y="0"/>
                  <a:pt x="2971800" y="34116"/>
                  <a:pt x="2971800" y="76200"/>
                </a:cubicBezTo>
                <a:lnTo>
                  <a:pt x="2971800" y="2266950"/>
                </a:lnTo>
                <a:cubicBezTo>
                  <a:pt x="2971800" y="2309034"/>
                  <a:pt x="2937684" y="2343150"/>
                  <a:pt x="2895600" y="2343150"/>
                </a:cubicBezTo>
                <a:lnTo>
                  <a:pt x="76200" y="2343150"/>
                </a:lnTo>
                <a:cubicBezTo>
                  <a:pt x="34116" y="2343150"/>
                  <a:pt x="0" y="2309034"/>
                  <a:pt x="0" y="2266950"/>
                </a:cubicBezTo>
                <a:lnTo>
                  <a:pt x="0" y="76200"/>
                </a:lnTo>
                <a:cubicBezTo>
                  <a:pt x="0" y="34116"/>
                  <a:pt x="34116" y="0"/>
                  <a:pt x="76200" y="0"/>
                </a:cubicBezTo>
                <a:close/>
              </a:path>
            </a:pathLst>
          </a:custGeom>
          <a:solidFill>
            <a:srgbClr val="FFF7EF"/>
          </a:solidFill>
          <a:ln w="11430">
            <a:solidFill>
              <a:srgbClr val="E65100"/>
            </a:solidFill>
          </a:ln>
        </p:spPr>
      </p:sp>
      <p:sp>
        <p:nvSpPr>
          <p:cNvPr id="29" name="TextBox 29"/>
          <p:cNvSpPr txBox="1"/>
          <p:nvPr/>
        </p:nvSpPr>
        <p:spPr>
          <a:xfrm>
            <a:off x="8773575" y="1353502"/>
            <a:ext cx="2264850" cy="213360"/>
          </a:xfrm>
          <a:prstGeom prst="rect">
            <a:avLst/>
          </a:prstGeom>
          <a:noFill/>
          <a:ln>
            <a:noFill/>
          </a:ln>
        </p:spPr>
        <p:txBody>
          <a:bodyPr wrap="none" lIns="0" tIns="0" rIns="0" bIns="0" anchor="t" anchorCtr="0">
            <a:spAutoFit/>
          </a:bodyPr>
          <a:lstStyle/>
          <a:p>
            <a:pPr algn="ctr"/>
            <a:r>
              <a:rPr lang="zh-CN" sz="1050" b="1" dirty="0">
                <a:solidFill>
                  <a:srgbClr val="E65100"/>
                </a:solidFill>
                <a:latin typeface="Arial"/>
                <a:ea typeface="Microsoft YaHei"/>
                <a:cs typeface="Arial"/>
              </a:rPr>
              <a:t>opt22 — __restrict__ + ivdep</a:t>
            </a:r>
          </a:p>
        </p:txBody>
      </p:sp>
      <p:sp>
        <p:nvSpPr>
          <p:cNvPr id="30" name="TextBox 30"/>
          <p:cNvSpPr txBox="1"/>
          <p:nvPr/>
        </p:nvSpPr>
        <p:spPr>
          <a:xfrm>
            <a:off x="8982266" y="1647349"/>
            <a:ext cx="1847469" cy="198120"/>
          </a:xfrm>
          <a:prstGeom prst="rect">
            <a:avLst/>
          </a:prstGeom>
          <a:noFill/>
          <a:ln>
            <a:noFill/>
          </a:ln>
        </p:spPr>
        <p:txBody>
          <a:bodyPr wrap="none" lIns="0" tIns="0" rIns="0" bIns="0" anchor="t" anchorCtr="0">
            <a:spAutoFit/>
          </a:bodyPr>
          <a:lstStyle/>
          <a:p>
            <a:pPr algn="ctr"/>
            <a:r>
              <a:rPr lang="zh-CN" sz="975" dirty="0">
                <a:solidFill>
                  <a:srgbClr val="1A2332"/>
                </a:solidFill>
                <a:latin typeface="Arial"/>
                <a:ea typeface="Microsoft YaHei"/>
                <a:cs typeface="Arial"/>
              </a:rPr>
              <a:t>__restrict__ : pas d'alias</a:t>
            </a:r>
          </a:p>
        </p:txBody>
      </p:sp>
      <p:sp>
        <p:nvSpPr>
          <p:cNvPr id="31" name="TextBox 31"/>
          <p:cNvSpPr txBox="1"/>
          <p:nvPr/>
        </p:nvSpPr>
        <p:spPr>
          <a:xfrm>
            <a:off x="9267063" y="1856899"/>
            <a:ext cx="1277874"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Consolas"/>
                <a:ea typeface="Microsoft YaHei"/>
                <a:cs typeface="Consolas"/>
              </a:rPr>
              <a:t>#pragma GCC ivdep</a:t>
            </a:r>
          </a:p>
        </p:txBody>
      </p:sp>
      <p:sp>
        <p:nvSpPr>
          <p:cNvPr id="32" name="TextBox 32"/>
          <p:cNvSpPr txBox="1"/>
          <p:nvPr/>
        </p:nvSpPr>
        <p:spPr>
          <a:xfrm>
            <a:off x="9081945" y="2066449"/>
            <a:ext cx="1648111"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Levée d'analyse d'alias</a:t>
            </a:r>
          </a:p>
        </p:txBody>
      </p:sp>
      <p:sp>
        <p:nvSpPr>
          <p:cNvPr id="33" name="Freeform 33"/>
          <p:cNvSpPr/>
          <p:nvPr/>
        </p:nvSpPr>
        <p:spPr>
          <a:xfrm>
            <a:off x="9105900" y="2514600"/>
            <a:ext cx="1600200" cy="304800"/>
          </a:xfrm>
          <a:custGeom>
            <a:avLst/>
            <a:gdLst/>
            <a:ahLst/>
            <a:cxnLst/>
            <a:rect l="l" t="t" r="r" b="b"/>
            <a:pathLst>
              <a:path w="1600200" h="304800">
                <a:moveTo>
                  <a:pt x="38100" y="0"/>
                </a:moveTo>
                <a:lnTo>
                  <a:pt x="1562100" y="0"/>
                </a:lnTo>
                <a:cubicBezTo>
                  <a:pt x="1583142" y="0"/>
                  <a:pt x="1600200" y="17058"/>
                  <a:pt x="1600200" y="38100"/>
                </a:cubicBezTo>
                <a:lnTo>
                  <a:pt x="1600200" y="266700"/>
                </a:lnTo>
                <a:cubicBezTo>
                  <a:pt x="1600200" y="287742"/>
                  <a:pt x="1583142" y="304800"/>
                  <a:pt x="1562100" y="304800"/>
                </a:cubicBezTo>
                <a:lnTo>
                  <a:pt x="38100" y="304800"/>
                </a:lnTo>
                <a:cubicBezTo>
                  <a:pt x="17058" y="304800"/>
                  <a:pt x="0" y="287742"/>
                  <a:pt x="0" y="266700"/>
                </a:cubicBezTo>
                <a:lnTo>
                  <a:pt x="0" y="38100"/>
                </a:lnTo>
                <a:cubicBezTo>
                  <a:pt x="0" y="17058"/>
                  <a:pt x="17058" y="0"/>
                  <a:pt x="38100" y="0"/>
                </a:cubicBezTo>
                <a:close/>
              </a:path>
            </a:pathLst>
          </a:custGeom>
          <a:solidFill>
            <a:srgbClr val="F57C00"/>
          </a:solidFill>
          <a:ln>
            <a:noFill/>
          </a:ln>
        </p:spPr>
      </p:sp>
      <p:sp>
        <p:nvSpPr>
          <p:cNvPr id="34" name="TextBox 34"/>
          <p:cNvSpPr txBox="1"/>
          <p:nvPr/>
        </p:nvSpPr>
        <p:spPr>
          <a:xfrm>
            <a:off x="9345382" y="2609374"/>
            <a:ext cx="1121235"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Consolas"/>
                <a:ea typeface="Microsoft YaHei"/>
                <a:cs typeface="Consolas"/>
              </a:rPr>
              <a:t>423 → 832 MLUPS</a:t>
            </a:r>
          </a:p>
        </p:txBody>
      </p:sp>
      <p:sp>
        <p:nvSpPr>
          <p:cNvPr id="35" name="TextBox 35"/>
          <p:cNvSpPr txBox="1"/>
          <p:nvPr/>
        </p:nvSpPr>
        <p:spPr>
          <a:xfrm>
            <a:off x="8921746" y="2942749"/>
            <a:ext cx="1968508" cy="198120"/>
          </a:xfrm>
          <a:prstGeom prst="rect">
            <a:avLst/>
          </a:prstGeom>
          <a:noFill/>
          <a:ln>
            <a:noFill/>
          </a:ln>
        </p:spPr>
        <p:txBody>
          <a:bodyPr wrap="none" lIns="0" tIns="0" rIns="0" bIns="0" anchor="t" anchorCtr="0">
            <a:spAutoFit/>
          </a:bodyPr>
          <a:lstStyle/>
          <a:p>
            <a:pPr algn="ctr"/>
            <a:r>
              <a:rPr lang="zh-CN" sz="975" dirty="0">
                <a:solidFill>
                  <a:srgbClr val="90A4AE"/>
                </a:solidFill>
                <a:latin typeface="Arial"/>
                <a:ea typeface="Microsoft YaHei"/>
                <a:cs typeface="Arial"/>
              </a:rPr>
              <a:t>GCC émet des registres zmm</a:t>
            </a:r>
          </a:p>
        </p:txBody>
      </p:sp>
      <p:sp>
        <p:nvSpPr>
          <p:cNvPr id="36" name="Freeform 36"/>
          <p:cNvSpPr/>
          <p:nvPr/>
        </p:nvSpPr>
        <p:spPr>
          <a:xfrm>
            <a:off x="914400" y="3924300"/>
            <a:ext cx="10477500" cy="914400"/>
          </a:xfrm>
          <a:custGeom>
            <a:avLst/>
            <a:gdLst/>
            <a:ahLst/>
            <a:cxnLst/>
            <a:rect l="l" t="t" r="r" b="b"/>
            <a:pathLst>
              <a:path w="10477500" h="914400">
                <a:moveTo>
                  <a:pt x="57150" y="0"/>
                </a:moveTo>
                <a:lnTo>
                  <a:pt x="10420350" y="0"/>
                </a:lnTo>
                <a:cubicBezTo>
                  <a:pt x="10451913" y="0"/>
                  <a:pt x="10477500" y="25587"/>
                  <a:pt x="10477500" y="57150"/>
                </a:cubicBezTo>
                <a:lnTo>
                  <a:pt x="10477500" y="857250"/>
                </a:lnTo>
                <a:cubicBezTo>
                  <a:pt x="10477500" y="888813"/>
                  <a:pt x="10451913" y="914400"/>
                  <a:pt x="10420350" y="914400"/>
                </a:cubicBezTo>
                <a:lnTo>
                  <a:pt x="57150" y="914400"/>
                </a:lnTo>
                <a:cubicBezTo>
                  <a:pt x="25587" y="914400"/>
                  <a:pt x="0" y="888813"/>
                  <a:pt x="0" y="857250"/>
                </a:cubicBezTo>
                <a:lnTo>
                  <a:pt x="0" y="57150"/>
                </a:lnTo>
                <a:cubicBezTo>
                  <a:pt x="0" y="25587"/>
                  <a:pt x="25587" y="0"/>
                  <a:pt x="57150" y="0"/>
                </a:cubicBezTo>
                <a:close/>
              </a:path>
            </a:pathLst>
          </a:custGeom>
          <a:solidFill>
            <a:srgbClr val="243644"/>
          </a:solidFill>
          <a:ln>
            <a:noFill/>
          </a:ln>
        </p:spPr>
      </p:sp>
      <p:sp>
        <p:nvSpPr>
          <p:cNvPr id="37" name="TextBox 37"/>
          <p:cNvSpPr txBox="1"/>
          <p:nvPr/>
        </p:nvSpPr>
        <p:spPr>
          <a:xfrm>
            <a:off x="1111568" y="4085749"/>
            <a:ext cx="2282497" cy="198120"/>
          </a:xfrm>
          <a:prstGeom prst="rect">
            <a:avLst/>
          </a:prstGeom>
          <a:noFill/>
          <a:ln>
            <a:noFill/>
          </a:ln>
        </p:spPr>
        <p:txBody>
          <a:bodyPr wrap="none" lIns="0" tIns="0" rIns="0" bIns="0" anchor="t" anchorCtr="0">
            <a:spAutoFit/>
          </a:bodyPr>
          <a:lstStyle/>
          <a:p>
            <a:pPr algn="l"/>
            <a:r>
              <a:rPr lang="zh-CN" sz="975" b="1" dirty="0">
                <a:solidFill>
                  <a:srgbClr val="90CAF9"/>
                </a:solidFill>
                <a:latin typeface="Arial"/>
                <a:ea typeface="Microsoft YaHei"/>
                <a:cs typeface="Arial"/>
              </a:rPr>
              <a:t>Preuve assembleur (objdump) :</a:t>
            </a:r>
          </a:p>
        </p:txBody>
      </p:sp>
      <p:sp>
        <p:nvSpPr>
          <p:cNvPr id="38" name="TextBox 38"/>
          <p:cNvSpPr txBox="1"/>
          <p:nvPr/>
        </p:nvSpPr>
        <p:spPr>
          <a:xfrm>
            <a:off x="1111568" y="4352449"/>
            <a:ext cx="2239066" cy="198120"/>
          </a:xfrm>
          <a:prstGeom prst="rect">
            <a:avLst/>
          </a:prstGeom>
          <a:noFill/>
          <a:ln>
            <a:noFill/>
          </a:ln>
        </p:spPr>
        <p:txBody>
          <a:bodyPr wrap="none" lIns="0" tIns="0" rIns="0" bIns="0" anchor="t" anchorCtr="0">
            <a:spAutoFit/>
          </a:bodyPr>
          <a:lstStyle/>
          <a:p>
            <a:pPr algn="l"/>
            <a:r>
              <a:rPr lang="zh-CN" sz="975" dirty="0">
                <a:solidFill>
                  <a:srgbClr val="F8F9FB"/>
                </a:solidFill>
                <a:latin typeface="Consolas"/>
                <a:ea typeface="Microsoft YaHei"/>
                <a:cs typeface="Consolas"/>
              </a:rPr>
              <a:t>vmovupd (%r10,%rax,1), %zmm23</a:t>
            </a:r>
          </a:p>
        </p:txBody>
      </p:sp>
      <p:sp>
        <p:nvSpPr>
          <p:cNvPr id="39" name="TextBox 39"/>
          <p:cNvSpPr txBox="1"/>
          <p:nvPr/>
        </p:nvSpPr>
        <p:spPr>
          <a:xfrm>
            <a:off x="1111568" y="4561999"/>
            <a:ext cx="3000899" cy="198120"/>
          </a:xfrm>
          <a:prstGeom prst="rect">
            <a:avLst/>
          </a:prstGeom>
          <a:noFill/>
          <a:ln>
            <a:noFill/>
          </a:ln>
        </p:spPr>
        <p:txBody>
          <a:bodyPr wrap="none" lIns="0" tIns="0" rIns="0" bIns="0" anchor="t" anchorCtr="0">
            <a:spAutoFit/>
          </a:bodyPr>
          <a:lstStyle/>
          <a:p>
            <a:pPr algn="l"/>
            <a:r>
              <a:rPr lang="zh-CN" sz="975" dirty="0">
                <a:solidFill>
                  <a:srgbClr val="F8F9FB"/>
                </a:solidFill>
                <a:latin typeface="Consolas"/>
                <a:ea typeface="Microsoft YaHei"/>
                <a:cs typeface="Consolas"/>
              </a:rPr>
              <a:t>vaddpd / vdivpd — registres zmm confirmés</a:t>
            </a:r>
          </a:p>
        </p:txBody>
      </p:sp>
      <p:sp>
        <p:nvSpPr>
          <p:cNvPr id="40" name="Freeform 40"/>
          <p:cNvSpPr/>
          <p:nvPr/>
        </p:nvSpPr>
        <p:spPr>
          <a:xfrm>
            <a:off x="914400" y="5143500"/>
            <a:ext cx="10477500" cy="304800"/>
          </a:xfrm>
          <a:custGeom>
            <a:avLst/>
            <a:gdLst/>
            <a:ahLst/>
            <a:cxnLst/>
            <a:rect l="l" t="t" r="r" b="b"/>
            <a:pathLst>
              <a:path w="10477500" h="304800">
                <a:moveTo>
                  <a:pt x="57150" y="0"/>
                </a:moveTo>
                <a:lnTo>
                  <a:pt x="10420350" y="0"/>
                </a:lnTo>
                <a:cubicBezTo>
                  <a:pt x="10451913" y="0"/>
                  <a:pt x="10477500" y="25587"/>
                  <a:pt x="10477500" y="57150"/>
                </a:cubicBezTo>
                <a:lnTo>
                  <a:pt x="10477500" y="247650"/>
                </a:lnTo>
                <a:cubicBezTo>
                  <a:pt x="10477500" y="279213"/>
                  <a:pt x="10451913" y="304800"/>
                  <a:pt x="10420350" y="304800"/>
                </a:cubicBezTo>
                <a:lnTo>
                  <a:pt x="57150" y="304800"/>
                </a:lnTo>
                <a:cubicBezTo>
                  <a:pt x="25587" y="304800"/>
                  <a:pt x="0" y="279213"/>
                  <a:pt x="0" y="247650"/>
                </a:cubicBezTo>
                <a:lnTo>
                  <a:pt x="0" y="57150"/>
                </a:lnTo>
                <a:cubicBezTo>
                  <a:pt x="0" y="25587"/>
                  <a:pt x="25587" y="0"/>
                  <a:pt x="57150" y="0"/>
                </a:cubicBezTo>
                <a:close/>
              </a:path>
            </a:pathLst>
          </a:custGeom>
          <a:solidFill>
            <a:srgbClr val="F57C00"/>
          </a:solidFill>
          <a:ln>
            <a:noFill/>
          </a:ln>
        </p:spPr>
      </p:sp>
      <p:sp>
        <p:nvSpPr>
          <p:cNvPr id="41" name="TextBox 41"/>
          <p:cNvSpPr txBox="1"/>
          <p:nvPr/>
        </p:nvSpPr>
        <p:spPr>
          <a:xfrm>
            <a:off x="4473257" y="5230178"/>
            <a:ext cx="335978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Consolas"/>
                <a:ea typeface="Microsoft YaHei"/>
                <a:cs typeface="Consolas"/>
              </a:rPr>
              <a:t>Chaîne de développement : 216 → 832 MLUPS</a:t>
            </a:r>
          </a:p>
        </p:txBody>
      </p:sp>
      <p:sp>
        <p:nvSpPr>
          <p:cNvPr id="42" name="TextBox 42"/>
          <p:cNvSpPr txBox="1"/>
          <p:nvPr/>
        </p:nvSpPr>
        <p:spPr>
          <a:xfrm>
            <a:off x="4375023" y="5628799"/>
            <a:ext cx="3556254" cy="198120"/>
          </a:xfrm>
          <a:prstGeom prst="rect">
            <a:avLst/>
          </a:prstGeom>
          <a:noFill/>
          <a:ln>
            <a:noFill/>
          </a:ln>
        </p:spPr>
        <p:txBody>
          <a:bodyPr wrap="none" lIns="0" tIns="0" rIns="0" bIns="0" anchor="t" anchorCtr="0">
            <a:spAutoFit/>
          </a:bodyPr>
          <a:lstStyle/>
          <a:p>
            <a:pPr algn="ctr"/>
            <a:r>
              <a:rPr lang="zh-CN" sz="975" dirty="0">
                <a:solidFill>
                  <a:srgbClr val="90A4AE"/>
                </a:solidFill>
                <a:latin typeface="Arial"/>
                <a:ea typeface="Microsoft YaHei"/>
                <a:cs typeface="Arial"/>
              </a:rPr>
              <a:t>832 mesuré np=2, OMP=4 · 757 mesuré np=1, OMP=4</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6200"/>
          </a:xfrm>
          <a:prstGeom prst="rect">
            <a:avLst/>
          </a:prstGeom>
          <a:solidFill>
            <a:srgbClr val="1565C0"/>
          </a:solidFill>
          <a:ln>
            <a:noFill/>
          </a:ln>
        </p:spPr>
      </p:sp>
      <p:sp>
        <p:nvSpPr>
          <p:cNvPr id="4" name="Rectangle 4"/>
          <p:cNvSpPr/>
          <p:nvPr/>
        </p:nvSpPr>
        <p:spPr>
          <a:xfrm>
            <a:off x="0" y="76200"/>
            <a:ext cx="12192000" cy="685800"/>
          </a:xfrm>
          <a:prstGeom prst="rect">
            <a:avLst/>
          </a:prstGeom>
          <a:solidFill>
            <a:srgbClr val="F4F7FA"/>
          </a:solidFill>
          <a:ln>
            <a:noFill/>
          </a:ln>
        </p:spPr>
      </p:sp>
      <p:sp>
        <p:nvSpPr>
          <p:cNvPr id="5" name="Line 5"/>
          <p:cNvSpPr/>
          <p:nvPr/>
        </p:nvSpPr>
        <p:spPr>
          <a:xfrm>
            <a:off x="0" y="762000"/>
            <a:ext cx="12192000" cy="9525"/>
          </a:xfrm>
          <a:custGeom>
            <a:avLst/>
            <a:gdLst/>
            <a:ahLst/>
            <a:cxnLst/>
            <a:rect l="l" t="t" r="r" b="b"/>
            <a:pathLst>
              <a:path w="12192000" h="9525">
                <a:moveTo>
                  <a:pt x="0" y="0"/>
                </a:moveTo>
                <a:lnTo>
                  <a:pt x="12192000" y="0"/>
                </a:lnTo>
              </a:path>
            </a:pathLst>
          </a:custGeom>
          <a:noFill/>
          <a:ln w="9525">
            <a:solidFill>
              <a:srgbClr val="CFD8DC"/>
            </a:solidFill>
          </a:ln>
        </p:spPr>
      </p:sp>
      <p:sp>
        <p:nvSpPr>
          <p:cNvPr id="6" name="Freeform 6"/>
          <p:cNvSpPr/>
          <p:nvPr/>
        </p:nvSpPr>
        <p:spPr>
          <a:xfrm>
            <a:off x="609600" y="228600"/>
            <a:ext cx="47625" cy="304800"/>
          </a:xfrm>
          <a:custGeom>
            <a:avLst/>
            <a:gdLst/>
            <a:ahLst/>
            <a:cxnLst/>
            <a:rect l="l" t="t" r="r" b="b"/>
            <a:pathLst>
              <a:path w="47625" h="304800">
                <a:moveTo>
                  <a:pt x="19050" y="0"/>
                </a:moveTo>
                <a:lnTo>
                  <a:pt x="28575" y="0"/>
                </a:lnTo>
                <a:cubicBezTo>
                  <a:pt x="39096" y="0"/>
                  <a:pt x="47625" y="8529"/>
                  <a:pt x="47625" y="19050"/>
                </a:cubicBezTo>
                <a:lnTo>
                  <a:pt x="47625" y="285750"/>
                </a:lnTo>
                <a:cubicBezTo>
                  <a:pt x="47625" y="296271"/>
                  <a:pt x="39096" y="304800"/>
                  <a:pt x="28575" y="304800"/>
                </a:cubicBezTo>
                <a:lnTo>
                  <a:pt x="19050" y="304800"/>
                </a:lnTo>
                <a:cubicBezTo>
                  <a:pt x="8529" y="304800"/>
                  <a:pt x="0" y="296271"/>
                  <a:pt x="0" y="285750"/>
                </a:cubicBezTo>
                <a:lnTo>
                  <a:pt x="0" y="19050"/>
                </a:lnTo>
                <a:cubicBezTo>
                  <a:pt x="0" y="8529"/>
                  <a:pt x="8529" y="0"/>
                  <a:pt x="19050" y="0"/>
                </a:cubicBezTo>
                <a:close/>
              </a:path>
            </a:pathLst>
          </a:custGeom>
          <a:solidFill>
            <a:srgbClr val="2E7D32"/>
          </a:solidFill>
          <a:ln>
            <a:noFill/>
          </a:ln>
        </p:spPr>
      </p:sp>
      <p:sp>
        <p:nvSpPr>
          <p:cNvPr id="7" name="TextBox 7"/>
          <p:cNvSpPr txBox="1"/>
          <p:nvPr/>
        </p:nvSpPr>
        <p:spPr>
          <a:xfrm>
            <a:off x="741045" y="183832"/>
            <a:ext cx="5203755" cy="335280"/>
          </a:xfrm>
          <a:prstGeom prst="rect">
            <a:avLst/>
          </a:prstGeom>
          <a:noFill/>
          <a:ln>
            <a:noFill/>
          </a:ln>
        </p:spPr>
        <p:txBody>
          <a:bodyPr wrap="none" lIns="0" tIns="0" rIns="0" bIns="0" anchor="t" anchorCtr="0">
            <a:spAutoFit/>
          </a:bodyPr>
          <a:lstStyle/>
          <a:p>
            <a:pPr algn="l"/>
            <a:r>
              <a:rPr lang="zh-CN" sz="1650" b="1" dirty="0">
                <a:solidFill>
                  <a:srgbClr val="2E7D32"/>
                </a:solidFill>
                <a:latin typeface="Arial"/>
                <a:ea typeface="Microsoft YaHei"/>
                <a:cs typeface="Arial"/>
              </a:rPr>
              <a:t>P2-C/D · Halo k-major + Région OMP unique</a:t>
            </a:r>
          </a:p>
        </p:txBody>
      </p:sp>
      <p:sp>
        <p:nvSpPr>
          <p:cNvPr id="8" name="TextBox 8"/>
          <p:cNvSpPr txBox="1"/>
          <p:nvPr/>
        </p:nvSpPr>
        <p:spPr>
          <a:xfrm>
            <a:off x="747712" y="469106"/>
            <a:ext cx="3018949"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Arial"/>
                <a:ea typeface="Microsoft YaHei"/>
                <a:cs typeface="Arial"/>
              </a:rPr>
              <a:t>opt24–26 · Données de développement</a:t>
            </a:r>
          </a:p>
        </p:txBody>
      </p:sp>
      <p:sp>
        <p:nvSpPr>
          <p:cNvPr id="9" name="Freeform 9"/>
          <p:cNvSpPr/>
          <p:nvPr/>
        </p:nvSpPr>
        <p:spPr>
          <a:xfrm>
            <a:off x="11144250" y="228600"/>
            <a:ext cx="438150" cy="171450"/>
          </a:xfrm>
          <a:custGeom>
            <a:avLst/>
            <a:gdLst/>
            <a:ahLst/>
            <a:cxnLst/>
            <a:rect l="l" t="t" r="r" b="b"/>
            <a:pathLst>
              <a:path w="438150" h="171450">
                <a:moveTo>
                  <a:pt x="38100" y="0"/>
                </a:moveTo>
                <a:lnTo>
                  <a:pt x="400050" y="0"/>
                </a:lnTo>
                <a:cubicBezTo>
                  <a:pt x="421092" y="0"/>
                  <a:pt x="438150" y="17058"/>
                  <a:pt x="438150" y="38100"/>
                </a:cubicBezTo>
                <a:lnTo>
                  <a:pt x="438150" y="133350"/>
                </a:lnTo>
                <a:cubicBezTo>
                  <a:pt x="438150" y="154392"/>
                  <a:pt x="421092" y="171450"/>
                  <a:pt x="400050" y="171450"/>
                </a:cubicBezTo>
                <a:lnTo>
                  <a:pt x="38100" y="171450"/>
                </a:lnTo>
                <a:cubicBezTo>
                  <a:pt x="17058" y="171450"/>
                  <a:pt x="0" y="154392"/>
                  <a:pt x="0" y="133350"/>
                </a:cubicBezTo>
                <a:lnTo>
                  <a:pt x="0" y="38100"/>
                </a:lnTo>
                <a:cubicBezTo>
                  <a:pt x="0" y="17058"/>
                  <a:pt x="17058" y="0"/>
                  <a:pt x="38100" y="0"/>
                </a:cubicBezTo>
                <a:close/>
              </a:path>
            </a:pathLst>
          </a:custGeom>
          <a:solidFill>
            <a:srgbClr val="2E7D32"/>
          </a:solidFill>
          <a:ln>
            <a:noFill/>
          </a:ln>
        </p:spPr>
      </p:sp>
      <p:sp>
        <p:nvSpPr>
          <p:cNvPr id="10" name="TextBox 10"/>
          <p:cNvSpPr txBox="1"/>
          <p:nvPr/>
        </p:nvSpPr>
        <p:spPr>
          <a:xfrm>
            <a:off x="11283264" y="263366"/>
            <a:ext cx="160122"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P2</a:t>
            </a:r>
          </a:p>
        </p:txBody>
      </p:sp>
      <p:sp>
        <p:nvSpPr>
          <p:cNvPr id="11" name="TextBox 11"/>
          <p:cNvSpPr txBox="1"/>
          <p:nvPr/>
        </p:nvSpPr>
        <p:spPr>
          <a:xfrm>
            <a:off x="11199781" y="351949"/>
            <a:ext cx="395002" cy="198120"/>
          </a:xfrm>
          <a:prstGeom prst="rect">
            <a:avLst/>
          </a:prstGeom>
          <a:noFill/>
          <a:ln>
            <a:noFill/>
          </a:ln>
        </p:spPr>
        <p:txBody>
          <a:bodyPr wrap="none" lIns="0" tIns="0" rIns="0" bIns="0" anchor="t" anchorCtr="0">
            <a:spAutoFit/>
          </a:bodyPr>
          <a:lstStyle/>
          <a:p>
            <a:pPr algn="r"/>
            <a:r>
              <a:rPr lang="zh-CN" sz="975" dirty="0">
                <a:solidFill>
                  <a:srgbClr val="90A4AE"/>
                </a:solidFill>
                <a:latin typeface="Arial"/>
                <a:ea typeface="Microsoft YaHei"/>
                <a:cs typeface="Arial"/>
              </a:rPr>
              <a:t>11 / 13</a:t>
            </a:r>
          </a:p>
        </p:txBody>
      </p:sp>
      <p:sp>
        <p:nvSpPr>
          <p:cNvPr id="12" name="Freeform 12"/>
          <p:cNvSpPr/>
          <p:nvPr/>
        </p:nvSpPr>
        <p:spPr>
          <a:xfrm>
            <a:off x="800100" y="1123950"/>
            <a:ext cx="10591800" cy="400050"/>
          </a:xfrm>
          <a:custGeom>
            <a:avLst/>
            <a:gdLst/>
            <a:ahLst/>
            <a:cxnLst/>
            <a:rect l="l" t="t" r="r" b="b"/>
            <a:pathLst>
              <a:path w="10591800" h="400050">
                <a:moveTo>
                  <a:pt x="57150" y="0"/>
                </a:moveTo>
                <a:lnTo>
                  <a:pt x="10534650" y="0"/>
                </a:lnTo>
                <a:cubicBezTo>
                  <a:pt x="10566213" y="0"/>
                  <a:pt x="10591800" y="25587"/>
                  <a:pt x="10591800" y="57150"/>
                </a:cubicBezTo>
                <a:lnTo>
                  <a:pt x="10591800" y="342900"/>
                </a:lnTo>
                <a:cubicBezTo>
                  <a:pt x="10591800" y="374463"/>
                  <a:pt x="10566213" y="400050"/>
                  <a:pt x="10534650" y="400050"/>
                </a:cubicBezTo>
                <a:lnTo>
                  <a:pt x="57150" y="400050"/>
                </a:lnTo>
                <a:cubicBezTo>
                  <a:pt x="25587" y="400050"/>
                  <a:pt x="0" y="374463"/>
                  <a:pt x="0" y="342900"/>
                </a:cubicBezTo>
                <a:lnTo>
                  <a:pt x="0" y="57150"/>
                </a:lnTo>
                <a:cubicBezTo>
                  <a:pt x="0" y="25587"/>
                  <a:pt x="25587" y="0"/>
                  <a:pt x="57150" y="0"/>
                </a:cubicBezTo>
                <a:close/>
              </a:path>
            </a:pathLst>
          </a:custGeom>
          <a:solidFill>
            <a:srgbClr val="FFF7EF"/>
          </a:solidFill>
          <a:ln w="9525">
            <a:solidFill>
              <a:srgbClr val="E65100"/>
            </a:solidFill>
          </a:ln>
        </p:spPr>
      </p:sp>
      <p:sp>
        <p:nvSpPr>
          <p:cNvPr id="13" name="TextBox 13"/>
          <p:cNvSpPr txBox="1"/>
          <p:nvPr/>
        </p:nvSpPr>
        <p:spPr>
          <a:xfrm>
            <a:off x="3068324" y="1275874"/>
            <a:ext cx="6055352" cy="198120"/>
          </a:xfrm>
          <a:prstGeom prst="rect">
            <a:avLst/>
          </a:prstGeom>
          <a:noFill/>
          <a:ln>
            <a:noFill/>
          </a:ln>
        </p:spPr>
        <p:txBody>
          <a:bodyPr wrap="none" lIns="0" tIns="0" rIns="0" bIns="0" anchor="t" anchorCtr="0">
            <a:spAutoFit/>
          </a:bodyPr>
          <a:lstStyle/>
          <a:p>
            <a:pPr algn="ctr"/>
            <a:r>
              <a:rPr lang="zh-CN" sz="975" dirty="0">
                <a:solidFill>
                  <a:srgbClr val="E65100"/>
                </a:solidFill>
                <a:latin typeface="Arial"/>
                <a:ea typeface="Microsoft YaHei"/>
                <a:cs typeface="Arial"/>
              </a:rPr>
              <a:t>⚠ Valeurs de développement — non protocole final — résultats officiels sur slide suivant</a:t>
            </a:r>
          </a:p>
        </p:txBody>
      </p:sp>
      <p:sp>
        <p:nvSpPr>
          <p:cNvPr id="14" name="Freeform 14"/>
          <p:cNvSpPr/>
          <p:nvPr/>
        </p:nvSpPr>
        <p:spPr>
          <a:xfrm>
            <a:off x="800100" y="1809750"/>
            <a:ext cx="3162300" cy="2952750"/>
          </a:xfrm>
          <a:custGeom>
            <a:avLst/>
            <a:gdLst/>
            <a:ahLst/>
            <a:cxnLst/>
            <a:rect l="l" t="t" r="r" b="b"/>
            <a:pathLst>
              <a:path w="3162300" h="2952750">
                <a:moveTo>
                  <a:pt x="76200" y="0"/>
                </a:moveTo>
                <a:lnTo>
                  <a:pt x="3086100" y="0"/>
                </a:lnTo>
                <a:cubicBezTo>
                  <a:pt x="3128184" y="0"/>
                  <a:pt x="3162300" y="34116"/>
                  <a:pt x="3162300" y="76200"/>
                </a:cubicBezTo>
                <a:lnTo>
                  <a:pt x="3162300" y="2876550"/>
                </a:lnTo>
                <a:cubicBezTo>
                  <a:pt x="3162300" y="2918634"/>
                  <a:pt x="3128184" y="2952750"/>
                  <a:pt x="3086100" y="2952750"/>
                </a:cubicBezTo>
                <a:lnTo>
                  <a:pt x="76200" y="2952750"/>
                </a:lnTo>
                <a:cubicBezTo>
                  <a:pt x="34116" y="2952750"/>
                  <a:pt x="0" y="2918634"/>
                  <a:pt x="0" y="2876550"/>
                </a:cubicBezTo>
                <a:lnTo>
                  <a:pt x="0" y="76200"/>
                </a:lnTo>
                <a:cubicBezTo>
                  <a:pt x="0" y="34116"/>
                  <a:pt x="34116" y="0"/>
                  <a:pt x="76200" y="0"/>
                </a:cubicBezTo>
                <a:close/>
              </a:path>
            </a:pathLst>
          </a:custGeom>
          <a:solidFill>
            <a:srgbClr val="F5FBF6"/>
          </a:solidFill>
          <a:ln w="11430">
            <a:solidFill>
              <a:srgbClr val="43A047"/>
            </a:solidFill>
          </a:ln>
        </p:spPr>
      </p:sp>
      <p:sp>
        <p:nvSpPr>
          <p:cNvPr id="15" name="TextBox 15"/>
          <p:cNvSpPr txBox="1"/>
          <p:nvPr/>
        </p:nvSpPr>
        <p:spPr>
          <a:xfrm>
            <a:off x="1566840" y="1982152"/>
            <a:ext cx="1628820" cy="213360"/>
          </a:xfrm>
          <a:prstGeom prst="rect">
            <a:avLst/>
          </a:prstGeom>
          <a:noFill/>
          <a:ln>
            <a:noFill/>
          </a:ln>
        </p:spPr>
        <p:txBody>
          <a:bodyPr wrap="none" lIns="0" tIns="0" rIns="0" bIns="0" anchor="t" anchorCtr="0">
            <a:spAutoFit/>
          </a:bodyPr>
          <a:lstStyle/>
          <a:p>
            <a:pPr algn="ctr"/>
            <a:r>
              <a:rPr lang="zh-CN" sz="1050" b="1" dirty="0">
                <a:solidFill>
                  <a:srgbClr val="43A047"/>
                </a:solidFill>
                <a:latin typeface="Arial"/>
                <a:ea typeface="Microsoft YaHei"/>
                <a:cs typeface="Arial"/>
              </a:rPr>
              <a:t>opt24 · Halo k-major</a:t>
            </a:r>
          </a:p>
        </p:txBody>
      </p:sp>
      <p:sp>
        <p:nvSpPr>
          <p:cNvPr id="16" name="TextBox 16"/>
          <p:cNvSpPr txBox="1"/>
          <p:nvPr/>
        </p:nvSpPr>
        <p:spPr>
          <a:xfrm>
            <a:off x="1165598" y="2237899"/>
            <a:ext cx="2431304"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Consolas"/>
                <a:ea typeface="Microsoft YaHei"/>
                <a:cs typeface="Consolas"/>
              </a:rPr>
              <a:t>Packing halo réorganisé en k-major</a:t>
            </a:r>
          </a:p>
        </p:txBody>
      </p:sp>
      <p:sp>
        <p:nvSpPr>
          <p:cNvPr id="17" name="TextBox 17"/>
          <p:cNvSpPr txBox="1"/>
          <p:nvPr/>
        </p:nvSpPr>
        <p:spPr>
          <a:xfrm>
            <a:off x="1368516" y="2542699"/>
            <a:ext cx="2025467"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Accès mémoire plus réguliers</a:t>
            </a:r>
          </a:p>
        </p:txBody>
      </p:sp>
      <p:sp>
        <p:nvSpPr>
          <p:cNvPr id="18" name="TextBox 18"/>
          <p:cNvSpPr txBox="1"/>
          <p:nvPr/>
        </p:nvSpPr>
        <p:spPr>
          <a:xfrm>
            <a:off x="1108639" y="2752249"/>
            <a:ext cx="2545223"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Localité améliorée pour pack/unpack</a:t>
            </a:r>
          </a:p>
        </p:txBody>
      </p:sp>
      <p:sp>
        <p:nvSpPr>
          <p:cNvPr id="19" name="TextBox 19"/>
          <p:cNvSpPr txBox="1"/>
          <p:nvPr/>
        </p:nvSpPr>
        <p:spPr>
          <a:xfrm>
            <a:off x="845201" y="3133249"/>
            <a:ext cx="3072098"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Réorganisation cohérente avec le layout SoA</a:t>
            </a:r>
          </a:p>
        </p:txBody>
      </p:sp>
      <p:sp>
        <p:nvSpPr>
          <p:cNvPr id="20" name="Freeform 20"/>
          <p:cNvSpPr/>
          <p:nvPr/>
        </p:nvSpPr>
        <p:spPr>
          <a:xfrm>
            <a:off x="1390650" y="3505200"/>
            <a:ext cx="1981200" cy="285750"/>
          </a:xfrm>
          <a:custGeom>
            <a:avLst/>
            <a:gdLst/>
            <a:ahLst/>
            <a:cxnLst/>
            <a:rect l="l" t="t" r="r" b="b"/>
            <a:pathLst>
              <a:path w="1981200" h="285750">
                <a:moveTo>
                  <a:pt x="38100" y="0"/>
                </a:moveTo>
                <a:lnTo>
                  <a:pt x="1943100" y="0"/>
                </a:lnTo>
                <a:cubicBezTo>
                  <a:pt x="1964142" y="0"/>
                  <a:pt x="1981200" y="17058"/>
                  <a:pt x="1981200" y="38100"/>
                </a:cubicBezTo>
                <a:lnTo>
                  <a:pt x="1981200" y="247650"/>
                </a:lnTo>
                <a:cubicBezTo>
                  <a:pt x="1981200" y="268692"/>
                  <a:pt x="1964142" y="285750"/>
                  <a:pt x="1943100" y="285750"/>
                </a:cubicBezTo>
                <a:lnTo>
                  <a:pt x="38100" y="285750"/>
                </a:lnTo>
                <a:cubicBezTo>
                  <a:pt x="17058" y="285750"/>
                  <a:pt x="0" y="268692"/>
                  <a:pt x="0" y="247650"/>
                </a:cubicBezTo>
                <a:lnTo>
                  <a:pt x="0" y="38100"/>
                </a:lnTo>
                <a:cubicBezTo>
                  <a:pt x="0" y="17058"/>
                  <a:pt x="17058" y="0"/>
                  <a:pt x="38100" y="0"/>
                </a:cubicBezTo>
                <a:close/>
              </a:path>
            </a:pathLst>
          </a:custGeom>
          <a:solidFill>
            <a:srgbClr val="43A047"/>
          </a:solidFill>
          <a:ln>
            <a:noFill/>
          </a:ln>
        </p:spPr>
      </p:sp>
      <p:sp>
        <p:nvSpPr>
          <p:cNvPr id="21" name="TextBox 21"/>
          <p:cNvSpPr txBox="1"/>
          <p:nvPr/>
        </p:nvSpPr>
        <p:spPr>
          <a:xfrm>
            <a:off x="1820632" y="3590449"/>
            <a:ext cx="1121235"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Consolas"/>
                <a:ea typeface="Microsoft YaHei"/>
                <a:cs typeface="Consolas"/>
              </a:rPr>
              <a:t>832 → 905 MLUPS</a:t>
            </a:r>
          </a:p>
        </p:txBody>
      </p:sp>
      <p:sp>
        <p:nvSpPr>
          <p:cNvPr id="22" name="TextBox 22"/>
          <p:cNvSpPr txBox="1"/>
          <p:nvPr/>
        </p:nvSpPr>
        <p:spPr>
          <a:xfrm>
            <a:off x="1429036" y="3876199"/>
            <a:ext cx="1904429" cy="198120"/>
          </a:xfrm>
          <a:prstGeom prst="rect">
            <a:avLst/>
          </a:prstGeom>
          <a:noFill/>
          <a:ln>
            <a:noFill/>
          </a:ln>
        </p:spPr>
        <p:txBody>
          <a:bodyPr wrap="none" lIns="0" tIns="0" rIns="0" bIns="0" anchor="t" anchorCtr="0">
            <a:spAutoFit/>
          </a:bodyPr>
          <a:lstStyle/>
          <a:p>
            <a:pPr algn="ctr"/>
            <a:r>
              <a:rPr lang="zh-CN" sz="975" dirty="0">
                <a:solidFill>
                  <a:srgbClr val="90A4AE"/>
                </a:solidFill>
                <a:latin typeface="Arial"/>
                <a:ea typeface="Microsoft YaHei"/>
                <a:cs typeface="Arial"/>
              </a:rPr>
              <a:t>(donnée de développement)</a:t>
            </a:r>
          </a:p>
        </p:txBody>
      </p:sp>
      <p:sp>
        <p:nvSpPr>
          <p:cNvPr id="23" name="TextBox 23"/>
          <p:cNvSpPr txBox="1"/>
          <p:nvPr/>
        </p:nvSpPr>
        <p:spPr>
          <a:xfrm>
            <a:off x="1635514" y="4142899"/>
            <a:ext cx="1491472" cy="198120"/>
          </a:xfrm>
          <a:prstGeom prst="rect">
            <a:avLst/>
          </a:prstGeom>
          <a:noFill/>
          <a:ln>
            <a:noFill/>
          </a:ln>
        </p:spPr>
        <p:txBody>
          <a:bodyPr wrap="none" lIns="0" tIns="0" rIns="0" bIns="0" anchor="t" anchorCtr="0">
            <a:spAutoFit/>
          </a:bodyPr>
          <a:lstStyle/>
          <a:p>
            <a:pPr algn="ctr"/>
            <a:r>
              <a:rPr lang="zh-CN" sz="975" dirty="0">
                <a:solidFill>
                  <a:srgbClr val="90A4AE"/>
                </a:solidFill>
                <a:latin typeface="Arial"/>
                <a:ea typeface="Microsoft YaHei"/>
                <a:cs typeface="Arial"/>
              </a:rPr>
              <a:t>(non protocole final)</a:t>
            </a:r>
          </a:p>
        </p:txBody>
      </p:sp>
      <p:sp>
        <p:nvSpPr>
          <p:cNvPr id="24" name="Freeform 24"/>
          <p:cNvSpPr/>
          <p:nvPr/>
        </p:nvSpPr>
        <p:spPr>
          <a:xfrm>
            <a:off x="4514850" y="1809750"/>
            <a:ext cx="3162300" cy="2952750"/>
          </a:xfrm>
          <a:custGeom>
            <a:avLst/>
            <a:gdLst/>
            <a:ahLst/>
            <a:cxnLst/>
            <a:rect l="l" t="t" r="r" b="b"/>
            <a:pathLst>
              <a:path w="3162300" h="2952750">
                <a:moveTo>
                  <a:pt x="76200" y="0"/>
                </a:moveTo>
                <a:lnTo>
                  <a:pt x="3086100" y="0"/>
                </a:lnTo>
                <a:cubicBezTo>
                  <a:pt x="3128184" y="0"/>
                  <a:pt x="3162300" y="34116"/>
                  <a:pt x="3162300" y="76200"/>
                </a:cubicBezTo>
                <a:lnTo>
                  <a:pt x="3162300" y="2876550"/>
                </a:lnTo>
                <a:cubicBezTo>
                  <a:pt x="3162300" y="2918634"/>
                  <a:pt x="3128184" y="2952750"/>
                  <a:pt x="3086100" y="2952750"/>
                </a:cubicBezTo>
                <a:lnTo>
                  <a:pt x="76200" y="2952750"/>
                </a:lnTo>
                <a:cubicBezTo>
                  <a:pt x="34116" y="2952750"/>
                  <a:pt x="0" y="2918634"/>
                  <a:pt x="0" y="2876550"/>
                </a:cubicBezTo>
                <a:lnTo>
                  <a:pt x="0" y="76200"/>
                </a:lnTo>
                <a:cubicBezTo>
                  <a:pt x="0" y="34116"/>
                  <a:pt x="34116" y="0"/>
                  <a:pt x="76200" y="0"/>
                </a:cubicBezTo>
                <a:close/>
              </a:path>
            </a:pathLst>
          </a:custGeom>
          <a:solidFill>
            <a:srgbClr val="FFF9F2"/>
          </a:solidFill>
          <a:ln w="11430">
            <a:solidFill>
              <a:srgbClr val="F57C00"/>
            </a:solidFill>
          </a:ln>
        </p:spPr>
      </p:sp>
      <p:sp>
        <p:nvSpPr>
          <p:cNvPr id="25" name="TextBox 25"/>
          <p:cNvSpPr txBox="1"/>
          <p:nvPr/>
        </p:nvSpPr>
        <p:spPr>
          <a:xfrm>
            <a:off x="5076289" y="1982152"/>
            <a:ext cx="2039422" cy="213360"/>
          </a:xfrm>
          <a:prstGeom prst="rect">
            <a:avLst/>
          </a:prstGeom>
          <a:noFill/>
          <a:ln>
            <a:noFill/>
          </a:ln>
        </p:spPr>
        <p:txBody>
          <a:bodyPr wrap="none" lIns="0" tIns="0" rIns="0" bIns="0" anchor="t" anchorCtr="0">
            <a:spAutoFit/>
          </a:bodyPr>
          <a:lstStyle/>
          <a:p>
            <a:pPr algn="ctr"/>
            <a:r>
              <a:rPr lang="zh-CN" sz="1050" b="1" dirty="0">
                <a:solidFill>
                  <a:srgbClr val="F57C00"/>
                </a:solidFill>
                <a:latin typeface="Arial"/>
                <a:ea typeface="Microsoft YaHei"/>
                <a:cs typeface="Arial"/>
              </a:rPr>
              <a:t>opt25 · Diagnostic Waitall</a:t>
            </a:r>
          </a:p>
        </p:txBody>
      </p:sp>
      <p:sp>
        <p:nvSpPr>
          <p:cNvPr id="26" name="TextBox 26"/>
          <p:cNvSpPr txBox="1"/>
          <p:nvPr/>
        </p:nvSpPr>
        <p:spPr>
          <a:xfrm>
            <a:off x="4837628" y="2275999"/>
            <a:ext cx="2516743"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Arrivées déséquilibrées entre ranks</a:t>
            </a:r>
          </a:p>
        </p:txBody>
      </p:sp>
      <p:sp>
        <p:nvSpPr>
          <p:cNvPr id="27" name="TextBox 27"/>
          <p:cNvSpPr txBox="1"/>
          <p:nvPr/>
        </p:nvSpPr>
        <p:spPr>
          <a:xfrm>
            <a:off x="4680990" y="2485549"/>
            <a:ext cx="2830020"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Diagnostic intra-nœud : attente surtout</a:t>
            </a:r>
          </a:p>
        </p:txBody>
      </p:sp>
      <p:sp>
        <p:nvSpPr>
          <p:cNvPr id="28" name="TextBox 28"/>
          <p:cNvSpPr txBox="1"/>
          <p:nvPr/>
        </p:nvSpPr>
        <p:spPr>
          <a:xfrm>
            <a:off x="4994267" y="2847499"/>
            <a:ext cx="2203466"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due au déséquilibre entre ranks</a:t>
            </a:r>
          </a:p>
        </p:txBody>
      </p:sp>
      <p:sp>
        <p:nvSpPr>
          <p:cNvPr id="29" name="Freeform 29"/>
          <p:cNvSpPr/>
          <p:nvPr/>
        </p:nvSpPr>
        <p:spPr>
          <a:xfrm>
            <a:off x="5334000" y="3543300"/>
            <a:ext cx="1524000" cy="266700"/>
          </a:xfrm>
          <a:custGeom>
            <a:avLst/>
            <a:gdLst/>
            <a:ahLst/>
            <a:cxnLst/>
            <a:rect l="l" t="t" r="r" b="b"/>
            <a:pathLst>
              <a:path w="1524000" h="266700">
                <a:moveTo>
                  <a:pt x="38100" y="0"/>
                </a:moveTo>
                <a:lnTo>
                  <a:pt x="1485900" y="0"/>
                </a:lnTo>
                <a:cubicBezTo>
                  <a:pt x="1506942" y="0"/>
                  <a:pt x="1524000" y="17058"/>
                  <a:pt x="1524000" y="38100"/>
                </a:cubicBezTo>
                <a:lnTo>
                  <a:pt x="1524000" y="228600"/>
                </a:lnTo>
                <a:cubicBezTo>
                  <a:pt x="1524000" y="249642"/>
                  <a:pt x="1506942" y="266700"/>
                  <a:pt x="1485900" y="266700"/>
                </a:cubicBezTo>
                <a:lnTo>
                  <a:pt x="38100" y="266700"/>
                </a:lnTo>
                <a:cubicBezTo>
                  <a:pt x="17058" y="266700"/>
                  <a:pt x="0" y="249642"/>
                  <a:pt x="0" y="228600"/>
                </a:cubicBezTo>
                <a:lnTo>
                  <a:pt x="0" y="38100"/>
                </a:lnTo>
                <a:cubicBezTo>
                  <a:pt x="0" y="17058"/>
                  <a:pt x="17058" y="0"/>
                  <a:pt x="38100" y="0"/>
                </a:cubicBezTo>
                <a:close/>
              </a:path>
            </a:pathLst>
          </a:custGeom>
          <a:solidFill>
            <a:srgbClr val="F57C00"/>
          </a:solidFill>
          <a:ln>
            <a:noFill/>
          </a:ln>
        </p:spPr>
      </p:sp>
      <p:sp>
        <p:nvSpPr>
          <p:cNvPr id="30" name="TextBox 30"/>
          <p:cNvSpPr txBox="1"/>
          <p:nvPr/>
        </p:nvSpPr>
        <p:spPr>
          <a:xfrm>
            <a:off x="5567422" y="3619024"/>
            <a:ext cx="1057156"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Microsoft YaHei"/>
                <a:cs typeface="Arial"/>
              </a:rPr>
              <a:t>Diagnostic seul</a:t>
            </a:r>
          </a:p>
        </p:txBody>
      </p:sp>
      <p:sp>
        <p:nvSpPr>
          <p:cNvPr id="31" name="Freeform 31"/>
          <p:cNvSpPr/>
          <p:nvPr/>
        </p:nvSpPr>
        <p:spPr>
          <a:xfrm>
            <a:off x="8229600" y="1809750"/>
            <a:ext cx="3162300" cy="2952750"/>
          </a:xfrm>
          <a:custGeom>
            <a:avLst/>
            <a:gdLst/>
            <a:ahLst/>
            <a:cxnLst/>
            <a:rect l="l" t="t" r="r" b="b"/>
            <a:pathLst>
              <a:path w="3162300" h="2952750">
                <a:moveTo>
                  <a:pt x="76200" y="0"/>
                </a:moveTo>
                <a:lnTo>
                  <a:pt x="3086100" y="0"/>
                </a:lnTo>
                <a:cubicBezTo>
                  <a:pt x="3128184" y="0"/>
                  <a:pt x="3162300" y="34116"/>
                  <a:pt x="3162300" y="76200"/>
                </a:cubicBezTo>
                <a:lnTo>
                  <a:pt x="3162300" y="2876550"/>
                </a:lnTo>
                <a:cubicBezTo>
                  <a:pt x="3162300" y="2918634"/>
                  <a:pt x="3128184" y="2952750"/>
                  <a:pt x="3086100" y="2952750"/>
                </a:cubicBezTo>
                <a:lnTo>
                  <a:pt x="76200" y="2952750"/>
                </a:lnTo>
                <a:cubicBezTo>
                  <a:pt x="34116" y="2952750"/>
                  <a:pt x="0" y="2918634"/>
                  <a:pt x="0" y="2876550"/>
                </a:cubicBezTo>
                <a:lnTo>
                  <a:pt x="0" y="76200"/>
                </a:lnTo>
                <a:cubicBezTo>
                  <a:pt x="0" y="34116"/>
                  <a:pt x="34116" y="0"/>
                  <a:pt x="76200" y="0"/>
                </a:cubicBezTo>
                <a:close/>
              </a:path>
            </a:pathLst>
          </a:custGeom>
          <a:solidFill>
            <a:srgbClr val="F7F3FB"/>
          </a:solidFill>
          <a:ln w="11430">
            <a:solidFill>
              <a:srgbClr val="8E24AA"/>
            </a:solidFill>
          </a:ln>
        </p:spPr>
      </p:sp>
      <p:sp>
        <p:nvSpPr>
          <p:cNvPr id="32" name="TextBox 32"/>
          <p:cNvSpPr txBox="1"/>
          <p:nvPr/>
        </p:nvSpPr>
        <p:spPr>
          <a:xfrm>
            <a:off x="8778963" y="1982152"/>
            <a:ext cx="2063575" cy="213360"/>
          </a:xfrm>
          <a:prstGeom prst="rect">
            <a:avLst/>
          </a:prstGeom>
          <a:noFill/>
          <a:ln>
            <a:noFill/>
          </a:ln>
        </p:spPr>
        <p:txBody>
          <a:bodyPr wrap="none" lIns="0" tIns="0" rIns="0" bIns="0" anchor="t" anchorCtr="0">
            <a:spAutoFit/>
          </a:bodyPr>
          <a:lstStyle/>
          <a:p>
            <a:pPr algn="ctr"/>
            <a:r>
              <a:rPr lang="zh-CN" sz="1050" b="1" dirty="0">
                <a:solidFill>
                  <a:srgbClr val="8E24AA"/>
                </a:solidFill>
                <a:latin typeface="Arial"/>
                <a:ea typeface="Microsoft YaHei"/>
                <a:cs typeface="Arial"/>
              </a:rPr>
              <a:t>opt26 · Région OMP unique</a:t>
            </a:r>
          </a:p>
        </p:txBody>
      </p:sp>
      <p:sp>
        <p:nvSpPr>
          <p:cNvPr id="33" name="TextBox 33"/>
          <p:cNvSpPr txBox="1"/>
          <p:nvPr/>
        </p:nvSpPr>
        <p:spPr>
          <a:xfrm>
            <a:off x="9075694" y="2275999"/>
            <a:ext cx="1470112"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Consolas"/>
                <a:ea typeface="Microsoft YaHei"/>
                <a:cs typeface="Consolas"/>
              </a:rPr>
              <a:t>#pragma omp parallel</a:t>
            </a:r>
          </a:p>
        </p:txBody>
      </p:sp>
      <p:sp>
        <p:nvSpPr>
          <p:cNvPr id="34" name="TextBox 34"/>
          <p:cNvSpPr txBox="1"/>
          <p:nvPr/>
        </p:nvSpPr>
        <p:spPr>
          <a:xfrm>
            <a:off x="8822936" y="2485549"/>
            <a:ext cx="1975628"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Une région OpenMP regroupe</a:t>
            </a:r>
          </a:p>
        </p:txBody>
      </p:sp>
      <p:sp>
        <p:nvSpPr>
          <p:cNvPr id="35" name="TextBox 35"/>
          <p:cNvSpPr txBox="1"/>
          <p:nvPr/>
        </p:nvSpPr>
        <p:spPr>
          <a:xfrm>
            <a:off x="8726817" y="2847499"/>
            <a:ext cx="2167866"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les phases d’un même timestep</a:t>
            </a:r>
          </a:p>
        </p:txBody>
      </p:sp>
      <p:sp>
        <p:nvSpPr>
          <p:cNvPr id="36" name="TextBox 36"/>
          <p:cNvSpPr txBox="1"/>
          <p:nvPr/>
        </p:nvSpPr>
        <p:spPr>
          <a:xfrm>
            <a:off x="8591538" y="3057049"/>
            <a:ext cx="2438424"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gain limité · structure plus propre</a:t>
            </a:r>
          </a:p>
        </p:txBody>
      </p:sp>
      <p:sp>
        <p:nvSpPr>
          <p:cNvPr id="37" name="Freeform 37"/>
          <p:cNvSpPr/>
          <p:nvPr/>
        </p:nvSpPr>
        <p:spPr>
          <a:xfrm>
            <a:off x="8858250" y="3543300"/>
            <a:ext cx="1905000" cy="266700"/>
          </a:xfrm>
          <a:custGeom>
            <a:avLst/>
            <a:gdLst/>
            <a:ahLst/>
            <a:cxnLst/>
            <a:rect l="l" t="t" r="r" b="b"/>
            <a:pathLst>
              <a:path w="1905000" h="266700">
                <a:moveTo>
                  <a:pt x="38100" y="0"/>
                </a:moveTo>
                <a:lnTo>
                  <a:pt x="1866900" y="0"/>
                </a:lnTo>
                <a:cubicBezTo>
                  <a:pt x="1887942" y="0"/>
                  <a:pt x="1905000" y="17058"/>
                  <a:pt x="1905000" y="38100"/>
                </a:cubicBezTo>
                <a:lnTo>
                  <a:pt x="1905000" y="228600"/>
                </a:lnTo>
                <a:cubicBezTo>
                  <a:pt x="1905000" y="249642"/>
                  <a:pt x="1887942" y="266700"/>
                  <a:pt x="1866900" y="266700"/>
                </a:cubicBezTo>
                <a:lnTo>
                  <a:pt x="38100" y="266700"/>
                </a:lnTo>
                <a:cubicBezTo>
                  <a:pt x="17058" y="266700"/>
                  <a:pt x="0" y="249642"/>
                  <a:pt x="0" y="228600"/>
                </a:cubicBezTo>
                <a:lnTo>
                  <a:pt x="0" y="38100"/>
                </a:lnTo>
                <a:cubicBezTo>
                  <a:pt x="0" y="17058"/>
                  <a:pt x="17058" y="0"/>
                  <a:pt x="38100" y="0"/>
                </a:cubicBezTo>
                <a:close/>
              </a:path>
            </a:pathLst>
          </a:custGeom>
          <a:solidFill>
            <a:srgbClr val="8E24AA"/>
          </a:solidFill>
          <a:ln>
            <a:noFill/>
          </a:ln>
        </p:spPr>
      </p:sp>
      <p:sp>
        <p:nvSpPr>
          <p:cNvPr id="38" name="TextBox 38"/>
          <p:cNvSpPr txBox="1"/>
          <p:nvPr/>
        </p:nvSpPr>
        <p:spPr>
          <a:xfrm>
            <a:off x="9089934" y="3619024"/>
            <a:ext cx="1441633"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Microsoft YaHei"/>
                <a:cs typeface="Arial"/>
              </a:rPr>
              <a:t>Architecture propre</a:t>
            </a:r>
          </a:p>
        </p:txBody>
      </p:sp>
      <p:sp>
        <p:nvSpPr>
          <p:cNvPr id="39" name="TextBox 39"/>
          <p:cNvSpPr txBox="1"/>
          <p:nvPr/>
        </p:nvSpPr>
        <p:spPr>
          <a:xfrm>
            <a:off x="3214283" y="5666899"/>
            <a:ext cx="5763435" cy="198120"/>
          </a:xfrm>
          <a:prstGeom prst="rect">
            <a:avLst/>
          </a:prstGeom>
          <a:noFill/>
          <a:ln>
            <a:noFill/>
          </a:ln>
        </p:spPr>
        <p:txBody>
          <a:bodyPr wrap="none" lIns="0" tIns="0" rIns="0" bIns="0" anchor="t" anchorCtr="0">
            <a:spAutoFit/>
          </a:bodyPr>
          <a:lstStyle/>
          <a:p>
            <a:pPr algn="ctr"/>
            <a:r>
              <a:rPr lang="zh-CN" sz="975" dirty="0">
                <a:solidFill>
                  <a:srgbClr val="90A4AE"/>
                </a:solidFill>
                <a:latin typeface="Arial"/>
                <a:ea typeface="Microsoft YaHei"/>
                <a:cs typeface="Arial"/>
              </a:rPr>
              <a:t>Valeurs de développement (sans verrou CPU) · résultats officiels sur slide suivant</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6200"/>
          </a:xfrm>
          <a:prstGeom prst="rect">
            <a:avLst/>
          </a:prstGeom>
          <a:solidFill>
            <a:srgbClr val="1565C0"/>
          </a:solidFill>
          <a:ln>
            <a:noFill/>
          </a:ln>
        </p:spPr>
      </p:sp>
      <p:sp>
        <p:nvSpPr>
          <p:cNvPr id="4" name="Rectangle 4"/>
          <p:cNvSpPr/>
          <p:nvPr/>
        </p:nvSpPr>
        <p:spPr>
          <a:xfrm>
            <a:off x="0" y="76200"/>
            <a:ext cx="12192000" cy="685800"/>
          </a:xfrm>
          <a:prstGeom prst="rect">
            <a:avLst/>
          </a:prstGeom>
          <a:solidFill>
            <a:srgbClr val="F4F7FA"/>
          </a:solidFill>
          <a:ln>
            <a:noFill/>
          </a:ln>
        </p:spPr>
      </p:sp>
      <p:sp>
        <p:nvSpPr>
          <p:cNvPr id="5" name="Line 5"/>
          <p:cNvSpPr/>
          <p:nvPr/>
        </p:nvSpPr>
        <p:spPr>
          <a:xfrm>
            <a:off x="0" y="762000"/>
            <a:ext cx="12192000" cy="9525"/>
          </a:xfrm>
          <a:custGeom>
            <a:avLst/>
            <a:gdLst/>
            <a:ahLst/>
            <a:cxnLst/>
            <a:rect l="l" t="t" r="r" b="b"/>
            <a:pathLst>
              <a:path w="12192000" h="9525">
                <a:moveTo>
                  <a:pt x="0" y="0"/>
                </a:moveTo>
                <a:lnTo>
                  <a:pt x="12192000" y="0"/>
                </a:lnTo>
              </a:path>
            </a:pathLst>
          </a:custGeom>
          <a:noFill/>
          <a:ln w="9525">
            <a:solidFill>
              <a:srgbClr val="CFD8DC"/>
            </a:solidFill>
          </a:ln>
        </p:spPr>
      </p:sp>
      <p:sp>
        <p:nvSpPr>
          <p:cNvPr id="6" name="Freeform 6"/>
          <p:cNvSpPr/>
          <p:nvPr/>
        </p:nvSpPr>
        <p:spPr>
          <a:xfrm>
            <a:off x="609600" y="228600"/>
            <a:ext cx="47625" cy="304800"/>
          </a:xfrm>
          <a:custGeom>
            <a:avLst/>
            <a:gdLst/>
            <a:ahLst/>
            <a:cxnLst/>
            <a:rect l="l" t="t" r="r" b="b"/>
            <a:pathLst>
              <a:path w="47625" h="304800">
                <a:moveTo>
                  <a:pt x="19050" y="0"/>
                </a:moveTo>
                <a:lnTo>
                  <a:pt x="28575" y="0"/>
                </a:lnTo>
                <a:cubicBezTo>
                  <a:pt x="39096" y="0"/>
                  <a:pt x="47625" y="8529"/>
                  <a:pt x="47625" y="19050"/>
                </a:cubicBezTo>
                <a:lnTo>
                  <a:pt x="47625" y="285750"/>
                </a:lnTo>
                <a:cubicBezTo>
                  <a:pt x="47625" y="296271"/>
                  <a:pt x="39096" y="304800"/>
                  <a:pt x="28575" y="304800"/>
                </a:cubicBezTo>
                <a:lnTo>
                  <a:pt x="19050" y="304800"/>
                </a:lnTo>
                <a:cubicBezTo>
                  <a:pt x="8529" y="304800"/>
                  <a:pt x="0" y="296271"/>
                  <a:pt x="0" y="285750"/>
                </a:cubicBezTo>
                <a:lnTo>
                  <a:pt x="0" y="19050"/>
                </a:lnTo>
                <a:cubicBezTo>
                  <a:pt x="0" y="8529"/>
                  <a:pt x="8529" y="0"/>
                  <a:pt x="19050" y="0"/>
                </a:cubicBezTo>
                <a:close/>
              </a:path>
            </a:pathLst>
          </a:custGeom>
          <a:solidFill>
            <a:srgbClr val="2E7D32"/>
          </a:solidFill>
          <a:ln>
            <a:noFill/>
          </a:ln>
        </p:spPr>
      </p:sp>
      <p:sp>
        <p:nvSpPr>
          <p:cNvPr id="7" name="TextBox 7"/>
          <p:cNvSpPr txBox="1"/>
          <p:nvPr/>
        </p:nvSpPr>
        <p:spPr>
          <a:xfrm>
            <a:off x="741045" y="183832"/>
            <a:ext cx="4343448" cy="335280"/>
          </a:xfrm>
          <a:prstGeom prst="rect">
            <a:avLst/>
          </a:prstGeom>
          <a:noFill/>
          <a:ln>
            <a:noFill/>
          </a:ln>
        </p:spPr>
        <p:txBody>
          <a:bodyPr wrap="none" lIns="0" tIns="0" rIns="0" bIns="0" anchor="t" anchorCtr="0">
            <a:spAutoFit/>
          </a:bodyPr>
          <a:lstStyle/>
          <a:p>
            <a:pPr algn="l"/>
            <a:r>
              <a:rPr lang="zh-CN" sz="1650" b="1" dirty="0">
                <a:solidFill>
                  <a:srgbClr val="2E7D32"/>
                </a:solidFill>
                <a:latin typeface="Arial"/>
                <a:ea typeface="Microsoft YaHei"/>
                <a:cs typeface="Arial"/>
              </a:rPr>
              <a:t>Résultats finaux · Protocole unifié</a:t>
            </a:r>
          </a:p>
        </p:txBody>
      </p:sp>
      <p:sp>
        <p:nvSpPr>
          <p:cNvPr id="8" name="Freeform 8"/>
          <p:cNvSpPr/>
          <p:nvPr/>
        </p:nvSpPr>
        <p:spPr>
          <a:xfrm>
            <a:off x="11144250" y="228600"/>
            <a:ext cx="438150" cy="171450"/>
          </a:xfrm>
          <a:custGeom>
            <a:avLst/>
            <a:gdLst/>
            <a:ahLst/>
            <a:cxnLst/>
            <a:rect l="l" t="t" r="r" b="b"/>
            <a:pathLst>
              <a:path w="438150" h="171450">
                <a:moveTo>
                  <a:pt x="38100" y="0"/>
                </a:moveTo>
                <a:lnTo>
                  <a:pt x="400050" y="0"/>
                </a:lnTo>
                <a:cubicBezTo>
                  <a:pt x="421092" y="0"/>
                  <a:pt x="438150" y="17058"/>
                  <a:pt x="438150" y="38100"/>
                </a:cubicBezTo>
                <a:lnTo>
                  <a:pt x="438150" y="133350"/>
                </a:lnTo>
                <a:cubicBezTo>
                  <a:pt x="438150" y="154392"/>
                  <a:pt x="421092" y="171450"/>
                  <a:pt x="400050" y="171450"/>
                </a:cubicBezTo>
                <a:lnTo>
                  <a:pt x="38100" y="171450"/>
                </a:lnTo>
                <a:cubicBezTo>
                  <a:pt x="17058" y="171450"/>
                  <a:pt x="0" y="154392"/>
                  <a:pt x="0" y="133350"/>
                </a:cubicBezTo>
                <a:lnTo>
                  <a:pt x="0" y="38100"/>
                </a:lnTo>
                <a:cubicBezTo>
                  <a:pt x="0" y="17058"/>
                  <a:pt x="17058" y="0"/>
                  <a:pt x="38100" y="0"/>
                </a:cubicBezTo>
                <a:close/>
              </a:path>
            </a:pathLst>
          </a:custGeom>
          <a:solidFill>
            <a:srgbClr val="2E7D32"/>
          </a:solidFill>
          <a:ln>
            <a:noFill/>
          </a:ln>
        </p:spPr>
      </p:sp>
      <p:sp>
        <p:nvSpPr>
          <p:cNvPr id="9" name="TextBox 9"/>
          <p:cNvSpPr txBox="1"/>
          <p:nvPr/>
        </p:nvSpPr>
        <p:spPr>
          <a:xfrm>
            <a:off x="11283264" y="263366"/>
            <a:ext cx="160122"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P2</a:t>
            </a:r>
          </a:p>
        </p:txBody>
      </p:sp>
      <p:sp>
        <p:nvSpPr>
          <p:cNvPr id="10" name="TextBox 10"/>
          <p:cNvSpPr txBox="1"/>
          <p:nvPr/>
        </p:nvSpPr>
        <p:spPr>
          <a:xfrm>
            <a:off x="11164181" y="351949"/>
            <a:ext cx="430601" cy="198120"/>
          </a:xfrm>
          <a:prstGeom prst="rect">
            <a:avLst/>
          </a:prstGeom>
          <a:noFill/>
          <a:ln>
            <a:noFill/>
          </a:ln>
        </p:spPr>
        <p:txBody>
          <a:bodyPr wrap="none" lIns="0" tIns="0" rIns="0" bIns="0" anchor="t" anchorCtr="0">
            <a:spAutoFit/>
          </a:bodyPr>
          <a:lstStyle/>
          <a:p>
            <a:pPr algn="r"/>
            <a:r>
              <a:rPr lang="zh-CN" sz="975" dirty="0">
                <a:solidFill>
                  <a:srgbClr val="90A4AE"/>
                </a:solidFill>
                <a:latin typeface="Arial"/>
                <a:ea typeface="Microsoft YaHei"/>
                <a:cs typeface="Arial"/>
              </a:rPr>
              <a:t>12 / 13</a:t>
            </a:r>
          </a:p>
        </p:txBody>
      </p:sp>
      <p:sp>
        <p:nvSpPr>
          <p:cNvPr id="11" name="Freeform 11"/>
          <p:cNvSpPr/>
          <p:nvPr/>
        </p:nvSpPr>
        <p:spPr>
          <a:xfrm>
            <a:off x="952500" y="1181100"/>
            <a:ext cx="5105400" cy="3752850"/>
          </a:xfrm>
          <a:custGeom>
            <a:avLst/>
            <a:gdLst/>
            <a:ahLst/>
            <a:cxnLst/>
            <a:rect l="l" t="t" r="r" b="b"/>
            <a:pathLst>
              <a:path w="5105400" h="3752850">
                <a:moveTo>
                  <a:pt x="76200" y="0"/>
                </a:moveTo>
                <a:lnTo>
                  <a:pt x="5029200" y="0"/>
                </a:lnTo>
                <a:cubicBezTo>
                  <a:pt x="5071284" y="0"/>
                  <a:pt x="5105400" y="34116"/>
                  <a:pt x="5105400" y="76200"/>
                </a:cubicBezTo>
                <a:lnTo>
                  <a:pt x="5105400" y="3676650"/>
                </a:lnTo>
                <a:cubicBezTo>
                  <a:pt x="5105400" y="3718734"/>
                  <a:pt x="5071284" y="3752850"/>
                  <a:pt x="5029200" y="3752850"/>
                </a:cubicBezTo>
                <a:lnTo>
                  <a:pt x="76200" y="3752850"/>
                </a:lnTo>
                <a:cubicBezTo>
                  <a:pt x="34116" y="3752850"/>
                  <a:pt x="0" y="3718734"/>
                  <a:pt x="0" y="3676650"/>
                </a:cubicBezTo>
                <a:lnTo>
                  <a:pt x="0" y="76200"/>
                </a:lnTo>
                <a:cubicBezTo>
                  <a:pt x="0" y="34116"/>
                  <a:pt x="34116" y="0"/>
                  <a:pt x="76200" y="0"/>
                </a:cubicBezTo>
                <a:close/>
              </a:path>
            </a:pathLst>
          </a:custGeom>
          <a:solidFill>
            <a:srgbClr val="FFFFFF"/>
          </a:solidFill>
          <a:ln w="9525">
            <a:solidFill>
              <a:srgbClr val="CFD8DC"/>
            </a:solidFill>
          </a:ln>
        </p:spPr>
      </p:sp>
      <p:sp>
        <p:nvSpPr>
          <p:cNvPr id="12" name="Rectangle 12"/>
          <p:cNvSpPr/>
          <p:nvPr/>
        </p:nvSpPr>
        <p:spPr>
          <a:xfrm>
            <a:off x="952500" y="1181100"/>
            <a:ext cx="5105400" cy="342900"/>
          </a:xfrm>
          <a:prstGeom prst="rect">
            <a:avLst/>
          </a:prstGeom>
          <a:solidFill>
            <a:srgbClr val="1565C0"/>
          </a:solidFill>
          <a:ln>
            <a:noFill/>
          </a:ln>
        </p:spPr>
      </p:sp>
      <p:sp>
        <p:nvSpPr>
          <p:cNvPr id="13" name="TextBox 13"/>
          <p:cNvSpPr txBox="1"/>
          <p:nvPr/>
        </p:nvSpPr>
        <p:spPr>
          <a:xfrm>
            <a:off x="1416368" y="1294924"/>
            <a:ext cx="181404" cy="198120"/>
          </a:xfrm>
          <a:prstGeom prst="rect">
            <a:avLst/>
          </a:prstGeom>
          <a:noFill/>
          <a:ln>
            <a:noFill/>
          </a:ln>
        </p:spPr>
        <p:txBody>
          <a:bodyPr wrap="none" lIns="0" tIns="0" rIns="0" bIns="0" anchor="t" anchorCtr="0">
            <a:spAutoFit/>
          </a:bodyPr>
          <a:lstStyle/>
          <a:p>
            <a:pPr algn="l"/>
            <a:r>
              <a:rPr lang="zh-CN" sz="975" dirty="0">
                <a:solidFill>
                  <a:srgbClr val="FFFFFF"/>
                </a:solidFill>
                <a:latin typeface="Consolas"/>
                <a:ea typeface="Microsoft YaHei"/>
                <a:cs typeface="Consolas"/>
              </a:rPr>
              <a:t>np</a:t>
            </a:r>
          </a:p>
        </p:txBody>
      </p:sp>
      <p:sp>
        <p:nvSpPr>
          <p:cNvPr id="14" name="TextBox 14"/>
          <p:cNvSpPr txBox="1"/>
          <p:nvPr/>
        </p:nvSpPr>
        <p:spPr>
          <a:xfrm>
            <a:off x="2254568" y="1294924"/>
            <a:ext cx="316682" cy="198120"/>
          </a:xfrm>
          <a:prstGeom prst="rect">
            <a:avLst/>
          </a:prstGeom>
          <a:noFill/>
          <a:ln>
            <a:noFill/>
          </a:ln>
        </p:spPr>
        <p:txBody>
          <a:bodyPr wrap="none" lIns="0" tIns="0" rIns="0" bIns="0" anchor="t" anchorCtr="0">
            <a:spAutoFit/>
          </a:bodyPr>
          <a:lstStyle/>
          <a:p>
            <a:pPr algn="l"/>
            <a:r>
              <a:rPr lang="zh-CN" sz="975" dirty="0">
                <a:solidFill>
                  <a:srgbClr val="FFFFFF"/>
                </a:solidFill>
                <a:latin typeface="Consolas"/>
                <a:ea typeface="Microsoft YaHei"/>
                <a:cs typeface="Consolas"/>
              </a:rPr>
              <a:t>OMP</a:t>
            </a:r>
          </a:p>
        </p:txBody>
      </p:sp>
      <p:sp>
        <p:nvSpPr>
          <p:cNvPr id="15" name="TextBox 15"/>
          <p:cNvSpPr txBox="1"/>
          <p:nvPr/>
        </p:nvSpPr>
        <p:spPr>
          <a:xfrm>
            <a:off x="3207068" y="1294924"/>
            <a:ext cx="444841" cy="198120"/>
          </a:xfrm>
          <a:prstGeom prst="rect">
            <a:avLst/>
          </a:prstGeom>
          <a:noFill/>
          <a:ln>
            <a:noFill/>
          </a:ln>
        </p:spPr>
        <p:txBody>
          <a:bodyPr wrap="none" lIns="0" tIns="0" rIns="0" bIns="0" anchor="t" anchorCtr="0">
            <a:spAutoFit/>
          </a:bodyPr>
          <a:lstStyle/>
          <a:p>
            <a:pPr algn="l"/>
            <a:r>
              <a:rPr lang="zh-CN" sz="975" dirty="0">
                <a:solidFill>
                  <a:srgbClr val="FFFFFF"/>
                </a:solidFill>
                <a:latin typeface="Consolas"/>
                <a:ea typeface="Microsoft YaHei"/>
                <a:cs typeface="Consolas"/>
              </a:rPr>
              <a:t>MLUPS</a:t>
            </a:r>
          </a:p>
        </p:txBody>
      </p:sp>
      <p:sp>
        <p:nvSpPr>
          <p:cNvPr id="16" name="TextBox 16"/>
          <p:cNvSpPr txBox="1"/>
          <p:nvPr/>
        </p:nvSpPr>
        <p:spPr>
          <a:xfrm>
            <a:off x="4369118" y="1294924"/>
            <a:ext cx="338042" cy="198120"/>
          </a:xfrm>
          <a:prstGeom prst="rect">
            <a:avLst/>
          </a:prstGeom>
          <a:noFill/>
          <a:ln>
            <a:noFill/>
          </a:ln>
        </p:spPr>
        <p:txBody>
          <a:bodyPr wrap="none" lIns="0" tIns="0" rIns="0" bIns="0" anchor="t" anchorCtr="0">
            <a:spAutoFit/>
          </a:bodyPr>
          <a:lstStyle/>
          <a:p>
            <a:pPr algn="l"/>
            <a:r>
              <a:rPr lang="zh-CN" sz="975" dirty="0">
                <a:solidFill>
                  <a:srgbClr val="FFFFFF"/>
                </a:solidFill>
                <a:latin typeface="Consolas"/>
                <a:ea typeface="Microsoft YaHei"/>
                <a:cs typeface="Consolas"/>
              </a:rPr>
              <a:t>Note</a:t>
            </a:r>
          </a:p>
        </p:txBody>
      </p:sp>
      <p:sp>
        <p:nvSpPr>
          <p:cNvPr id="17" name="TextBox 17"/>
          <p:cNvSpPr txBox="1"/>
          <p:nvPr/>
        </p:nvSpPr>
        <p:spPr>
          <a:xfrm>
            <a:off x="1435418" y="1875949"/>
            <a:ext cx="67485" cy="198120"/>
          </a:xfrm>
          <a:prstGeom prst="rect">
            <a:avLst/>
          </a:prstGeom>
          <a:noFill/>
          <a:ln>
            <a:noFill/>
          </a:ln>
        </p:spPr>
        <p:txBody>
          <a:bodyPr wrap="none" lIns="0" tIns="0" rIns="0" bIns="0" anchor="t" anchorCtr="0">
            <a:spAutoFit/>
          </a:bodyPr>
          <a:lstStyle/>
          <a:p>
            <a:pPr algn="l"/>
            <a:r>
              <a:rPr lang="zh-CN" sz="975" dirty="0">
                <a:solidFill>
                  <a:srgbClr val="1A2332"/>
                </a:solidFill>
                <a:latin typeface="Consolas"/>
                <a:ea typeface="Microsoft YaHei"/>
                <a:cs typeface="Consolas"/>
              </a:rPr>
              <a:t>1</a:t>
            </a:r>
          </a:p>
        </p:txBody>
      </p:sp>
      <p:sp>
        <p:nvSpPr>
          <p:cNvPr id="18" name="TextBox 18"/>
          <p:cNvSpPr txBox="1"/>
          <p:nvPr/>
        </p:nvSpPr>
        <p:spPr>
          <a:xfrm>
            <a:off x="2273618" y="1875949"/>
            <a:ext cx="103084" cy="198120"/>
          </a:xfrm>
          <a:prstGeom prst="rect">
            <a:avLst/>
          </a:prstGeom>
          <a:noFill/>
          <a:ln>
            <a:noFill/>
          </a:ln>
        </p:spPr>
        <p:txBody>
          <a:bodyPr wrap="none" lIns="0" tIns="0" rIns="0" bIns="0" anchor="t" anchorCtr="0">
            <a:spAutoFit/>
          </a:bodyPr>
          <a:lstStyle/>
          <a:p>
            <a:pPr algn="l"/>
            <a:r>
              <a:rPr lang="zh-CN" sz="975" dirty="0">
                <a:solidFill>
                  <a:srgbClr val="1A2332"/>
                </a:solidFill>
                <a:latin typeface="Consolas"/>
                <a:ea typeface="Microsoft YaHei"/>
                <a:cs typeface="Consolas"/>
              </a:rPr>
              <a:t>4</a:t>
            </a:r>
          </a:p>
        </p:txBody>
      </p:sp>
      <p:sp>
        <p:nvSpPr>
          <p:cNvPr id="19" name="TextBox 19"/>
          <p:cNvSpPr txBox="1"/>
          <p:nvPr/>
        </p:nvSpPr>
        <p:spPr>
          <a:xfrm>
            <a:off x="3207068" y="1875949"/>
            <a:ext cx="259723" cy="198120"/>
          </a:xfrm>
          <a:prstGeom prst="rect">
            <a:avLst/>
          </a:prstGeom>
          <a:noFill/>
          <a:ln>
            <a:noFill/>
          </a:ln>
        </p:spPr>
        <p:txBody>
          <a:bodyPr wrap="none" lIns="0" tIns="0" rIns="0" bIns="0" anchor="t" anchorCtr="0">
            <a:spAutoFit/>
          </a:bodyPr>
          <a:lstStyle/>
          <a:p>
            <a:pPr algn="l"/>
            <a:r>
              <a:rPr lang="zh-CN" sz="975" dirty="0">
                <a:solidFill>
                  <a:srgbClr val="1A2332"/>
                </a:solidFill>
                <a:latin typeface="Consolas"/>
                <a:ea typeface="Microsoft YaHei"/>
                <a:cs typeface="Consolas"/>
              </a:rPr>
              <a:t>898</a:t>
            </a:r>
          </a:p>
        </p:txBody>
      </p:sp>
      <p:sp>
        <p:nvSpPr>
          <p:cNvPr id="20" name="TextBox 20"/>
          <p:cNvSpPr txBox="1"/>
          <p:nvPr/>
        </p:nvSpPr>
        <p:spPr>
          <a:xfrm>
            <a:off x="4369118" y="1875949"/>
            <a:ext cx="103084" cy="198120"/>
          </a:xfrm>
          <a:prstGeom prst="rect">
            <a:avLst/>
          </a:prstGeom>
          <a:noFill/>
          <a:ln>
            <a:noFill/>
          </a:ln>
        </p:spPr>
        <p:txBody>
          <a:bodyPr wrap="none" lIns="0" tIns="0" rIns="0" bIns="0" anchor="t" anchorCtr="0">
            <a:spAutoFit/>
          </a:bodyPr>
          <a:lstStyle/>
          <a:p>
            <a:pPr algn="l"/>
            <a:r>
              <a:rPr lang="zh-CN" sz="975" dirty="0">
                <a:solidFill>
                  <a:srgbClr val="546E7A"/>
                </a:solidFill>
                <a:latin typeface="Arial"/>
                <a:ea typeface="Microsoft YaHei"/>
                <a:cs typeface="Arial"/>
              </a:rPr>
              <a:t>—</a:t>
            </a:r>
          </a:p>
        </p:txBody>
      </p:sp>
      <p:sp>
        <p:nvSpPr>
          <p:cNvPr id="21" name="Rectangle 21"/>
          <p:cNvSpPr/>
          <p:nvPr/>
        </p:nvSpPr>
        <p:spPr>
          <a:xfrm>
            <a:off x="952500" y="2209800"/>
            <a:ext cx="5105400" cy="381000"/>
          </a:xfrm>
          <a:prstGeom prst="rect">
            <a:avLst/>
          </a:prstGeom>
          <a:solidFill>
            <a:srgbClr val="FFF4E6"/>
          </a:solidFill>
          <a:ln>
            <a:noFill/>
          </a:ln>
        </p:spPr>
      </p:sp>
      <p:sp>
        <p:nvSpPr>
          <p:cNvPr id="22" name="TextBox 22"/>
          <p:cNvSpPr txBox="1"/>
          <p:nvPr/>
        </p:nvSpPr>
        <p:spPr>
          <a:xfrm>
            <a:off x="1435418" y="2352199"/>
            <a:ext cx="67485" cy="198120"/>
          </a:xfrm>
          <a:prstGeom prst="rect">
            <a:avLst/>
          </a:prstGeom>
          <a:noFill/>
          <a:ln>
            <a:noFill/>
          </a:ln>
        </p:spPr>
        <p:txBody>
          <a:bodyPr wrap="none" lIns="0" tIns="0" rIns="0" bIns="0" anchor="t" anchorCtr="0">
            <a:spAutoFit/>
          </a:bodyPr>
          <a:lstStyle/>
          <a:p>
            <a:pPr algn="l"/>
            <a:r>
              <a:rPr lang="zh-CN" sz="975" dirty="0">
                <a:solidFill>
                  <a:srgbClr val="1A2332"/>
                </a:solidFill>
                <a:latin typeface="Consolas"/>
                <a:ea typeface="Microsoft YaHei"/>
                <a:cs typeface="Consolas"/>
              </a:rPr>
              <a:t>1</a:t>
            </a:r>
          </a:p>
        </p:txBody>
      </p:sp>
      <p:sp>
        <p:nvSpPr>
          <p:cNvPr id="23" name="TextBox 23"/>
          <p:cNvSpPr txBox="1"/>
          <p:nvPr/>
        </p:nvSpPr>
        <p:spPr>
          <a:xfrm>
            <a:off x="2273618" y="2352199"/>
            <a:ext cx="145804" cy="198120"/>
          </a:xfrm>
          <a:prstGeom prst="rect">
            <a:avLst/>
          </a:prstGeom>
          <a:noFill/>
          <a:ln>
            <a:noFill/>
          </a:ln>
        </p:spPr>
        <p:txBody>
          <a:bodyPr wrap="none" lIns="0" tIns="0" rIns="0" bIns="0" anchor="t" anchorCtr="0">
            <a:spAutoFit/>
          </a:bodyPr>
          <a:lstStyle/>
          <a:p>
            <a:pPr algn="l"/>
            <a:r>
              <a:rPr lang="zh-CN" sz="975" dirty="0">
                <a:solidFill>
                  <a:srgbClr val="1A2332"/>
                </a:solidFill>
                <a:latin typeface="Consolas"/>
                <a:ea typeface="Microsoft YaHei"/>
                <a:cs typeface="Consolas"/>
              </a:rPr>
              <a:t>16</a:t>
            </a:r>
          </a:p>
        </p:txBody>
      </p:sp>
      <p:sp>
        <p:nvSpPr>
          <p:cNvPr id="24" name="TextBox 24"/>
          <p:cNvSpPr txBox="1"/>
          <p:nvPr/>
        </p:nvSpPr>
        <p:spPr>
          <a:xfrm>
            <a:off x="3207068" y="2352199"/>
            <a:ext cx="353706" cy="198120"/>
          </a:xfrm>
          <a:prstGeom prst="rect">
            <a:avLst/>
          </a:prstGeom>
          <a:noFill/>
          <a:ln>
            <a:noFill/>
          </a:ln>
        </p:spPr>
        <p:txBody>
          <a:bodyPr wrap="none" lIns="0" tIns="0" rIns="0" bIns="0" anchor="t" anchorCtr="0">
            <a:spAutoFit/>
          </a:bodyPr>
          <a:lstStyle/>
          <a:p>
            <a:pPr algn="l"/>
            <a:r>
              <a:rPr lang="zh-CN" sz="975" b="1" dirty="0">
                <a:solidFill>
                  <a:srgbClr val="E65100"/>
                </a:solidFill>
                <a:latin typeface="Consolas"/>
                <a:ea typeface="Microsoft YaHei"/>
                <a:cs typeface="Consolas"/>
              </a:rPr>
              <a:t>2047</a:t>
            </a:r>
          </a:p>
        </p:txBody>
      </p:sp>
      <p:sp>
        <p:nvSpPr>
          <p:cNvPr id="25" name="TextBox 25"/>
          <p:cNvSpPr txBox="1"/>
          <p:nvPr/>
        </p:nvSpPr>
        <p:spPr>
          <a:xfrm>
            <a:off x="4369118" y="2352199"/>
            <a:ext cx="694039" cy="198120"/>
          </a:xfrm>
          <a:prstGeom prst="rect">
            <a:avLst/>
          </a:prstGeom>
          <a:noFill/>
          <a:ln>
            <a:noFill/>
          </a:ln>
        </p:spPr>
        <p:txBody>
          <a:bodyPr wrap="none" lIns="0" tIns="0" rIns="0" bIns="0" anchor="t" anchorCtr="0">
            <a:spAutoFit/>
          </a:bodyPr>
          <a:lstStyle/>
          <a:p>
            <a:pPr algn="l"/>
            <a:r>
              <a:rPr lang="zh-CN" sz="975" dirty="0">
                <a:solidFill>
                  <a:srgbClr val="E65100"/>
                </a:solidFill>
                <a:latin typeface="Arial"/>
                <a:ea typeface="Microsoft YaHei"/>
                <a:cs typeface="Arial"/>
              </a:rPr>
              <a:t>meilleur ★</a:t>
            </a:r>
          </a:p>
        </p:txBody>
      </p:sp>
      <p:sp>
        <p:nvSpPr>
          <p:cNvPr id="26" name="TextBox 26"/>
          <p:cNvSpPr txBox="1"/>
          <p:nvPr/>
        </p:nvSpPr>
        <p:spPr>
          <a:xfrm>
            <a:off x="1435418" y="2847499"/>
            <a:ext cx="103084" cy="198120"/>
          </a:xfrm>
          <a:prstGeom prst="rect">
            <a:avLst/>
          </a:prstGeom>
          <a:noFill/>
          <a:ln>
            <a:noFill/>
          </a:ln>
        </p:spPr>
        <p:txBody>
          <a:bodyPr wrap="none" lIns="0" tIns="0" rIns="0" bIns="0" anchor="t" anchorCtr="0">
            <a:spAutoFit/>
          </a:bodyPr>
          <a:lstStyle/>
          <a:p>
            <a:pPr algn="l"/>
            <a:r>
              <a:rPr lang="zh-CN" sz="975" dirty="0">
                <a:solidFill>
                  <a:srgbClr val="1A2332"/>
                </a:solidFill>
                <a:latin typeface="Consolas"/>
                <a:ea typeface="Microsoft YaHei"/>
                <a:cs typeface="Consolas"/>
              </a:rPr>
              <a:t>2</a:t>
            </a:r>
          </a:p>
        </p:txBody>
      </p:sp>
      <p:sp>
        <p:nvSpPr>
          <p:cNvPr id="27" name="TextBox 27"/>
          <p:cNvSpPr txBox="1"/>
          <p:nvPr/>
        </p:nvSpPr>
        <p:spPr>
          <a:xfrm>
            <a:off x="2273618" y="2847499"/>
            <a:ext cx="103084" cy="198120"/>
          </a:xfrm>
          <a:prstGeom prst="rect">
            <a:avLst/>
          </a:prstGeom>
          <a:noFill/>
          <a:ln>
            <a:noFill/>
          </a:ln>
        </p:spPr>
        <p:txBody>
          <a:bodyPr wrap="none" lIns="0" tIns="0" rIns="0" bIns="0" anchor="t" anchorCtr="0">
            <a:spAutoFit/>
          </a:bodyPr>
          <a:lstStyle/>
          <a:p>
            <a:pPr algn="l"/>
            <a:r>
              <a:rPr lang="zh-CN" sz="975" dirty="0">
                <a:solidFill>
                  <a:srgbClr val="1A2332"/>
                </a:solidFill>
                <a:latin typeface="Consolas"/>
                <a:ea typeface="Microsoft YaHei"/>
                <a:cs typeface="Consolas"/>
              </a:rPr>
              <a:t>4</a:t>
            </a:r>
          </a:p>
        </p:txBody>
      </p:sp>
      <p:sp>
        <p:nvSpPr>
          <p:cNvPr id="28" name="TextBox 28"/>
          <p:cNvSpPr txBox="1"/>
          <p:nvPr/>
        </p:nvSpPr>
        <p:spPr>
          <a:xfrm>
            <a:off x="3207068" y="2847499"/>
            <a:ext cx="266843" cy="198120"/>
          </a:xfrm>
          <a:prstGeom prst="rect">
            <a:avLst/>
          </a:prstGeom>
          <a:noFill/>
          <a:ln>
            <a:noFill/>
          </a:ln>
        </p:spPr>
        <p:txBody>
          <a:bodyPr wrap="none" lIns="0" tIns="0" rIns="0" bIns="0" anchor="t" anchorCtr="0">
            <a:spAutoFit/>
          </a:bodyPr>
          <a:lstStyle/>
          <a:p>
            <a:pPr algn="l"/>
            <a:r>
              <a:rPr lang="zh-CN" sz="975" dirty="0">
                <a:solidFill>
                  <a:srgbClr val="2E7D32"/>
                </a:solidFill>
                <a:latin typeface="Consolas"/>
                <a:ea typeface="Microsoft YaHei"/>
                <a:cs typeface="Consolas"/>
              </a:rPr>
              <a:t>1071</a:t>
            </a:r>
          </a:p>
        </p:txBody>
      </p:sp>
      <p:sp>
        <p:nvSpPr>
          <p:cNvPr id="29" name="TextBox 29"/>
          <p:cNvSpPr txBox="1"/>
          <p:nvPr/>
        </p:nvSpPr>
        <p:spPr>
          <a:xfrm>
            <a:off x="4369118" y="2847499"/>
            <a:ext cx="886277" cy="198120"/>
          </a:xfrm>
          <a:prstGeom prst="rect">
            <a:avLst/>
          </a:prstGeom>
          <a:noFill/>
          <a:ln>
            <a:noFill/>
          </a:ln>
        </p:spPr>
        <p:txBody>
          <a:bodyPr wrap="none" lIns="0" tIns="0" rIns="0" bIns="0" anchor="t" anchorCtr="0">
            <a:spAutoFit/>
          </a:bodyPr>
          <a:lstStyle/>
          <a:p>
            <a:pPr algn="l"/>
            <a:r>
              <a:rPr lang="zh-CN" sz="975" dirty="0">
                <a:solidFill>
                  <a:srgbClr val="2E7D32"/>
                </a:solidFill>
                <a:latin typeface="Arial"/>
                <a:ea typeface="Microsoft YaHei"/>
                <a:cs typeface="Arial"/>
              </a:rPr>
              <a:t>★ multi-rang</a:t>
            </a:r>
          </a:p>
        </p:txBody>
      </p:sp>
      <p:sp>
        <p:nvSpPr>
          <p:cNvPr id="30" name="TextBox 30"/>
          <p:cNvSpPr txBox="1"/>
          <p:nvPr/>
        </p:nvSpPr>
        <p:spPr>
          <a:xfrm>
            <a:off x="1435418" y="3342799"/>
            <a:ext cx="103084" cy="198120"/>
          </a:xfrm>
          <a:prstGeom prst="rect">
            <a:avLst/>
          </a:prstGeom>
          <a:noFill/>
          <a:ln>
            <a:noFill/>
          </a:ln>
        </p:spPr>
        <p:txBody>
          <a:bodyPr wrap="none" lIns="0" tIns="0" rIns="0" bIns="0" anchor="t" anchorCtr="0">
            <a:spAutoFit/>
          </a:bodyPr>
          <a:lstStyle/>
          <a:p>
            <a:pPr algn="l"/>
            <a:r>
              <a:rPr lang="zh-CN" sz="975" dirty="0">
                <a:solidFill>
                  <a:srgbClr val="1A2332"/>
                </a:solidFill>
                <a:latin typeface="Consolas"/>
                <a:ea typeface="Microsoft YaHei"/>
                <a:cs typeface="Consolas"/>
              </a:rPr>
              <a:t>2</a:t>
            </a:r>
          </a:p>
        </p:txBody>
      </p:sp>
      <p:sp>
        <p:nvSpPr>
          <p:cNvPr id="31" name="TextBox 31"/>
          <p:cNvSpPr txBox="1"/>
          <p:nvPr/>
        </p:nvSpPr>
        <p:spPr>
          <a:xfrm>
            <a:off x="2273618" y="3342799"/>
            <a:ext cx="103084" cy="198120"/>
          </a:xfrm>
          <a:prstGeom prst="rect">
            <a:avLst/>
          </a:prstGeom>
          <a:noFill/>
          <a:ln>
            <a:noFill/>
          </a:ln>
        </p:spPr>
        <p:txBody>
          <a:bodyPr wrap="none" lIns="0" tIns="0" rIns="0" bIns="0" anchor="t" anchorCtr="0">
            <a:spAutoFit/>
          </a:bodyPr>
          <a:lstStyle/>
          <a:p>
            <a:pPr algn="l"/>
            <a:r>
              <a:rPr lang="zh-CN" sz="975" dirty="0">
                <a:solidFill>
                  <a:srgbClr val="1A2332"/>
                </a:solidFill>
                <a:latin typeface="Consolas"/>
                <a:ea typeface="Microsoft YaHei"/>
                <a:cs typeface="Consolas"/>
              </a:rPr>
              <a:t>8</a:t>
            </a:r>
          </a:p>
        </p:txBody>
      </p:sp>
      <p:sp>
        <p:nvSpPr>
          <p:cNvPr id="32" name="TextBox 32"/>
          <p:cNvSpPr txBox="1"/>
          <p:nvPr/>
        </p:nvSpPr>
        <p:spPr>
          <a:xfrm>
            <a:off x="3207068" y="3342799"/>
            <a:ext cx="259723" cy="198120"/>
          </a:xfrm>
          <a:prstGeom prst="rect">
            <a:avLst/>
          </a:prstGeom>
          <a:noFill/>
          <a:ln>
            <a:noFill/>
          </a:ln>
        </p:spPr>
        <p:txBody>
          <a:bodyPr wrap="none" lIns="0" tIns="0" rIns="0" bIns="0" anchor="t" anchorCtr="0">
            <a:spAutoFit/>
          </a:bodyPr>
          <a:lstStyle/>
          <a:p>
            <a:pPr algn="l"/>
            <a:r>
              <a:rPr lang="zh-CN" sz="975" dirty="0">
                <a:solidFill>
                  <a:srgbClr val="1A2332"/>
                </a:solidFill>
                <a:latin typeface="Consolas"/>
                <a:ea typeface="Microsoft YaHei"/>
                <a:cs typeface="Consolas"/>
              </a:rPr>
              <a:t>870</a:t>
            </a:r>
          </a:p>
        </p:txBody>
      </p:sp>
      <p:sp>
        <p:nvSpPr>
          <p:cNvPr id="33" name="TextBox 33"/>
          <p:cNvSpPr txBox="1"/>
          <p:nvPr/>
        </p:nvSpPr>
        <p:spPr>
          <a:xfrm>
            <a:off x="4369118" y="3342799"/>
            <a:ext cx="103084" cy="198120"/>
          </a:xfrm>
          <a:prstGeom prst="rect">
            <a:avLst/>
          </a:prstGeom>
          <a:noFill/>
          <a:ln>
            <a:noFill/>
          </a:ln>
        </p:spPr>
        <p:txBody>
          <a:bodyPr wrap="none" lIns="0" tIns="0" rIns="0" bIns="0" anchor="t" anchorCtr="0">
            <a:spAutoFit/>
          </a:bodyPr>
          <a:lstStyle/>
          <a:p>
            <a:pPr algn="l"/>
            <a:r>
              <a:rPr lang="zh-CN" sz="975" dirty="0">
                <a:solidFill>
                  <a:srgbClr val="546E7A"/>
                </a:solidFill>
                <a:latin typeface="Arial"/>
                <a:ea typeface="Microsoft YaHei"/>
                <a:cs typeface="Arial"/>
              </a:rPr>
              <a:t>—</a:t>
            </a:r>
          </a:p>
        </p:txBody>
      </p:sp>
      <p:sp>
        <p:nvSpPr>
          <p:cNvPr id="34" name="TextBox 34"/>
          <p:cNvSpPr txBox="1"/>
          <p:nvPr/>
        </p:nvSpPr>
        <p:spPr>
          <a:xfrm>
            <a:off x="1435418" y="3838099"/>
            <a:ext cx="103084" cy="198120"/>
          </a:xfrm>
          <a:prstGeom prst="rect">
            <a:avLst/>
          </a:prstGeom>
          <a:noFill/>
          <a:ln>
            <a:noFill/>
          </a:ln>
        </p:spPr>
        <p:txBody>
          <a:bodyPr wrap="none" lIns="0" tIns="0" rIns="0" bIns="0" anchor="t" anchorCtr="0">
            <a:spAutoFit/>
          </a:bodyPr>
          <a:lstStyle/>
          <a:p>
            <a:pPr algn="l"/>
            <a:r>
              <a:rPr lang="zh-CN" sz="975" dirty="0">
                <a:solidFill>
                  <a:srgbClr val="1A2332"/>
                </a:solidFill>
                <a:latin typeface="Consolas"/>
                <a:ea typeface="Microsoft YaHei"/>
                <a:cs typeface="Consolas"/>
              </a:rPr>
              <a:t>4</a:t>
            </a:r>
          </a:p>
        </p:txBody>
      </p:sp>
      <p:sp>
        <p:nvSpPr>
          <p:cNvPr id="35" name="TextBox 35"/>
          <p:cNvSpPr txBox="1"/>
          <p:nvPr/>
        </p:nvSpPr>
        <p:spPr>
          <a:xfrm>
            <a:off x="2273618" y="3838099"/>
            <a:ext cx="103084" cy="198120"/>
          </a:xfrm>
          <a:prstGeom prst="rect">
            <a:avLst/>
          </a:prstGeom>
          <a:noFill/>
          <a:ln>
            <a:noFill/>
          </a:ln>
        </p:spPr>
        <p:txBody>
          <a:bodyPr wrap="none" lIns="0" tIns="0" rIns="0" bIns="0" anchor="t" anchorCtr="0">
            <a:spAutoFit/>
          </a:bodyPr>
          <a:lstStyle/>
          <a:p>
            <a:pPr algn="l"/>
            <a:r>
              <a:rPr lang="zh-CN" sz="975" dirty="0">
                <a:solidFill>
                  <a:srgbClr val="1A2332"/>
                </a:solidFill>
                <a:latin typeface="Consolas"/>
                <a:ea typeface="Microsoft YaHei"/>
                <a:cs typeface="Consolas"/>
              </a:rPr>
              <a:t>4</a:t>
            </a:r>
          </a:p>
        </p:txBody>
      </p:sp>
      <p:sp>
        <p:nvSpPr>
          <p:cNvPr id="36" name="TextBox 36"/>
          <p:cNvSpPr txBox="1"/>
          <p:nvPr/>
        </p:nvSpPr>
        <p:spPr>
          <a:xfrm>
            <a:off x="3207068" y="3838099"/>
            <a:ext cx="259723" cy="198120"/>
          </a:xfrm>
          <a:prstGeom prst="rect">
            <a:avLst/>
          </a:prstGeom>
          <a:noFill/>
          <a:ln>
            <a:noFill/>
          </a:ln>
        </p:spPr>
        <p:txBody>
          <a:bodyPr wrap="none" lIns="0" tIns="0" rIns="0" bIns="0" anchor="t" anchorCtr="0">
            <a:spAutoFit/>
          </a:bodyPr>
          <a:lstStyle/>
          <a:p>
            <a:pPr algn="l"/>
            <a:r>
              <a:rPr lang="zh-CN" sz="975" dirty="0">
                <a:solidFill>
                  <a:srgbClr val="EF5350"/>
                </a:solidFill>
                <a:latin typeface="Consolas"/>
                <a:ea typeface="Microsoft YaHei"/>
                <a:cs typeface="Consolas"/>
              </a:rPr>
              <a:t>535</a:t>
            </a:r>
          </a:p>
        </p:txBody>
      </p:sp>
      <p:sp>
        <p:nvSpPr>
          <p:cNvPr id="37" name="TextBox 37"/>
          <p:cNvSpPr txBox="1"/>
          <p:nvPr/>
        </p:nvSpPr>
        <p:spPr>
          <a:xfrm>
            <a:off x="4369118" y="3838099"/>
            <a:ext cx="1000196" cy="198120"/>
          </a:xfrm>
          <a:prstGeom prst="rect">
            <a:avLst/>
          </a:prstGeom>
          <a:noFill/>
          <a:ln>
            <a:noFill/>
          </a:ln>
        </p:spPr>
        <p:txBody>
          <a:bodyPr wrap="none" lIns="0" tIns="0" rIns="0" bIns="0" anchor="t" anchorCtr="0">
            <a:spAutoFit/>
          </a:bodyPr>
          <a:lstStyle/>
          <a:p>
            <a:pPr algn="l"/>
            <a:r>
              <a:rPr lang="zh-CN" sz="975" dirty="0">
                <a:solidFill>
                  <a:srgbClr val="EF5350"/>
                </a:solidFill>
                <a:latin typeface="Arial"/>
                <a:ea typeface="Microsoft YaHei"/>
                <a:cs typeface="Arial"/>
              </a:rPr>
              <a:t>surcharge MPI</a:t>
            </a:r>
          </a:p>
        </p:txBody>
      </p:sp>
      <p:sp>
        <p:nvSpPr>
          <p:cNvPr id="38" name="TextBox 38"/>
          <p:cNvSpPr txBox="1"/>
          <p:nvPr/>
        </p:nvSpPr>
        <p:spPr>
          <a:xfrm>
            <a:off x="1897952" y="4523899"/>
            <a:ext cx="3214497" cy="198120"/>
          </a:xfrm>
          <a:prstGeom prst="rect">
            <a:avLst/>
          </a:prstGeom>
          <a:noFill/>
          <a:ln>
            <a:noFill/>
          </a:ln>
        </p:spPr>
        <p:txBody>
          <a:bodyPr wrap="none" lIns="0" tIns="0" rIns="0" bIns="0" anchor="t" anchorCtr="0">
            <a:spAutoFit/>
          </a:bodyPr>
          <a:lstStyle/>
          <a:p>
            <a:pPr algn="ctr"/>
            <a:r>
              <a:rPr lang="zh-CN" sz="975" dirty="0">
                <a:solidFill>
                  <a:srgbClr val="90A4AE"/>
                </a:solidFill>
                <a:latin typeface="Arial"/>
                <a:ea typeface="Microsoft YaHei"/>
                <a:cs typeface="Arial"/>
              </a:rPr>
              <a:t>1 warm-up + 20 rép. · médiane · CPU verrouillé</a:t>
            </a:r>
          </a:p>
        </p:txBody>
      </p:sp>
      <p:sp>
        <p:nvSpPr>
          <p:cNvPr id="39" name="Freeform 39"/>
          <p:cNvSpPr/>
          <p:nvPr/>
        </p:nvSpPr>
        <p:spPr>
          <a:xfrm>
            <a:off x="6762750" y="1181100"/>
            <a:ext cx="4286250" cy="3752850"/>
          </a:xfrm>
          <a:custGeom>
            <a:avLst/>
            <a:gdLst/>
            <a:ahLst/>
            <a:cxnLst/>
            <a:rect l="l" t="t" r="r" b="b"/>
            <a:pathLst>
              <a:path w="4286250" h="3752850">
                <a:moveTo>
                  <a:pt x="76200" y="0"/>
                </a:moveTo>
                <a:lnTo>
                  <a:pt x="4210050" y="0"/>
                </a:lnTo>
                <a:cubicBezTo>
                  <a:pt x="4252134" y="0"/>
                  <a:pt x="4286250" y="34116"/>
                  <a:pt x="4286250" y="76200"/>
                </a:cubicBezTo>
                <a:lnTo>
                  <a:pt x="4286250" y="3676650"/>
                </a:lnTo>
                <a:cubicBezTo>
                  <a:pt x="4286250" y="3718734"/>
                  <a:pt x="4252134" y="3752850"/>
                  <a:pt x="4210050" y="3752850"/>
                </a:cubicBezTo>
                <a:lnTo>
                  <a:pt x="76200" y="3752850"/>
                </a:lnTo>
                <a:cubicBezTo>
                  <a:pt x="34116" y="3752850"/>
                  <a:pt x="0" y="3718734"/>
                  <a:pt x="0" y="3676650"/>
                </a:cubicBezTo>
                <a:lnTo>
                  <a:pt x="0" y="76200"/>
                </a:lnTo>
                <a:cubicBezTo>
                  <a:pt x="0" y="34116"/>
                  <a:pt x="34116" y="0"/>
                  <a:pt x="76200" y="0"/>
                </a:cubicBezTo>
                <a:close/>
              </a:path>
            </a:pathLst>
          </a:custGeom>
          <a:solidFill>
            <a:srgbClr val="FFF8EE"/>
          </a:solidFill>
          <a:ln w="9525">
            <a:solidFill>
              <a:srgbClr val="F57C00"/>
            </a:solidFill>
          </a:ln>
        </p:spPr>
      </p:sp>
      <p:sp>
        <p:nvSpPr>
          <p:cNvPr id="40" name="TextBox 40"/>
          <p:cNvSpPr txBox="1"/>
          <p:nvPr/>
        </p:nvSpPr>
        <p:spPr>
          <a:xfrm>
            <a:off x="8035214" y="1863090"/>
            <a:ext cx="1741322" cy="975360"/>
          </a:xfrm>
          <a:prstGeom prst="rect">
            <a:avLst/>
          </a:prstGeom>
          <a:noFill/>
          <a:ln>
            <a:noFill/>
          </a:ln>
        </p:spPr>
        <p:txBody>
          <a:bodyPr wrap="none" lIns="0" tIns="0" rIns="0" bIns="0" anchor="t" anchorCtr="0">
            <a:spAutoFit/>
          </a:bodyPr>
          <a:lstStyle/>
          <a:p>
            <a:pPr algn="ctr"/>
            <a:r>
              <a:rPr lang="zh-CN" sz="4800" b="1" dirty="0">
                <a:solidFill>
                  <a:srgbClr val="F57C00"/>
                </a:solidFill>
                <a:latin typeface="Consolas"/>
                <a:ea typeface="Microsoft YaHei"/>
                <a:cs typeface="Consolas"/>
              </a:rPr>
              <a:t>2047</a:t>
            </a:r>
          </a:p>
        </p:txBody>
      </p:sp>
      <p:sp>
        <p:nvSpPr>
          <p:cNvPr id="41" name="TextBox 41"/>
          <p:cNvSpPr txBox="1"/>
          <p:nvPr/>
        </p:nvSpPr>
        <p:spPr>
          <a:xfrm>
            <a:off x="8597908" y="2578418"/>
            <a:ext cx="615934" cy="274320"/>
          </a:xfrm>
          <a:prstGeom prst="rect">
            <a:avLst/>
          </a:prstGeom>
          <a:noFill/>
          <a:ln>
            <a:noFill/>
          </a:ln>
        </p:spPr>
        <p:txBody>
          <a:bodyPr wrap="none" lIns="0" tIns="0" rIns="0" bIns="0" anchor="t" anchorCtr="0">
            <a:spAutoFit/>
          </a:bodyPr>
          <a:lstStyle/>
          <a:p>
            <a:pPr algn="ctr"/>
            <a:r>
              <a:rPr lang="zh-CN" sz="1350" dirty="0">
                <a:solidFill>
                  <a:srgbClr val="F57C00"/>
                </a:solidFill>
                <a:latin typeface="Consolas"/>
                <a:ea typeface="Microsoft YaHei"/>
                <a:cs typeface="Consolas"/>
              </a:rPr>
              <a:t>MLUPS</a:t>
            </a:r>
          </a:p>
        </p:txBody>
      </p:sp>
      <p:sp>
        <p:nvSpPr>
          <p:cNvPr id="42" name="TextBox 42"/>
          <p:cNvSpPr txBox="1"/>
          <p:nvPr/>
        </p:nvSpPr>
        <p:spPr>
          <a:xfrm>
            <a:off x="8413313" y="2896552"/>
            <a:ext cx="985123" cy="213360"/>
          </a:xfrm>
          <a:prstGeom prst="rect">
            <a:avLst/>
          </a:prstGeom>
          <a:noFill/>
          <a:ln>
            <a:noFill/>
          </a:ln>
        </p:spPr>
        <p:txBody>
          <a:bodyPr wrap="none" lIns="0" tIns="0" rIns="0" bIns="0" anchor="t" anchorCtr="0">
            <a:spAutoFit/>
          </a:bodyPr>
          <a:lstStyle/>
          <a:p>
            <a:pPr algn="ctr"/>
            <a:r>
              <a:rPr lang="zh-CN" sz="1050" dirty="0">
                <a:solidFill>
                  <a:srgbClr val="546E7A"/>
                </a:solidFill>
                <a:latin typeface="Arial"/>
                <a:ea typeface="Microsoft YaHei"/>
                <a:cs typeface="Arial"/>
              </a:rPr>
              <a:t>np=1, OMP=16</a:t>
            </a:r>
          </a:p>
        </p:txBody>
      </p:sp>
      <p:sp>
        <p:nvSpPr>
          <p:cNvPr id="43" name="Freeform 43"/>
          <p:cNvSpPr/>
          <p:nvPr/>
        </p:nvSpPr>
        <p:spPr>
          <a:xfrm>
            <a:off x="7677150" y="3295650"/>
            <a:ext cx="2457450" cy="609600"/>
          </a:xfrm>
          <a:custGeom>
            <a:avLst/>
            <a:gdLst/>
            <a:ahLst/>
            <a:cxnLst/>
            <a:rect l="l" t="t" r="r" b="b"/>
            <a:pathLst>
              <a:path w="2457450" h="609600">
                <a:moveTo>
                  <a:pt x="57150" y="0"/>
                </a:moveTo>
                <a:lnTo>
                  <a:pt x="2400300" y="0"/>
                </a:lnTo>
                <a:cubicBezTo>
                  <a:pt x="2431863" y="0"/>
                  <a:pt x="2457450" y="25587"/>
                  <a:pt x="2457450" y="57150"/>
                </a:cubicBezTo>
                <a:lnTo>
                  <a:pt x="2457450" y="552450"/>
                </a:lnTo>
                <a:cubicBezTo>
                  <a:pt x="2457450" y="584013"/>
                  <a:pt x="2431863" y="609600"/>
                  <a:pt x="2400300" y="609600"/>
                </a:cubicBezTo>
                <a:lnTo>
                  <a:pt x="57150" y="609600"/>
                </a:lnTo>
                <a:cubicBezTo>
                  <a:pt x="25587" y="609600"/>
                  <a:pt x="0" y="584013"/>
                  <a:pt x="0" y="552450"/>
                </a:cubicBezTo>
                <a:lnTo>
                  <a:pt x="0" y="57150"/>
                </a:lnTo>
                <a:cubicBezTo>
                  <a:pt x="0" y="25587"/>
                  <a:pt x="25587" y="0"/>
                  <a:pt x="57150" y="0"/>
                </a:cubicBezTo>
                <a:close/>
              </a:path>
            </a:pathLst>
          </a:custGeom>
          <a:solidFill>
            <a:srgbClr val="EAF7EE"/>
          </a:solidFill>
          <a:ln>
            <a:noFill/>
          </a:ln>
        </p:spPr>
      </p:sp>
      <p:sp>
        <p:nvSpPr>
          <p:cNvPr id="44" name="TextBox 44"/>
          <p:cNvSpPr txBox="1"/>
          <p:nvPr/>
        </p:nvSpPr>
        <p:spPr>
          <a:xfrm>
            <a:off x="7930253" y="3429952"/>
            <a:ext cx="1951244" cy="213360"/>
          </a:xfrm>
          <a:prstGeom prst="rect">
            <a:avLst/>
          </a:prstGeom>
          <a:noFill/>
          <a:ln>
            <a:noFill/>
          </a:ln>
        </p:spPr>
        <p:txBody>
          <a:bodyPr wrap="none" lIns="0" tIns="0" rIns="0" bIns="0" anchor="t" anchorCtr="0">
            <a:spAutoFit/>
          </a:bodyPr>
          <a:lstStyle/>
          <a:p>
            <a:pPr algn="ctr"/>
            <a:r>
              <a:rPr lang="zh-CN" sz="1050" dirty="0">
                <a:solidFill>
                  <a:srgbClr val="2E7D32"/>
                </a:solidFill>
                <a:latin typeface="Consolas"/>
                <a:ea typeface="Microsoft YaHei"/>
                <a:cs typeface="Consolas"/>
              </a:rPr>
              <a:t>1071 MLUPS (np=2, OMP=4)</a:t>
            </a:r>
          </a:p>
        </p:txBody>
      </p:sp>
      <p:sp>
        <p:nvSpPr>
          <p:cNvPr id="45" name="TextBox 45"/>
          <p:cNvSpPr txBox="1"/>
          <p:nvPr/>
        </p:nvSpPr>
        <p:spPr>
          <a:xfrm>
            <a:off x="7910941" y="3647599"/>
            <a:ext cx="1989868" cy="198120"/>
          </a:xfrm>
          <a:prstGeom prst="rect">
            <a:avLst/>
          </a:prstGeom>
          <a:noFill/>
          <a:ln>
            <a:noFill/>
          </a:ln>
        </p:spPr>
        <p:txBody>
          <a:bodyPr wrap="none" lIns="0" tIns="0" rIns="0" bIns="0" anchor="t" anchorCtr="0">
            <a:spAutoFit/>
          </a:bodyPr>
          <a:lstStyle/>
          <a:p>
            <a:pPr algn="ctr"/>
            <a:r>
              <a:rPr lang="zh-CN" sz="975" dirty="0">
                <a:solidFill>
                  <a:srgbClr val="546E7A"/>
                </a:solidFill>
                <a:latin typeface="Arial"/>
                <a:ea typeface="Microsoft YaHei"/>
                <a:cs typeface="Arial"/>
              </a:rPr>
              <a:t>meilleur résultat multi-rang</a:t>
            </a:r>
          </a:p>
        </p:txBody>
      </p:sp>
      <p:sp>
        <p:nvSpPr>
          <p:cNvPr id="46" name="TextBox 46"/>
          <p:cNvSpPr txBox="1"/>
          <p:nvPr/>
        </p:nvSpPr>
        <p:spPr>
          <a:xfrm>
            <a:off x="7725823" y="4352449"/>
            <a:ext cx="2360105" cy="198120"/>
          </a:xfrm>
          <a:prstGeom prst="rect">
            <a:avLst/>
          </a:prstGeom>
          <a:noFill/>
          <a:ln>
            <a:noFill/>
          </a:ln>
        </p:spPr>
        <p:txBody>
          <a:bodyPr wrap="none" lIns="0" tIns="0" rIns="0" bIns="0" anchor="t" anchorCtr="0">
            <a:spAutoFit/>
          </a:bodyPr>
          <a:lstStyle/>
          <a:p>
            <a:pPr algn="ctr"/>
            <a:r>
              <a:rPr lang="zh-CN" sz="975" dirty="0">
                <a:solidFill>
                  <a:srgbClr val="90A4AE"/>
                </a:solidFill>
                <a:latin typeface="Arial"/>
                <a:ea typeface="Microsoft YaHei"/>
                <a:cs typeface="Arial"/>
              </a:rPr>
              <a:t>Réf. 60 MLUPS sur macOS AArch64</a:t>
            </a:r>
          </a:p>
        </p:txBody>
      </p:sp>
      <p:sp>
        <p:nvSpPr>
          <p:cNvPr id="47" name="TextBox 47"/>
          <p:cNvSpPr txBox="1"/>
          <p:nvPr/>
        </p:nvSpPr>
        <p:spPr>
          <a:xfrm>
            <a:off x="7487305" y="4542949"/>
            <a:ext cx="2837140" cy="198120"/>
          </a:xfrm>
          <a:prstGeom prst="rect">
            <a:avLst/>
          </a:prstGeom>
          <a:noFill/>
          <a:ln>
            <a:noFill/>
          </a:ln>
        </p:spPr>
        <p:txBody>
          <a:bodyPr wrap="none" lIns="0" tIns="0" rIns="0" bIns="0" anchor="t" anchorCtr="0">
            <a:spAutoFit/>
          </a:bodyPr>
          <a:lstStyle/>
          <a:p>
            <a:pPr algn="ctr"/>
            <a:r>
              <a:rPr lang="zh-CN" sz="975" dirty="0">
                <a:solidFill>
                  <a:srgbClr val="90A4AE"/>
                </a:solidFill>
                <a:latin typeface="Arial"/>
                <a:ea typeface="Microsoft YaHei"/>
                <a:cs typeface="Arial"/>
              </a:rPr>
              <a:t>gain global indicatif, non iso-plateforme</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6200"/>
          </a:xfrm>
          <a:prstGeom prst="rect">
            <a:avLst/>
          </a:prstGeom>
          <a:solidFill>
            <a:srgbClr val="1565C0"/>
          </a:solidFill>
          <a:ln>
            <a:noFill/>
          </a:ln>
        </p:spPr>
      </p:sp>
      <p:sp>
        <p:nvSpPr>
          <p:cNvPr id="4" name="Rectangle 4"/>
          <p:cNvSpPr/>
          <p:nvPr/>
        </p:nvSpPr>
        <p:spPr>
          <a:xfrm>
            <a:off x="0" y="76200"/>
            <a:ext cx="12192000" cy="685800"/>
          </a:xfrm>
          <a:prstGeom prst="rect">
            <a:avLst/>
          </a:prstGeom>
          <a:solidFill>
            <a:srgbClr val="F4F7FA"/>
          </a:solidFill>
          <a:ln>
            <a:noFill/>
          </a:ln>
        </p:spPr>
      </p:sp>
      <p:sp>
        <p:nvSpPr>
          <p:cNvPr id="5" name="Line 5"/>
          <p:cNvSpPr/>
          <p:nvPr/>
        </p:nvSpPr>
        <p:spPr>
          <a:xfrm>
            <a:off x="0" y="762000"/>
            <a:ext cx="12192000" cy="9525"/>
          </a:xfrm>
          <a:custGeom>
            <a:avLst/>
            <a:gdLst/>
            <a:ahLst/>
            <a:cxnLst/>
            <a:rect l="l" t="t" r="r" b="b"/>
            <a:pathLst>
              <a:path w="12192000" h="9525">
                <a:moveTo>
                  <a:pt x="0" y="0"/>
                </a:moveTo>
                <a:lnTo>
                  <a:pt x="12192000" y="0"/>
                </a:lnTo>
              </a:path>
            </a:pathLst>
          </a:custGeom>
          <a:noFill/>
          <a:ln w="9525">
            <a:solidFill>
              <a:srgbClr val="CFD8DC"/>
            </a:solidFill>
          </a:ln>
        </p:spPr>
      </p:sp>
      <p:sp>
        <p:nvSpPr>
          <p:cNvPr id="6" name="Freeform 6"/>
          <p:cNvSpPr/>
          <p:nvPr/>
        </p:nvSpPr>
        <p:spPr>
          <a:xfrm>
            <a:off x="609600" y="228600"/>
            <a:ext cx="47625" cy="304800"/>
          </a:xfrm>
          <a:custGeom>
            <a:avLst/>
            <a:gdLst/>
            <a:ahLst/>
            <a:cxnLst/>
            <a:rect l="l" t="t" r="r" b="b"/>
            <a:pathLst>
              <a:path w="47625" h="304800">
                <a:moveTo>
                  <a:pt x="19050" y="0"/>
                </a:moveTo>
                <a:lnTo>
                  <a:pt x="28575" y="0"/>
                </a:lnTo>
                <a:cubicBezTo>
                  <a:pt x="39096" y="0"/>
                  <a:pt x="47625" y="8529"/>
                  <a:pt x="47625" y="19050"/>
                </a:cubicBezTo>
                <a:lnTo>
                  <a:pt x="47625" y="285750"/>
                </a:lnTo>
                <a:cubicBezTo>
                  <a:pt x="47625" y="296271"/>
                  <a:pt x="39096" y="304800"/>
                  <a:pt x="28575" y="304800"/>
                </a:cubicBezTo>
                <a:lnTo>
                  <a:pt x="19050" y="304800"/>
                </a:lnTo>
                <a:cubicBezTo>
                  <a:pt x="8529" y="304800"/>
                  <a:pt x="0" y="296271"/>
                  <a:pt x="0" y="285750"/>
                </a:cubicBezTo>
                <a:lnTo>
                  <a:pt x="0" y="19050"/>
                </a:lnTo>
                <a:cubicBezTo>
                  <a:pt x="0" y="8529"/>
                  <a:pt x="8529" y="0"/>
                  <a:pt x="19050" y="0"/>
                </a:cubicBezTo>
                <a:close/>
              </a:path>
            </a:pathLst>
          </a:custGeom>
          <a:solidFill>
            <a:srgbClr val="2E7D32"/>
          </a:solidFill>
          <a:ln>
            <a:noFill/>
          </a:ln>
        </p:spPr>
      </p:sp>
      <p:sp>
        <p:nvSpPr>
          <p:cNvPr id="7" name="TextBox 7"/>
          <p:cNvSpPr txBox="1"/>
          <p:nvPr/>
        </p:nvSpPr>
        <p:spPr>
          <a:xfrm>
            <a:off x="741045" y="183832"/>
            <a:ext cx="1307068" cy="335280"/>
          </a:xfrm>
          <a:prstGeom prst="rect">
            <a:avLst/>
          </a:prstGeom>
          <a:noFill/>
          <a:ln>
            <a:noFill/>
          </a:ln>
        </p:spPr>
        <p:txBody>
          <a:bodyPr wrap="none" lIns="0" tIns="0" rIns="0" bIns="0" anchor="t" anchorCtr="0">
            <a:spAutoFit/>
          </a:bodyPr>
          <a:lstStyle/>
          <a:p>
            <a:pPr algn="l"/>
            <a:r>
              <a:rPr lang="zh-CN" sz="1650" b="1" dirty="0">
                <a:solidFill>
                  <a:srgbClr val="2E7D32"/>
                </a:solidFill>
                <a:latin typeface="Arial"/>
                <a:ea typeface="Microsoft YaHei"/>
                <a:cs typeface="Arial"/>
              </a:rPr>
              <a:t>Conclusion</a:t>
            </a:r>
          </a:p>
        </p:txBody>
      </p:sp>
      <p:sp>
        <p:nvSpPr>
          <p:cNvPr id="8" name="Freeform 8"/>
          <p:cNvSpPr/>
          <p:nvPr/>
        </p:nvSpPr>
        <p:spPr>
          <a:xfrm>
            <a:off x="11144250" y="228600"/>
            <a:ext cx="438150" cy="171450"/>
          </a:xfrm>
          <a:custGeom>
            <a:avLst/>
            <a:gdLst/>
            <a:ahLst/>
            <a:cxnLst/>
            <a:rect l="l" t="t" r="r" b="b"/>
            <a:pathLst>
              <a:path w="438150" h="171450">
                <a:moveTo>
                  <a:pt x="38100" y="0"/>
                </a:moveTo>
                <a:lnTo>
                  <a:pt x="400050" y="0"/>
                </a:lnTo>
                <a:cubicBezTo>
                  <a:pt x="421092" y="0"/>
                  <a:pt x="438150" y="17058"/>
                  <a:pt x="438150" y="38100"/>
                </a:cubicBezTo>
                <a:lnTo>
                  <a:pt x="438150" y="133350"/>
                </a:lnTo>
                <a:cubicBezTo>
                  <a:pt x="438150" y="154392"/>
                  <a:pt x="421092" y="171450"/>
                  <a:pt x="400050" y="171450"/>
                </a:cubicBezTo>
                <a:lnTo>
                  <a:pt x="38100" y="171450"/>
                </a:lnTo>
                <a:cubicBezTo>
                  <a:pt x="17058" y="171450"/>
                  <a:pt x="0" y="154392"/>
                  <a:pt x="0" y="133350"/>
                </a:cubicBezTo>
                <a:lnTo>
                  <a:pt x="0" y="38100"/>
                </a:lnTo>
                <a:cubicBezTo>
                  <a:pt x="0" y="17058"/>
                  <a:pt x="17058" y="0"/>
                  <a:pt x="38100" y="0"/>
                </a:cubicBezTo>
                <a:close/>
              </a:path>
            </a:pathLst>
          </a:custGeom>
          <a:solidFill>
            <a:srgbClr val="2E7D32"/>
          </a:solidFill>
          <a:ln>
            <a:noFill/>
          </a:ln>
        </p:spPr>
      </p:sp>
      <p:sp>
        <p:nvSpPr>
          <p:cNvPr id="9" name="TextBox 9"/>
          <p:cNvSpPr txBox="1"/>
          <p:nvPr/>
        </p:nvSpPr>
        <p:spPr>
          <a:xfrm>
            <a:off x="11283264" y="263366"/>
            <a:ext cx="160122"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P2</a:t>
            </a:r>
          </a:p>
        </p:txBody>
      </p:sp>
      <p:sp>
        <p:nvSpPr>
          <p:cNvPr id="10" name="TextBox 10"/>
          <p:cNvSpPr txBox="1"/>
          <p:nvPr/>
        </p:nvSpPr>
        <p:spPr>
          <a:xfrm>
            <a:off x="11164181" y="351949"/>
            <a:ext cx="430601" cy="198120"/>
          </a:xfrm>
          <a:prstGeom prst="rect">
            <a:avLst/>
          </a:prstGeom>
          <a:noFill/>
          <a:ln>
            <a:noFill/>
          </a:ln>
        </p:spPr>
        <p:txBody>
          <a:bodyPr wrap="none" lIns="0" tIns="0" rIns="0" bIns="0" anchor="t" anchorCtr="0">
            <a:spAutoFit/>
          </a:bodyPr>
          <a:lstStyle/>
          <a:p>
            <a:pPr algn="r"/>
            <a:r>
              <a:rPr lang="zh-CN" sz="975" dirty="0">
                <a:solidFill>
                  <a:srgbClr val="90A4AE"/>
                </a:solidFill>
                <a:latin typeface="Arial"/>
                <a:ea typeface="Microsoft YaHei"/>
                <a:cs typeface="Arial"/>
              </a:rPr>
              <a:t>13 / 13</a:t>
            </a:r>
          </a:p>
        </p:txBody>
      </p:sp>
      <p:sp>
        <p:nvSpPr>
          <p:cNvPr id="11" name="Freeform 11"/>
          <p:cNvSpPr/>
          <p:nvPr/>
        </p:nvSpPr>
        <p:spPr>
          <a:xfrm>
            <a:off x="819150" y="1181100"/>
            <a:ext cx="5295900" cy="3600450"/>
          </a:xfrm>
          <a:custGeom>
            <a:avLst/>
            <a:gdLst/>
            <a:ahLst/>
            <a:cxnLst/>
            <a:rect l="l" t="t" r="r" b="b"/>
            <a:pathLst>
              <a:path w="5295900" h="3600450">
                <a:moveTo>
                  <a:pt x="76200" y="0"/>
                </a:moveTo>
                <a:lnTo>
                  <a:pt x="5219700" y="0"/>
                </a:lnTo>
                <a:cubicBezTo>
                  <a:pt x="5261784" y="0"/>
                  <a:pt x="5295900" y="34116"/>
                  <a:pt x="5295900" y="76200"/>
                </a:cubicBezTo>
                <a:lnTo>
                  <a:pt x="5295900" y="3524250"/>
                </a:lnTo>
                <a:cubicBezTo>
                  <a:pt x="5295900" y="3566334"/>
                  <a:pt x="5261784" y="3600450"/>
                  <a:pt x="5219700" y="3600450"/>
                </a:cubicBezTo>
                <a:lnTo>
                  <a:pt x="76200" y="3600450"/>
                </a:lnTo>
                <a:cubicBezTo>
                  <a:pt x="34116" y="3600450"/>
                  <a:pt x="0" y="3566334"/>
                  <a:pt x="0" y="3524250"/>
                </a:cubicBezTo>
                <a:lnTo>
                  <a:pt x="0" y="76200"/>
                </a:lnTo>
                <a:cubicBezTo>
                  <a:pt x="0" y="34116"/>
                  <a:pt x="34116" y="0"/>
                  <a:pt x="76200" y="0"/>
                </a:cubicBezTo>
                <a:close/>
              </a:path>
            </a:pathLst>
          </a:custGeom>
          <a:solidFill>
            <a:srgbClr val="F5FBF6"/>
          </a:solidFill>
          <a:ln w="11430">
            <a:solidFill>
              <a:srgbClr val="43A047"/>
            </a:solidFill>
          </a:ln>
        </p:spPr>
      </p:sp>
      <p:sp>
        <p:nvSpPr>
          <p:cNvPr id="12" name="TextBox 12"/>
          <p:cNvSpPr txBox="1"/>
          <p:nvPr/>
        </p:nvSpPr>
        <p:spPr>
          <a:xfrm>
            <a:off x="3006934" y="1353502"/>
            <a:ext cx="920332" cy="213360"/>
          </a:xfrm>
          <a:prstGeom prst="rect">
            <a:avLst/>
          </a:prstGeom>
          <a:noFill/>
          <a:ln>
            <a:noFill/>
          </a:ln>
        </p:spPr>
        <p:txBody>
          <a:bodyPr wrap="none" lIns="0" tIns="0" rIns="0" bIns="0" anchor="t" anchorCtr="0">
            <a:spAutoFit/>
          </a:bodyPr>
          <a:lstStyle/>
          <a:p>
            <a:pPr algn="ctr"/>
            <a:r>
              <a:rPr lang="zh-CN" sz="1050" b="1" dirty="0">
                <a:solidFill>
                  <a:srgbClr val="43A047"/>
                </a:solidFill>
                <a:latin typeface="Arial"/>
                <a:ea typeface="Microsoft YaHei"/>
                <a:cs typeface="Arial"/>
              </a:rPr>
              <a:t>Leçons clés</a:t>
            </a:r>
          </a:p>
        </p:txBody>
      </p:sp>
      <p:sp>
        <p:nvSpPr>
          <p:cNvPr id="13" name="Freeform 13"/>
          <p:cNvSpPr/>
          <p:nvPr/>
        </p:nvSpPr>
        <p:spPr>
          <a:xfrm>
            <a:off x="1066800" y="1714500"/>
            <a:ext cx="4800600" cy="666750"/>
          </a:xfrm>
          <a:custGeom>
            <a:avLst/>
            <a:gdLst/>
            <a:ahLst/>
            <a:cxnLst/>
            <a:rect l="l" t="t" r="r" b="b"/>
            <a:pathLst>
              <a:path w="4800600" h="666750">
                <a:moveTo>
                  <a:pt x="57150" y="0"/>
                </a:moveTo>
                <a:lnTo>
                  <a:pt x="4743450" y="0"/>
                </a:lnTo>
                <a:cubicBezTo>
                  <a:pt x="4775013" y="0"/>
                  <a:pt x="4800600" y="25587"/>
                  <a:pt x="4800600" y="57150"/>
                </a:cubicBezTo>
                <a:lnTo>
                  <a:pt x="4800600" y="609600"/>
                </a:lnTo>
                <a:cubicBezTo>
                  <a:pt x="4800600" y="641163"/>
                  <a:pt x="4775013" y="666750"/>
                  <a:pt x="4743450" y="666750"/>
                </a:cubicBezTo>
                <a:lnTo>
                  <a:pt x="57150" y="666750"/>
                </a:lnTo>
                <a:cubicBezTo>
                  <a:pt x="25587" y="666750"/>
                  <a:pt x="0" y="641163"/>
                  <a:pt x="0" y="609600"/>
                </a:cubicBezTo>
                <a:lnTo>
                  <a:pt x="0" y="57150"/>
                </a:lnTo>
                <a:cubicBezTo>
                  <a:pt x="0" y="25587"/>
                  <a:pt x="25587" y="0"/>
                  <a:pt x="57150" y="0"/>
                </a:cubicBezTo>
                <a:close/>
              </a:path>
            </a:pathLst>
          </a:custGeom>
          <a:solidFill>
            <a:srgbClr val="FFFFFF"/>
          </a:solidFill>
          <a:ln w="9525">
            <a:solidFill>
              <a:srgbClr val="CFE7D3"/>
            </a:solidFill>
          </a:ln>
        </p:spPr>
      </p:sp>
      <p:sp>
        <p:nvSpPr>
          <p:cNvPr id="14" name="TextBox 14"/>
          <p:cNvSpPr txBox="1"/>
          <p:nvPr/>
        </p:nvSpPr>
        <p:spPr>
          <a:xfrm>
            <a:off x="1263968" y="1818799"/>
            <a:ext cx="1669471" cy="198120"/>
          </a:xfrm>
          <a:prstGeom prst="rect">
            <a:avLst/>
          </a:prstGeom>
          <a:noFill/>
          <a:ln>
            <a:noFill/>
          </a:ln>
        </p:spPr>
        <p:txBody>
          <a:bodyPr wrap="none" lIns="0" tIns="0" rIns="0" bIns="0" anchor="t" anchorCtr="0">
            <a:spAutoFit/>
          </a:bodyPr>
          <a:lstStyle/>
          <a:p>
            <a:pPr algn="l"/>
            <a:r>
              <a:rPr lang="zh-CN" sz="975" b="1" dirty="0">
                <a:solidFill>
                  <a:srgbClr val="1A2332"/>
                </a:solidFill>
                <a:latin typeface="Arial"/>
                <a:ea typeface="Microsoft YaHei"/>
                <a:cs typeface="Arial"/>
              </a:rPr>
              <a:t>✓ Latence MPI &gt; volume</a:t>
            </a:r>
          </a:p>
        </p:txBody>
      </p:sp>
      <p:sp>
        <p:nvSpPr>
          <p:cNvPr id="15" name="TextBox 15"/>
          <p:cNvSpPr txBox="1"/>
          <p:nvPr/>
        </p:nvSpPr>
        <p:spPr>
          <a:xfrm>
            <a:off x="1263968" y="2028349"/>
            <a:ext cx="2587943" cy="198120"/>
          </a:xfrm>
          <a:prstGeom prst="rect">
            <a:avLst/>
          </a:prstGeom>
          <a:noFill/>
          <a:ln>
            <a:noFill/>
          </a:ln>
        </p:spPr>
        <p:txBody>
          <a:bodyPr wrap="none" lIns="0" tIns="0" rIns="0" bIns="0" anchor="t" anchorCtr="0">
            <a:spAutoFit/>
          </a:bodyPr>
          <a:lstStyle/>
          <a:p>
            <a:pPr algn="l"/>
            <a:r>
              <a:rPr lang="zh-CN" sz="975" dirty="0">
                <a:solidFill>
                  <a:srgbClr val="546E7A"/>
                </a:solidFill>
                <a:latin typeface="Arial"/>
                <a:ea typeface="Microsoft YaHei"/>
                <a:cs typeface="Arial"/>
              </a:rPr>
              <a:t>Fusion de messages : 7182 → 1 msg/dir</a:t>
            </a:r>
          </a:p>
        </p:txBody>
      </p:sp>
      <p:sp>
        <p:nvSpPr>
          <p:cNvPr id="16" name="TextBox 16"/>
          <p:cNvSpPr txBox="1"/>
          <p:nvPr/>
        </p:nvSpPr>
        <p:spPr>
          <a:xfrm>
            <a:off x="1263968" y="2199799"/>
            <a:ext cx="2801541" cy="198120"/>
          </a:xfrm>
          <a:prstGeom prst="rect">
            <a:avLst/>
          </a:prstGeom>
          <a:noFill/>
          <a:ln>
            <a:noFill/>
          </a:ln>
        </p:spPr>
        <p:txBody>
          <a:bodyPr wrap="none" lIns="0" tIns="0" rIns="0" bIns="0" anchor="t" anchorCtr="0">
            <a:spAutoFit/>
          </a:bodyPr>
          <a:lstStyle/>
          <a:p>
            <a:pPr algn="l"/>
            <a:r>
              <a:rPr lang="zh-CN" sz="975" dirty="0">
                <a:solidFill>
                  <a:srgbClr val="546E7A"/>
                </a:solidFill>
                <a:latin typeface="Arial"/>
                <a:ea typeface="Microsoft YaHei"/>
                <a:cs typeface="Arial"/>
              </a:rPr>
              <a:t>+50% (68.7 → 102.75 MLUPS, np=2 OMP=1)</a:t>
            </a:r>
          </a:p>
        </p:txBody>
      </p:sp>
      <p:sp>
        <p:nvSpPr>
          <p:cNvPr id="17" name="Freeform 17"/>
          <p:cNvSpPr/>
          <p:nvPr/>
        </p:nvSpPr>
        <p:spPr>
          <a:xfrm>
            <a:off x="1066800" y="2533650"/>
            <a:ext cx="4800600" cy="666750"/>
          </a:xfrm>
          <a:custGeom>
            <a:avLst/>
            <a:gdLst/>
            <a:ahLst/>
            <a:cxnLst/>
            <a:rect l="l" t="t" r="r" b="b"/>
            <a:pathLst>
              <a:path w="4800600" h="666750">
                <a:moveTo>
                  <a:pt x="57150" y="0"/>
                </a:moveTo>
                <a:lnTo>
                  <a:pt x="4743450" y="0"/>
                </a:lnTo>
                <a:cubicBezTo>
                  <a:pt x="4775013" y="0"/>
                  <a:pt x="4800600" y="25587"/>
                  <a:pt x="4800600" y="57150"/>
                </a:cubicBezTo>
                <a:lnTo>
                  <a:pt x="4800600" y="609600"/>
                </a:lnTo>
                <a:cubicBezTo>
                  <a:pt x="4800600" y="641163"/>
                  <a:pt x="4775013" y="666750"/>
                  <a:pt x="4743450" y="666750"/>
                </a:cubicBezTo>
                <a:lnTo>
                  <a:pt x="57150" y="666750"/>
                </a:lnTo>
                <a:cubicBezTo>
                  <a:pt x="25587" y="666750"/>
                  <a:pt x="0" y="641163"/>
                  <a:pt x="0" y="609600"/>
                </a:cubicBezTo>
                <a:lnTo>
                  <a:pt x="0" y="57150"/>
                </a:lnTo>
                <a:cubicBezTo>
                  <a:pt x="0" y="25587"/>
                  <a:pt x="25587" y="0"/>
                  <a:pt x="57150" y="0"/>
                </a:cubicBezTo>
                <a:close/>
              </a:path>
            </a:pathLst>
          </a:custGeom>
          <a:solidFill>
            <a:srgbClr val="FFFFFF"/>
          </a:solidFill>
          <a:ln w="9525">
            <a:solidFill>
              <a:srgbClr val="CFE7D3"/>
            </a:solidFill>
          </a:ln>
        </p:spPr>
      </p:sp>
      <p:sp>
        <p:nvSpPr>
          <p:cNvPr id="18" name="TextBox 18"/>
          <p:cNvSpPr txBox="1"/>
          <p:nvPr/>
        </p:nvSpPr>
        <p:spPr>
          <a:xfrm>
            <a:off x="1263968" y="2637949"/>
            <a:ext cx="1908700" cy="198120"/>
          </a:xfrm>
          <a:prstGeom prst="rect">
            <a:avLst/>
          </a:prstGeom>
          <a:noFill/>
          <a:ln>
            <a:noFill/>
          </a:ln>
        </p:spPr>
        <p:txBody>
          <a:bodyPr wrap="none" lIns="0" tIns="0" rIns="0" bIns="0" anchor="t" anchorCtr="0">
            <a:spAutoFit/>
          </a:bodyPr>
          <a:lstStyle/>
          <a:p>
            <a:pPr algn="l"/>
            <a:r>
              <a:rPr lang="zh-CN" sz="975" b="1" dirty="0">
                <a:solidFill>
                  <a:srgbClr val="1A2332"/>
                </a:solidFill>
                <a:latin typeface="Arial"/>
                <a:ea typeface="Microsoft YaHei"/>
                <a:cs typeface="Arial"/>
              </a:rPr>
              <a:t>✓ SoA = régression initiale</a:t>
            </a:r>
          </a:p>
        </p:txBody>
      </p:sp>
      <p:sp>
        <p:nvSpPr>
          <p:cNvPr id="19" name="TextBox 19"/>
          <p:cNvSpPr txBox="1"/>
          <p:nvPr/>
        </p:nvSpPr>
        <p:spPr>
          <a:xfrm>
            <a:off x="1263968" y="2847499"/>
            <a:ext cx="2659142" cy="198120"/>
          </a:xfrm>
          <a:prstGeom prst="rect">
            <a:avLst/>
          </a:prstGeom>
          <a:noFill/>
          <a:ln>
            <a:noFill/>
          </a:ln>
        </p:spPr>
        <p:txBody>
          <a:bodyPr wrap="none" lIns="0" tIns="0" rIns="0" bIns="0" anchor="t" anchorCtr="0">
            <a:spAutoFit/>
          </a:bodyPr>
          <a:lstStyle/>
          <a:p>
            <a:pPr algn="l"/>
            <a:r>
              <a:rPr lang="zh-CN" sz="975" dirty="0">
                <a:solidFill>
                  <a:srgbClr val="546E7A"/>
                </a:solidFill>
                <a:latin typeface="Arial"/>
                <a:ea typeface="Microsoft YaHei"/>
                <a:cs typeface="Arial"/>
              </a:rPr>
              <a:t>Investissement structurel nécessaire</a:t>
            </a:r>
          </a:p>
        </p:txBody>
      </p:sp>
      <p:sp>
        <p:nvSpPr>
          <p:cNvPr id="20" name="TextBox 20"/>
          <p:cNvSpPr txBox="1"/>
          <p:nvPr/>
        </p:nvSpPr>
        <p:spPr>
          <a:xfrm>
            <a:off x="1263968" y="3018949"/>
            <a:ext cx="1605391" cy="198120"/>
          </a:xfrm>
          <a:prstGeom prst="rect">
            <a:avLst/>
          </a:prstGeom>
          <a:noFill/>
          <a:ln>
            <a:noFill/>
          </a:ln>
        </p:spPr>
        <p:txBody>
          <a:bodyPr wrap="none" lIns="0" tIns="0" rIns="0" bIns="0" anchor="t" anchorCtr="0">
            <a:spAutoFit/>
          </a:bodyPr>
          <a:lstStyle/>
          <a:p>
            <a:pPr algn="l"/>
            <a:r>
              <a:rPr lang="zh-CN" sz="975" dirty="0">
                <a:solidFill>
                  <a:srgbClr val="546E7A"/>
                </a:solidFill>
                <a:latin typeface="Arial"/>
                <a:ea typeface="Microsoft YaHei"/>
                <a:cs typeface="Arial"/>
              </a:rPr>
              <a:t>pour débloquer AVX-512</a:t>
            </a:r>
          </a:p>
        </p:txBody>
      </p:sp>
      <p:sp>
        <p:nvSpPr>
          <p:cNvPr id="21" name="Freeform 21"/>
          <p:cNvSpPr/>
          <p:nvPr/>
        </p:nvSpPr>
        <p:spPr>
          <a:xfrm>
            <a:off x="1066800" y="3352800"/>
            <a:ext cx="4800600" cy="666750"/>
          </a:xfrm>
          <a:custGeom>
            <a:avLst/>
            <a:gdLst/>
            <a:ahLst/>
            <a:cxnLst/>
            <a:rect l="l" t="t" r="r" b="b"/>
            <a:pathLst>
              <a:path w="4800600" h="666750">
                <a:moveTo>
                  <a:pt x="57150" y="0"/>
                </a:moveTo>
                <a:lnTo>
                  <a:pt x="4743450" y="0"/>
                </a:lnTo>
                <a:cubicBezTo>
                  <a:pt x="4775013" y="0"/>
                  <a:pt x="4800600" y="25587"/>
                  <a:pt x="4800600" y="57150"/>
                </a:cubicBezTo>
                <a:lnTo>
                  <a:pt x="4800600" y="609600"/>
                </a:lnTo>
                <a:cubicBezTo>
                  <a:pt x="4800600" y="641163"/>
                  <a:pt x="4775013" y="666750"/>
                  <a:pt x="4743450" y="666750"/>
                </a:cubicBezTo>
                <a:lnTo>
                  <a:pt x="57150" y="666750"/>
                </a:lnTo>
                <a:cubicBezTo>
                  <a:pt x="25587" y="666750"/>
                  <a:pt x="0" y="641163"/>
                  <a:pt x="0" y="609600"/>
                </a:cubicBezTo>
                <a:lnTo>
                  <a:pt x="0" y="57150"/>
                </a:lnTo>
                <a:cubicBezTo>
                  <a:pt x="0" y="25587"/>
                  <a:pt x="25587" y="0"/>
                  <a:pt x="57150" y="0"/>
                </a:cubicBezTo>
                <a:close/>
              </a:path>
            </a:pathLst>
          </a:custGeom>
          <a:solidFill>
            <a:srgbClr val="FFFFFF"/>
          </a:solidFill>
          <a:ln w="9525">
            <a:solidFill>
              <a:srgbClr val="CFE7D3"/>
            </a:solidFill>
          </a:ln>
        </p:spPr>
      </p:sp>
      <p:sp>
        <p:nvSpPr>
          <p:cNvPr id="22" name="TextBox 22"/>
          <p:cNvSpPr txBox="1"/>
          <p:nvPr/>
        </p:nvSpPr>
        <p:spPr>
          <a:xfrm>
            <a:off x="1263968" y="3457099"/>
            <a:ext cx="2903000" cy="198120"/>
          </a:xfrm>
          <a:prstGeom prst="rect">
            <a:avLst/>
          </a:prstGeom>
          <a:noFill/>
          <a:ln>
            <a:noFill/>
          </a:ln>
        </p:spPr>
        <p:txBody>
          <a:bodyPr wrap="none" lIns="0" tIns="0" rIns="0" bIns="0" anchor="t" anchorCtr="0">
            <a:spAutoFit/>
          </a:bodyPr>
          <a:lstStyle/>
          <a:p>
            <a:pPr algn="l"/>
            <a:r>
              <a:rPr lang="zh-CN" sz="975" b="1" dirty="0">
                <a:solidFill>
                  <a:srgbClr val="1A2332"/>
                </a:solidFill>
                <a:latin typeface="Arial"/>
                <a:ea typeface="Microsoft YaHei"/>
                <a:cs typeface="Arial"/>
              </a:rPr>
              <a:t>✓ __restrict__ + ivdep : analyse d'alias</a:t>
            </a:r>
          </a:p>
        </p:txBody>
      </p:sp>
      <p:sp>
        <p:nvSpPr>
          <p:cNvPr id="23" name="TextBox 23"/>
          <p:cNvSpPr txBox="1"/>
          <p:nvPr/>
        </p:nvSpPr>
        <p:spPr>
          <a:xfrm>
            <a:off x="1263968" y="3666649"/>
            <a:ext cx="2530983" cy="198120"/>
          </a:xfrm>
          <a:prstGeom prst="rect">
            <a:avLst/>
          </a:prstGeom>
          <a:noFill/>
          <a:ln>
            <a:noFill/>
          </a:ln>
        </p:spPr>
        <p:txBody>
          <a:bodyPr wrap="none" lIns="0" tIns="0" rIns="0" bIns="0" anchor="t" anchorCtr="0">
            <a:spAutoFit/>
          </a:bodyPr>
          <a:lstStyle/>
          <a:p>
            <a:pPr algn="l"/>
            <a:r>
              <a:rPr lang="zh-CN" sz="975" dirty="0">
                <a:solidFill>
                  <a:srgbClr val="546E7A"/>
                </a:solidFill>
                <a:latin typeface="Arial"/>
                <a:ea typeface="Microsoft YaHei"/>
                <a:cs typeface="Arial"/>
              </a:rPr>
              <a:t>Clé pour émission des registres zmm</a:t>
            </a:r>
          </a:p>
        </p:txBody>
      </p:sp>
      <p:sp>
        <p:nvSpPr>
          <p:cNvPr id="24" name="TextBox 24"/>
          <p:cNvSpPr txBox="1"/>
          <p:nvPr/>
        </p:nvSpPr>
        <p:spPr>
          <a:xfrm>
            <a:off x="1263968" y="3838099"/>
            <a:ext cx="2559463" cy="198120"/>
          </a:xfrm>
          <a:prstGeom prst="rect">
            <a:avLst/>
          </a:prstGeom>
          <a:noFill/>
          <a:ln>
            <a:noFill/>
          </a:ln>
        </p:spPr>
        <p:txBody>
          <a:bodyPr wrap="none" lIns="0" tIns="0" rIns="0" bIns="0" anchor="t" anchorCtr="0">
            <a:spAutoFit/>
          </a:bodyPr>
          <a:lstStyle/>
          <a:p>
            <a:pPr algn="l"/>
            <a:r>
              <a:rPr lang="zh-CN" sz="975" dirty="0">
                <a:solidFill>
                  <a:srgbClr val="546E7A"/>
                </a:solidFill>
                <a:latin typeface="Arial"/>
                <a:ea typeface="Microsoft YaHei"/>
                <a:cs typeface="Arial"/>
              </a:rPr>
              <a:t>+97% à cette seule étape (423 → 832)</a:t>
            </a:r>
          </a:p>
        </p:txBody>
      </p:sp>
      <p:sp>
        <p:nvSpPr>
          <p:cNvPr id="25" name="Freeform 25"/>
          <p:cNvSpPr/>
          <p:nvPr/>
        </p:nvSpPr>
        <p:spPr>
          <a:xfrm>
            <a:off x="6457950" y="1181100"/>
            <a:ext cx="4914900" cy="3600450"/>
          </a:xfrm>
          <a:custGeom>
            <a:avLst/>
            <a:gdLst/>
            <a:ahLst/>
            <a:cxnLst/>
            <a:rect l="l" t="t" r="r" b="b"/>
            <a:pathLst>
              <a:path w="4914900" h="3600450">
                <a:moveTo>
                  <a:pt x="76200" y="0"/>
                </a:moveTo>
                <a:lnTo>
                  <a:pt x="4838700" y="0"/>
                </a:lnTo>
                <a:cubicBezTo>
                  <a:pt x="4880784" y="0"/>
                  <a:pt x="4914900" y="34116"/>
                  <a:pt x="4914900" y="76200"/>
                </a:cubicBezTo>
                <a:lnTo>
                  <a:pt x="4914900" y="3524250"/>
                </a:lnTo>
                <a:cubicBezTo>
                  <a:pt x="4914900" y="3566334"/>
                  <a:pt x="4880784" y="3600450"/>
                  <a:pt x="4838700" y="3600450"/>
                </a:cubicBezTo>
                <a:lnTo>
                  <a:pt x="76200" y="3600450"/>
                </a:lnTo>
                <a:cubicBezTo>
                  <a:pt x="34116" y="3600450"/>
                  <a:pt x="0" y="3566334"/>
                  <a:pt x="0" y="3524250"/>
                </a:cubicBezTo>
                <a:lnTo>
                  <a:pt x="0" y="76200"/>
                </a:lnTo>
                <a:cubicBezTo>
                  <a:pt x="0" y="34116"/>
                  <a:pt x="34116" y="0"/>
                  <a:pt x="76200" y="0"/>
                </a:cubicBezTo>
                <a:close/>
              </a:path>
            </a:pathLst>
          </a:custGeom>
          <a:solidFill>
            <a:srgbClr val="FFF9F2"/>
          </a:solidFill>
          <a:ln w="11430">
            <a:solidFill>
              <a:srgbClr val="F57C00"/>
            </a:solidFill>
          </a:ln>
        </p:spPr>
      </p:sp>
      <p:sp>
        <p:nvSpPr>
          <p:cNvPr id="26" name="TextBox 26"/>
          <p:cNvSpPr txBox="1"/>
          <p:nvPr/>
        </p:nvSpPr>
        <p:spPr>
          <a:xfrm>
            <a:off x="8129168" y="1353502"/>
            <a:ext cx="1572463" cy="213360"/>
          </a:xfrm>
          <a:prstGeom prst="rect">
            <a:avLst/>
          </a:prstGeom>
          <a:noFill/>
          <a:ln>
            <a:noFill/>
          </a:ln>
        </p:spPr>
        <p:txBody>
          <a:bodyPr wrap="none" lIns="0" tIns="0" rIns="0" bIns="0" anchor="t" anchorCtr="0">
            <a:spAutoFit/>
          </a:bodyPr>
          <a:lstStyle/>
          <a:p>
            <a:pPr algn="ctr"/>
            <a:r>
              <a:rPr lang="zh-CN" sz="1050" b="1" dirty="0">
                <a:solidFill>
                  <a:srgbClr val="F57C00"/>
                </a:solidFill>
                <a:latin typeface="Arial"/>
                <a:ea typeface="Microsoft YaHei"/>
                <a:cs typeface="Arial"/>
              </a:rPr>
              <a:t>Questions ouvertes</a:t>
            </a:r>
          </a:p>
        </p:txBody>
      </p:sp>
      <p:sp>
        <p:nvSpPr>
          <p:cNvPr id="27" name="Freeform 27"/>
          <p:cNvSpPr/>
          <p:nvPr/>
        </p:nvSpPr>
        <p:spPr>
          <a:xfrm>
            <a:off x="6705600" y="1714500"/>
            <a:ext cx="4419600" cy="666750"/>
          </a:xfrm>
          <a:custGeom>
            <a:avLst/>
            <a:gdLst/>
            <a:ahLst/>
            <a:cxnLst/>
            <a:rect l="l" t="t" r="r" b="b"/>
            <a:pathLst>
              <a:path w="4419600" h="666750">
                <a:moveTo>
                  <a:pt x="57150" y="0"/>
                </a:moveTo>
                <a:lnTo>
                  <a:pt x="4362450" y="0"/>
                </a:lnTo>
                <a:cubicBezTo>
                  <a:pt x="4394013" y="0"/>
                  <a:pt x="4419600" y="25587"/>
                  <a:pt x="4419600" y="57150"/>
                </a:cubicBezTo>
                <a:lnTo>
                  <a:pt x="4419600" y="609600"/>
                </a:lnTo>
                <a:cubicBezTo>
                  <a:pt x="4419600" y="641163"/>
                  <a:pt x="4394013" y="666750"/>
                  <a:pt x="4362450" y="666750"/>
                </a:cubicBezTo>
                <a:lnTo>
                  <a:pt x="57150" y="666750"/>
                </a:lnTo>
                <a:cubicBezTo>
                  <a:pt x="25587" y="666750"/>
                  <a:pt x="0" y="641163"/>
                  <a:pt x="0" y="609600"/>
                </a:cubicBezTo>
                <a:lnTo>
                  <a:pt x="0" y="57150"/>
                </a:lnTo>
                <a:cubicBezTo>
                  <a:pt x="0" y="25587"/>
                  <a:pt x="25587" y="0"/>
                  <a:pt x="57150" y="0"/>
                </a:cubicBezTo>
                <a:close/>
              </a:path>
            </a:pathLst>
          </a:custGeom>
          <a:solidFill>
            <a:srgbClr val="FFFFFF"/>
          </a:solidFill>
          <a:ln w="9525">
            <a:solidFill>
              <a:srgbClr val="F6D7B8"/>
            </a:solidFill>
          </a:ln>
        </p:spPr>
      </p:sp>
      <p:sp>
        <p:nvSpPr>
          <p:cNvPr id="28" name="TextBox 28"/>
          <p:cNvSpPr txBox="1"/>
          <p:nvPr/>
        </p:nvSpPr>
        <p:spPr>
          <a:xfrm>
            <a:off x="6902768" y="1818799"/>
            <a:ext cx="1303150" cy="198120"/>
          </a:xfrm>
          <a:prstGeom prst="rect">
            <a:avLst/>
          </a:prstGeom>
          <a:noFill/>
          <a:ln>
            <a:noFill/>
          </a:ln>
        </p:spPr>
        <p:txBody>
          <a:bodyPr wrap="none" lIns="0" tIns="0" rIns="0" bIns="0" anchor="t" anchorCtr="0">
            <a:spAutoFit/>
          </a:bodyPr>
          <a:lstStyle/>
          <a:p>
            <a:pPr algn="l"/>
            <a:r>
              <a:rPr lang="zh-CN" sz="975" b="1" dirty="0">
                <a:solidFill>
                  <a:srgbClr val="1A2332"/>
                </a:solidFill>
                <a:latin typeface="Arial"/>
                <a:ea typeface="Microsoft YaHei"/>
                <a:cs typeface="Arial"/>
              </a:rPr>
              <a:t>? MPI inter-nœuds</a:t>
            </a:r>
          </a:p>
        </p:txBody>
      </p:sp>
      <p:sp>
        <p:nvSpPr>
          <p:cNvPr id="29" name="TextBox 29"/>
          <p:cNvSpPr txBox="1"/>
          <p:nvPr/>
        </p:nvSpPr>
        <p:spPr>
          <a:xfrm>
            <a:off x="6902768" y="2028349"/>
            <a:ext cx="2118027" cy="198120"/>
          </a:xfrm>
          <a:prstGeom prst="rect">
            <a:avLst/>
          </a:prstGeom>
          <a:noFill/>
          <a:ln>
            <a:noFill/>
          </a:ln>
        </p:spPr>
        <p:txBody>
          <a:bodyPr wrap="none" lIns="0" tIns="0" rIns="0" bIns="0" anchor="t" anchorCtr="0">
            <a:spAutoFit/>
          </a:bodyPr>
          <a:lstStyle/>
          <a:p>
            <a:pPr algn="l"/>
            <a:r>
              <a:rPr lang="zh-CN" sz="975" dirty="0">
                <a:solidFill>
                  <a:srgbClr val="546E7A"/>
                </a:solidFill>
                <a:latin typeface="Arial"/>
                <a:ea typeface="Microsoft YaHei"/>
                <a:cs typeface="Arial"/>
              </a:rPr>
              <a:t>Impact réel du halo sur réseau</a:t>
            </a:r>
          </a:p>
        </p:txBody>
      </p:sp>
      <p:sp>
        <p:nvSpPr>
          <p:cNvPr id="30" name="TextBox 30"/>
          <p:cNvSpPr txBox="1"/>
          <p:nvPr/>
        </p:nvSpPr>
        <p:spPr>
          <a:xfrm>
            <a:off x="6902768" y="2199799"/>
            <a:ext cx="2993779" cy="198120"/>
          </a:xfrm>
          <a:prstGeom prst="rect">
            <a:avLst/>
          </a:prstGeom>
          <a:noFill/>
          <a:ln>
            <a:noFill/>
          </a:ln>
        </p:spPr>
        <p:txBody>
          <a:bodyPr wrap="none" lIns="0" tIns="0" rIns="0" bIns="0" anchor="t" anchorCtr="0">
            <a:spAutoFit/>
          </a:bodyPr>
          <a:lstStyle/>
          <a:p>
            <a:pPr algn="l"/>
            <a:r>
              <a:rPr lang="zh-CN" sz="975" dirty="0">
                <a:solidFill>
                  <a:srgbClr val="546E7A"/>
                </a:solidFill>
                <a:latin typeface="Arial"/>
                <a:ea typeface="Microsoft YaHei"/>
                <a:cs typeface="Arial"/>
              </a:rPr>
              <a:t>Latence réseau vs. déséquilibre de rangs ?</a:t>
            </a:r>
          </a:p>
        </p:txBody>
      </p:sp>
      <p:sp>
        <p:nvSpPr>
          <p:cNvPr id="31" name="Freeform 31"/>
          <p:cNvSpPr/>
          <p:nvPr/>
        </p:nvSpPr>
        <p:spPr>
          <a:xfrm>
            <a:off x="6705600" y="2533650"/>
            <a:ext cx="4419600" cy="666750"/>
          </a:xfrm>
          <a:custGeom>
            <a:avLst/>
            <a:gdLst/>
            <a:ahLst/>
            <a:cxnLst/>
            <a:rect l="l" t="t" r="r" b="b"/>
            <a:pathLst>
              <a:path w="4419600" h="666750">
                <a:moveTo>
                  <a:pt x="57150" y="0"/>
                </a:moveTo>
                <a:lnTo>
                  <a:pt x="4362450" y="0"/>
                </a:lnTo>
                <a:cubicBezTo>
                  <a:pt x="4394013" y="0"/>
                  <a:pt x="4419600" y="25587"/>
                  <a:pt x="4419600" y="57150"/>
                </a:cubicBezTo>
                <a:lnTo>
                  <a:pt x="4419600" y="609600"/>
                </a:lnTo>
                <a:cubicBezTo>
                  <a:pt x="4419600" y="641163"/>
                  <a:pt x="4394013" y="666750"/>
                  <a:pt x="4362450" y="666750"/>
                </a:cubicBezTo>
                <a:lnTo>
                  <a:pt x="57150" y="666750"/>
                </a:lnTo>
                <a:cubicBezTo>
                  <a:pt x="25587" y="666750"/>
                  <a:pt x="0" y="641163"/>
                  <a:pt x="0" y="609600"/>
                </a:cubicBezTo>
                <a:lnTo>
                  <a:pt x="0" y="57150"/>
                </a:lnTo>
                <a:cubicBezTo>
                  <a:pt x="0" y="25587"/>
                  <a:pt x="25587" y="0"/>
                  <a:pt x="57150" y="0"/>
                </a:cubicBezTo>
                <a:close/>
              </a:path>
            </a:pathLst>
          </a:custGeom>
          <a:solidFill>
            <a:srgbClr val="FFFFFF"/>
          </a:solidFill>
          <a:ln w="9525">
            <a:solidFill>
              <a:srgbClr val="F6D7B8"/>
            </a:solidFill>
          </a:ln>
        </p:spPr>
      </p:sp>
      <p:sp>
        <p:nvSpPr>
          <p:cNvPr id="32" name="TextBox 32"/>
          <p:cNvSpPr txBox="1"/>
          <p:nvPr/>
        </p:nvSpPr>
        <p:spPr>
          <a:xfrm>
            <a:off x="6902768" y="2637949"/>
            <a:ext cx="1527428" cy="198120"/>
          </a:xfrm>
          <a:prstGeom prst="rect">
            <a:avLst/>
          </a:prstGeom>
          <a:noFill/>
          <a:ln>
            <a:noFill/>
          </a:ln>
        </p:spPr>
        <p:txBody>
          <a:bodyPr wrap="none" lIns="0" tIns="0" rIns="0" bIns="0" anchor="t" anchorCtr="0">
            <a:spAutoFit/>
          </a:bodyPr>
          <a:lstStyle/>
          <a:p>
            <a:pPr algn="l"/>
            <a:r>
              <a:rPr lang="zh-CN" sz="975" b="1" dirty="0">
                <a:solidFill>
                  <a:srgbClr val="1A2332"/>
                </a:solidFill>
                <a:latin typeface="Arial"/>
                <a:ea typeface="Microsoft YaHei"/>
                <a:cs typeface="Arial"/>
              </a:rPr>
              <a:t>? Validation physique</a:t>
            </a:r>
          </a:p>
        </p:txBody>
      </p:sp>
      <p:sp>
        <p:nvSpPr>
          <p:cNvPr id="33" name="TextBox 33"/>
          <p:cNvSpPr txBox="1"/>
          <p:nvPr/>
        </p:nvSpPr>
        <p:spPr>
          <a:xfrm>
            <a:off x="6902768" y="2847499"/>
            <a:ext cx="2281785" cy="198120"/>
          </a:xfrm>
          <a:prstGeom prst="rect">
            <a:avLst/>
          </a:prstGeom>
          <a:noFill/>
          <a:ln>
            <a:noFill/>
          </a:ln>
        </p:spPr>
        <p:txBody>
          <a:bodyPr wrap="none" lIns="0" tIns="0" rIns="0" bIns="0" anchor="t" anchorCtr="0">
            <a:spAutoFit/>
          </a:bodyPr>
          <a:lstStyle/>
          <a:p>
            <a:pPr algn="l"/>
            <a:r>
              <a:rPr lang="zh-CN" sz="975" dirty="0">
                <a:solidFill>
                  <a:srgbClr val="546E7A"/>
                </a:solidFill>
                <a:latin typeface="Arial"/>
                <a:ea typeface="Microsoft YaHei"/>
                <a:cs typeface="Arial"/>
              </a:rPr>
              <a:t>Strouhal, lift/drag quantitat. ?</a:t>
            </a:r>
          </a:p>
        </p:txBody>
      </p:sp>
      <p:sp>
        <p:nvSpPr>
          <p:cNvPr id="34" name="TextBox 34"/>
          <p:cNvSpPr txBox="1"/>
          <p:nvPr/>
        </p:nvSpPr>
        <p:spPr>
          <a:xfrm>
            <a:off x="6902768" y="3018949"/>
            <a:ext cx="2580823" cy="198120"/>
          </a:xfrm>
          <a:prstGeom prst="rect">
            <a:avLst/>
          </a:prstGeom>
          <a:noFill/>
          <a:ln>
            <a:noFill/>
          </a:ln>
        </p:spPr>
        <p:txBody>
          <a:bodyPr wrap="none" lIns="0" tIns="0" rIns="0" bIns="0" anchor="t" anchorCtr="0">
            <a:spAutoFit/>
          </a:bodyPr>
          <a:lstStyle/>
          <a:p>
            <a:pPr algn="l"/>
            <a:r>
              <a:rPr lang="zh-CN" sz="975" dirty="0">
                <a:solidFill>
                  <a:srgbClr val="546E7A"/>
                </a:solidFill>
                <a:latin typeface="Arial"/>
                <a:ea typeface="Microsoft YaHei"/>
                <a:cs typeface="Arial"/>
              </a:rPr>
              <a:t>Comparaison avec valeurs théoriques</a:t>
            </a:r>
          </a:p>
        </p:txBody>
      </p:sp>
      <p:sp>
        <p:nvSpPr>
          <p:cNvPr id="35" name="Freeform 35"/>
          <p:cNvSpPr/>
          <p:nvPr/>
        </p:nvSpPr>
        <p:spPr>
          <a:xfrm>
            <a:off x="6705600" y="3352800"/>
            <a:ext cx="4419600" cy="666750"/>
          </a:xfrm>
          <a:custGeom>
            <a:avLst/>
            <a:gdLst/>
            <a:ahLst/>
            <a:cxnLst/>
            <a:rect l="l" t="t" r="r" b="b"/>
            <a:pathLst>
              <a:path w="4419600" h="666750">
                <a:moveTo>
                  <a:pt x="57150" y="0"/>
                </a:moveTo>
                <a:lnTo>
                  <a:pt x="4362450" y="0"/>
                </a:lnTo>
                <a:cubicBezTo>
                  <a:pt x="4394013" y="0"/>
                  <a:pt x="4419600" y="25587"/>
                  <a:pt x="4419600" y="57150"/>
                </a:cubicBezTo>
                <a:lnTo>
                  <a:pt x="4419600" y="609600"/>
                </a:lnTo>
                <a:cubicBezTo>
                  <a:pt x="4419600" y="641163"/>
                  <a:pt x="4394013" y="666750"/>
                  <a:pt x="4362450" y="666750"/>
                </a:cubicBezTo>
                <a:lnTo>
                  <a:pt x="57150" y="666750"/>
                </a:lnTo>
                <a:cubicBezTo>
                  <a:pt x="25587" y="666750"/>
                  <a:pt x="0" y="641163"/>
                  <a:pt x="0" y="609600"/>
                </a:cubicBezTo>
                <a:lnTo>
                  <a:pt x="0" y="57150"/>
                </a:lnTo>
                <a:cubicBezTo>
                  <a:pt x="0" y="25587"/>
                  <a:pt x="25587" y="0"/>
                  <a:pt x="57150" y="0"/>
                </a:cubicBezTo>
                <a:close/>
              </a:path>
            </a:pathLst>
          </a:custGeom>
          <a:solidFill>
            <a:srgbClr val="FFFFFF"/>
          </a:solidFill>
          <a:ln w="9525">
            <a:solidFill>
              <a:srgbClr val="F6D7B8"/>
            </a:solidFill>
          </a:ln>
        </p:spPr>
      </p:sp>
      <p:sp>
        <p:nvSpPr>
          <p:cNvPr id="36" name="TextBox 36"/>
          <p:cNvSpPr txBox="1"/>
          <p:nvPr/>
        </p:nvSpPr>
        <p:spPr>
          <a:xfrm>
            <a:off x="6902768" y="3457099"/>
            <a:ext cx="1549856" cy="198120"/>
          </a:xfrm>
          <a:prstGeom prst="rect">
            <a:avLst/>
          </a:prstGeom>
          <a:noFill/>
          <a:ln>
            <a:noFill/>
          </a:ln>
        </p:spPr>
        <p:txBody>
          <a:bodyPr wrap="none" lIns="0" tIns="0" rIns="0" bIns="0" anchor="t" anchorCtr="0">
            <a:spAutoFit/>
          </a:bodyPr>
          <a:lstStyle/>
          <a:p>
            <a:pPr algn="l"/>
            <a:r>
              <a:rPr lang="zh-CN" sz="975" b="1" dirty="0">
                <a:solidFill>
                  <a:srgbClr val="1A2332"/>
                </a:solidFill>
                <a:latin typeface="Arial"/>
                <a:ea typeface="Microsoft YaHei"/>
                <a:cs typeface="Arial"/>
              </a:rPr>
              <a:t>? Passage D3Q19, GPU</a:t>
            </a:r>
          </a:p>
        </p:txBody>
      </p:sp>
      <p:sp>
        <p:nvSpPr>
          <p:cNvPr id="37" name="TextBox 37"/>
          <p:cNvSpPr txBox="1"/>
          <p:nvPr/>
        </p:nvSpPr>
        <p:spPr>
          <a:xfrm>
            <a:off x="6902768" y="3666649"/>
            <a:ext cx="1477232" cy="198120"/>
          </a:xfrm>
          <a:prstGeom prst="rect">
            <a:avLst/>
          </a:prstGeom>
          <a:noFill/>
          <a:ln>
            <a:noFill/>
          </a:ln>
        </p:spPr>
        <p:txBody>
          <a:bodyPr wrap="none" lIns="0" tIns="0" rIns="0" bIns="0" anchor="t" anchorCtr="0">
            <a:spAutoFit/>
          </a:bodyPr>
          <a:lstStyle/>
          <a:p>
            <a:pPr algn="l"/>
            <a:r>
              <a:rPr lang="zh-CN" sz="975" dirty="0">
                <a:solidFill>
                  <a:srgbClr val="546E7A"/>
                </a:solidFill>
                <a:latin typeface="Arial"/>
                <a:ea typeface="Microsoft YaHei"/>
                <a:cs typeface="Arial"/>
              </a:rPr>
              <a:t>Extension 3D (D3Q19)</a:t>
            </a:r>
          </a:p>
        </p:txBody>
      </p:sp>
      <p:sp>
        <p:nvSpPr>
          <p:cNvPr id="38" name="TextBox 38"/>
          <p:cNvSpPr txBox="1"/>
          <p:nvPr/>
        </p:nvSpPr>
        <p:spPr>
          <a:xfrm>
            <a:off x="6902768" y="3838099"/>
            <a:ext cx="2865620" cy="198120"/>
          </a:xfrm>
          <a:prstGeom prst="rect">
            <a:avLst/>
          </a:prstGeom>
          <a:noFill/>
          <a:ln>
            <a:noFill/>
          </a:ln>
        </p:spPr>
        <p:txBody>
          <a:bodyPr wrap="none" lIns="0" tIns="0" rIns="0" bIns="0" anchor="t" anchorCtr="0">
            <a:spAutoFit/>
          </a:bodyPr>
          <a:lstStyle/>
          <a:p>
            <a:pPr algn="l"/>
            <a:r>
              <a:rPr lang="zh-CN" sz="975" dirty="0">
                <a:solidFill>
                  <a:srgbClr val="546E7A"/>
                </a:solidFill>
                <a:latin typeface="Arial"/>
                <a:ea typeface="Microsoft YaHei"/>
                <a:cs typeface="Arial"/>
              </a:rPr>
              <a:t>GPU : CUDA/HIP pour accélération massive</a:t>
            </a:r>
          </a:p>
        </p:txBody>
      </p:sp>
      <p:sp>
        <p:nvSpPr>
          <p:cNvPr id="39" name="Freeform 39"/>
          <p:cNvSpPr/>
          <p:nvPr/>
        </p:nvSpPr>
        <p:spPr>
          <a:xfrm>
            <a:off x="838200" y="5067300"/>
            <a:ext cx="10515600" cy="323850"/>
          </a:xfrm>
          <a:custGeom>
            <a:avLst/>
            <a:gdLst/>
            <a:ahLst/>
            <a:cxnLst/>
            <a:rect l="l" t="t" r="r" b="b"/>
            <a:pathLst>
              <a:path w="10515600" h="323850">
                <a:moveTo>
                  <a:pt x="57150" y="0"/>
                </a:moveTo>
                <a:lnTo>
                  <a:pt x="10458450" y="0"/>
                </a:lnTo>
                <a:cubicBezTo>
                  <a:pt x="10490013" y="0"/>
                  <a:pt x="10515600" y="25587"/>
                  <a:pt x="10515600" y="57150"/>
                </a:cubicBezTo>
                <a:lnTo>
                  <a:pt x="10515600" y="266700"/>
                </a:lnTo>
                <a:cubicBezTo>
                  <a:pt x="10515600" y="298263"/>
                  <a:pt x="10490013" y="323850"/>
                  <a:pt x="10458450" y="323850"/>
                </a:cubicBezTo>
                <a:lnTo>
                  <a:pt x="57150" y="323850"/>
                </a:lnTo>
                <a:cubicBezTo>
                  <a:pt x="25587" y="323850"/>
                  <a:pt x="0" y="298263"/>
                  <a:pt x="0" y="266700"/>
                </a:cubicBezTo>
                <a:lnTo>
                  <a:pt x="0" y="57150"/>
                </a:lnTo>
                <a:cubicBezTo>
                  <a:pt x="0" y="25587"/>
                  <a:pt x="25587" y="0"/>
                  <a:pt x="57150" y="0"/>
                </a:cubicBezTo>
                <a:close/>
              </a:path>
            </a:pathLst>
          </a:custGeom>
          <a:solidFill>
            <a:srgbClr val="F57C00"/>
          </a:solidFill>
          <a:ln>
            <a:noFill/>
          </a:ln>
        </p:spPr>
      </p:sp>
      <p:sp>
        <p:nvSpPr>
          <p:cNvPr id="40" name="TextBox 40"/>
          <p:cNvSpPr txBox="1"/>
          <p:nvPr/>
        </p:nvSpPr>
        <p:spPr>
          <a:xfrm>
            <a:off x="3403495" y="5171599"/>
            <a:ext cx="5385010"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2047 MLUPS · meilleur résultat mesuré · 2 plateformes · 26 optimisations</a:t>
            </a:r>
          </a:p>
        </p:txBody>
      </p:sp>
      <p:sp>
        <p:nvSpPr>
          <p:cNvPr id="41" name="TextBox 41"/>
          <p:cNvSpPr txBox="1"/>
          <p:nvPr/>
        </p:nvSpPr>
        <p:spPr>
          <a:xfrm>
            <a:off x="4986195" y="5754052"/>
            <a:ext cx="2219611" cy="213360"/>
          </a:xfrm>
          <a:prstGeom prst="rect">
            <a:avLst/>
          </a:prstGeom>
          <a:noFill/>
          <a:ln>
            <a:noFill/>
          </a:ln>
        </p:spPr>
        <p:txBody>
          <a:bodyPr wrap="none" lIns="0" tIns="0" rIns="0" bIns="0" anchor="t" anchorCtr="0">
            <a:spAutoFit/>
          </a:bodyPr>
          <a:lstStyle/>
          <a:p>
            <a:pPr algn="ctr"/>
            <a:r>
              <a:rPr lang="zh-CN" sz="1050" dirty="0">
                <a:solidFill>
                  <a:srgbClr val="1565C0"/>
                </a:solidFill>
                <a:latin typeface="Arial"/>
                <a:ea typeface="Microsoft YaHei"/>
                <a:cs typeface="Arial"/>
              </a:rPr>
              <a:t>Merci · Questions bienvenues</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