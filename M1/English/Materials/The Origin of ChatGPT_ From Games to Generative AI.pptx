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3595f9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3595f9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a3595f9e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a3595f9e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a3595f9e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a3595f9e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a3595f9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a3595f9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a3595f9e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a3595f9e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a3595f9e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a3595f9e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a3595f9e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a3595f9e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3595f9e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3595f9e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3595f9e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a3595f9e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Origin of ChatGPT: From Games to Generative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13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1F1F1F"/>
                </a:solidFill>
                <a:highlight>
                  <a:srgbClr val="FFFFFF"/>
                </a:highlight>
              </a:rPr>
              <a:t>Presenters:  Xiang BIAN </a:t>
            </a:r>
            <a:endParaRPr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1F1F1F"/>
                </a:solidFill>
                <a:highlight>
                  <a:srgbClr val="FFFFFF"/>
                </a:highlight>
              </a:rPr>
              <a:t>Jianye SHI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Plan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1F1F1F"/>
                </a:solidFill>
                <a:highlight>
                  <a:srgbClr val="FFFFFF"/>
                </a:highlight>
              </a:rPr>
              <a:t>Conceptual Foundation (Games)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1F1F1F"/>
                </a:solidFill>
                <a:highlight>
                  <a:srgbClr val="FFFFFF"/>
                </a:highlight>
              </a:rPr>
              <a:t>Core Technology (Transformer, Pre-training)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1F1F1F"/>
                </a:solidFill>
                <a:highlight>
                  <a:srgbClr val="FFFFFF"/>
                </a:highlight>
              </a:rPr>
              <a:t>Key Breakthrough (RLHF)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Phase 1: AI Learns Strategy (Conceptual Foundation)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285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AlphaGo (2016)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Defeats world champion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Game as "Small World"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Clear rules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>
                <a:solidFill>
                  <a:schemeClr val="dk1"/>
                </a:solidFill>
              </a:rPr>
              <a:t>AI can "Think"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775" y="1017713"/>
            <a:ext cx="540653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From Strategy to Language Spark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640100" cy="38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OpenAI's Dota 2 AI,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Complex team coordination,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Beats professional players,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>
                <a:solidFill>
                  <a:schemeClr val="dk1"/>
                </a:solidFill>
              </a:rPr>
              <a:t>Next Question: Can AI learn "Language"?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700" y="1406900"/>
            <a:ext cx="5824276" cy="287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Phase 2: The Core Architecture (Transformer)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Old AI: short attention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Transformer invented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Focus on key words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Faster learning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image source https://jalammar.github.io/illustrated-transformer/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885" y="1017725"/>
            <a:ext cx="454641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Scaling Up Knowledge (Pre-training GPT)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64625" y="1366675"/>
            <a:ext cx="3723300" cy="20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“Read the internet” idea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Not memorizing, finding patterns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Learn expression &amp; reasoning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GPT-3 surprises everyone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875" y="1366675"/>
            <a:ext cx="5057425" cy="30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Phase 3: Making it Conversational (RLHF)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367250"/>
            <a:ext cx="3405600" cy="24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GPT-3 still “wild”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Humans rate answers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Learns clarity &amp; politeness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Knows what people prefer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>
                <a:solidFill>
                  <a:schemeClr val="dk1"/>
                </a:solidFill>
              </a:rPr>
              <a:t>Becomes natural to talk to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175" y="1081225"/>
            <a:ext cx="257390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54750"/>
            <a:ext cx="8520600" cy="6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Summary: Key Pillars of ChatGPT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778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Smart architecture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Large-scale training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Human-shaped behavior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Years of progress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Future built on today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References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598950" y="1321800"/>
            <a:ext cx="7946100" cy="30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Silver, D., Huang, A., Maddison, C. J., Guez, A., Sifre, L., Van Den Driessche, G., … Hassabis, D. (2016). </a:t>
            </a:r>
            <a:r>
              <a:rPr i="1" lang="zh-CN" sz="1100">
                <a:solidFill>
                  <a:schemeClr val="dk1"/>
                </a:solidFill>
              </a:rPr>
              <a:t>Mastering the game of Go with deep neural networks and tree search</a:t>
            </a:r>
            <a:r>
              <a:rPr lang="zh-CN" sz="1100">
                <a:solidFill>
                  <a:schemeClr val="dk1"/>
                </a:solidFill>
              </a:rPr>
              <a:t>. </a:t>
            </a:r>
            <a:r>
              <a:rPr b="1" lang="zh-CN" sz="1100">
                <a:solidFill>
                  <a:schemeClr val="dk1"/>
                </a:solidFill>
              </a:rPr>
              <a:t>Nature, 529</a:t>
            </a:r>
            <a:r>
              <a:rPr lang="zh-CN" sz="1100">
                <a:solidFill>
                  <a:schemeClr val="dk1"/>
                </a:solidFill>
              </a:rPr>
              <a:t>(7587), 484–489.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Vaswani, A., Shazeer, N., Parmar, N., Uszkoreit, J., Jones, L., Gomez, A. N., … Polosukhin, I. (2017). </a:t>
            </a:r>
            <a:r>
              <a:rPr i="1" lang="zh-CN" sz="1100">
                <a:solidFill>
                  <a:schemeClr val="dk1"/>
                </a:solidFill>
              </a:rPr>
              <a:t>Attention is all you need</a:t>
            </a:r>
            <a:r>
              <a:rPr lang="zh-CN" sz="1100">
                <a:solidFill>
                  <a:schemeClr val="dk1"/>
                </a:solidFill>
              </a:rPr>
              <a:t>. In </a:t>
            </a:r>
            <a:r>
              <a:rPr b="1" lang="zh-CN" sz="1100">
                <a:solidFill>
                  <a:schemeClr val="dk1"/>
                </a:solidFill>
              </a:rPr>
              <a:t>Proceedings of the 31st International Conference on Neural Information Processing Systems</a:t>
            </a:r>
            <a:r>
              <a:rPr lang="zh-CN" sz="1100">
                <a:solidFill>
                  <a:schemeClr val="dk1"/>
                </a:solidFill>
              </a:rPr>
              <a:t> (pp. 6000–6010).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Brown, T. B., Mann, B., Ryder, N., Subbiah, M., Kaplan, J., Dhariwal, P., … Amodei, D. (2020). </a:t>
            </a:r>
            <a:r>
              <a:rPr i="1" lang="zh-CN" sz="1100">
                <a:solidFill>
                  <a:schemeClr val="dk1"/>
                </a:solidFill>
              </a:rPr>
              <a:t>Language models are few-shot learners</a:t>
            </a:r>
            <a:r>
              <a:rPr lang="zh-CN" sz="1100">
                <a:solidFill>
                  <a:schemeClr val="dk1"/>
                </a:solidFill>
              </a:rPr>
              <a:t>. </a:t>
            </a:r>
            <a:r>
              <a:rPr b="1" lang="zh-CN" sz="1100">
                <a:solidFill>
                  <a:schemeClr val="dk1"/>
                </a:solidFill>
              </a:rPr>
              <a:t>Advances in Neural Information Processing Systems, 33</a:t>
            </a:r>
            <a:r>
              <a:rPr lang="zh-CN" sz="1100">
                <a:solidFill>
                  <a:schemeClr val="dk1"/>
                </a:solidFill>
              </a:rPr>
              <a:t>, 1877–1901.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Bai, Y., Jones, A., Ndousse, K., Askell, A., Chen, A., DasSarma, N., … Kaplan, J. (2022). </a:t>
            </a:r>
            <a:r>
              <a:rPr i="1" lang="zh-CN" sz="1100">
                <a:solidFill>
                  <a:schemeClr val="dk1"/>
                </a:solidFill>
              </a:rPr>
              <a:t>Training a helpful and harmless assistant with reinforcement learning from human feedback</a:t>
            </a:r>
            <a:r>
              <a:rPr lang="zh-CN" sz="1100">
                <a:solidFill>
                  <a:schemeClr val="dk1"/>
                </a:solidFill>
              </a:rPr>
              <a:t>. arXiv:2204.05862.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Ouyang, L., Wu, J., Jiang, X., Almeida, D., Wainwright, C., Mishkin, P., … Lowe, R. (2022). </a:t>
            </a:r>
            <a:r>
              <a:rPr i="1" lang="zh-CN" sz="1100">
                <a:solidFill>
                  <a:schemeClr val="dk1"/>
                </a:solidFill>
              </a:rPr>
              <a:t>Training language models to follow instructions with human feedback</a:t>
            </a:r>
            <a:r>
              <a:rPr lang="zh-CN" sz="1100">
                <a:solidFill>
                  <a:schemeClr val="dk1"/>
                </a:solidFill>
              </a:rPr>
              <a:t>. arXiv:2203.02155.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932400" y="2115300"/>
            <a:ext cx="7279200" cy="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6000"/>
              <a:t>Thank 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